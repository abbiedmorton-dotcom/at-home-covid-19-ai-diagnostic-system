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4.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933" r:id="rId1"/>
  </p:sldMasterIdLst>
  <p:notesMasterIdLst>
    <p:notesMasterId r:id="rId19"/>
  </p:notesMasterIdLst>
  <p:sldIdLst>
    <p:sldId id="256" r:id="rId2"/>
    <p:sldId id="257" r:id="rId3"/>
    <p:sldId id="258" r:id="rId4"/>
    <p:sldId id="267" r:id="rId5"/>
    <p:sldId id="259" r:id="rId6"/>
    <p:sldId id="261" r:id="rId7"/>
    <p:sldId id="274" r:id="rId8"/>
    <p:sldId id="268" r:id="rId9"/>
    <p:sldId id="269" r:id="rId10"/>
    <p:sldId id="260" r:id="rId11"/>
    <p:sldId id="262" r:id="rId12"/>
    <p:sldId id="270" r:id="rId13"/>
    <p:sldId id="271" r:id="rId14"/>
    <p:sldId id="263" r:id="rId15"/>
    <p:sldId id="265" r:id="rId16"/>
    <p:sldId id="266" r:id="rId17"/>
    <p:sldId id="273"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8103"/>
    <p:restoredTop sz="95588"/>
  </p:normalViewPr>
  <p:slideViewPr>
    <p:cSldViewPr snapToGrid="0" snapToObjects="1">
      <p:cViewPr varScale="1">
        <p:scale>
          <a:sx n="100" d="100"/>
          <a:sy n="100" d="100"/>
        </p:scale>
        <p:origin x="1248" y="17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diagrams/_rels/data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svg"/><Relationship Id="rId1" Type="http://schemas.openxmlformats.org/officeDocument/2006/relationships/image" Target="../media/image1.svg"/><Relationship Id="rId5" Type="http://schemas.openxmlformats.org/officeDocument/2006/relationships/image" Target="../media/image5.svg"/><Relationship Id="rId4" Type="http://schemas.openxmlformats.org/officeDocument/2006/relationships/image" Target="../media/image4.svg"/></Relationships>
</file>

<file path=ppt/diagrams/_rels/data4.xml.rels><?xml version="1.0" encoding="UTF-8" standalone="yes"?>
<Relationships xmlns="http://schemas.openxmlformats.org/package/2006/relationships"><Relationship Id="rId3" Type="http://schemas.openxmlformats.org/officeDocument/2006/relationships/image" Target="../media/image10.svg"/><Relationship Id="rId7" Type="http://schemas.openxmlformats.org/officeDocument/2006/relationships/image" Target="../media/image14.svg"/><Relationship Id="rId2" Type="http://schemas.openxmlformats.org/officeDocument/2006/relationships/image" Target="../media/image9.svg"/><Relationship Id="rId1" Type="http://schemas.openxmlformats.org/officeDocument/2006/relationships/image" Target="../media/image8.svg"/><Relationship Id="rId6" Type="http://schemas.openxmlformats.org/officeDocument/2006/relationships/image" Target="../media/image13.svg"/><Relationship Id="rId5" Type="http://schemas.openxmlformats.org/officeDocument/2006/relationships/image" Target="../media/image12.svg"/><Relationship Id="rId4" Type="http://schemas.openxmlformats.org/officeDocument/2006/relationships/image" Target="../media/image11.svg"/></Relationships>
</file>

<file path=ppt/diagrams/_rels/drawing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svg"/><Relationship Id="rId1" Type="http://schemas.openxmlformats.org/officeDocument/2006/relationships/image" Target="../media/image1.svg"/><Relationship Id="rId5" Type="http://schemas.openxmlformats.org/officeDocument/2006/relationships/image" Target="../media/image5.svg"/><Relationship Id="rId4" Type="http://schemas.openxmlformats.org/officeDocument/2006/relationships/image" Target="../media/image4.svg"/></Relationships>
</file>

<file path=ppt/diagrams/_rels/drawing4.xml.rels><?xml version="1.0" encoding="UTF-8" standalone="yes"?>
<Relationships xmlns="http://schemas.openxmlformats.org/package/2006/relationships"><Relationship Id="rId3" Type="http://schemas.openxmlformats.org/officeDocument/2006/relationships/image" Target="../media/image10.svg"/><Relationship Id="rId7" Type="http://schemas.openxmlformats.org/officeDocument/2006/relationships/image" Target="../media/image14.svg"/><Relationship Id="rId2" Type="http://schemas.openxmlformats.org/officeDocument/2006/relationships/image" Target="../media/image9.svg"/><Relationship Id="rId1" Type="http://schemas.openxmlformats.org/officeDocument/2006/relationships/image" Target="../media/image8.svg"/><Relationship Id="rId6" Type="http://schemas.openxmlformats.org/officeDocument/2006/relationships/image" Target="../media/image13.svg"/><Relationship Id="rId5" Type="http://schemas.openxmlformats.org/officeDocument/2006/relationships/image" Target="../media/image12.svg"/><Relationship Id="rId4" Type="http://schemas.openxmlformats.org/officeDocument/2006/relationships/image" Target="../media/image11.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18/5/colors/Iconchunking_neutralicon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4_2">
  <dgm:title val=""/>
  <dgm:desc val=""/>
  <dgm:catLst>
    <dgm:cat type="accent4" pri="11200"/>
  </dgm:catLst>
  <dgm:styleLbl name="node0">
    <dgm:fillClrLst meth="repeat">
      <a:schemeClr val="accent4"/>
    </dgm:fillClrLst>
    <dgm:linClrLst meth="repeat">
      <a:schemeClr val="lt1"/>
    </dgm:linClrLst>
    <dgm:effectClrLst/>
    <dgm:txLinClrLst/>
    <dgm:txFillClrLst/>
    <dgm:txEffectClrLst/>
  </dgm:styleLbl>
  <dgm:styleLbl name="node1">
    <dgm:fillClrLst meth="repeat">
      <a:schemeClr val="accent4"/>
    </dgm:fillClrLst>
    <dgm:linClrLst meth="repeat">
      <a:schemeClr val="lt1"/>
    </dgm:linClrLst>
    <dgm:effectClrLst/>
    <dgm:txLinClrLst/>
    <dgm:txFillClrLst/>
    <dgm:txEffectClrLst/>
  </dgm:styleLbl>
  <dgm:styleLbl name="alignNode1">
    <dgm:fillClrLst meth="repeat">
      <a:schemeClr val="accent4"/>
    </dgm:fillClrLst>
    <dgm:linClrLst meth="repeat">
      <a:schemeClr val="accent4"/>
    </dgm:linClrLst>
    <dgm:effectClrLst/>
    <dgm:txLinClrLst/>
    <dgm:txFillClrLst/>
    <dgm:txEffectClrLst/>
  </dgm:styleLbl>
  <dgm:styleLbl name="lnNode1">
    <dgm:fillClrLst meth="repeat">
      <a:schemeClr val="accent4"/>
    </dgm:fillClrLst>
    <dgm:linClrLst meth="repeat">
      <a:schemeClr val="lt1"/>
    </dgm:linClrLst>
    <dgm:effectClrLst/>
    <dgm:txLinClrLst/>
    <dgm:txFillClrLst/>
    <dgm:txEffectClrLst/>
  </dgm:styleLbl>
  <dgm:styleLbl name="vennNode1">
    <dgm:fillClrLst meth="repeat">
      <a:schemeClr val="accent4">
        <a:alpha val="50000"/>
      </a:schemeClr>
    </dgm:fillClrLst>
    <dgm:linClrLst meth="repeat">
      <a:schemeClr val="lt1"/>
    </dgm:linClrLst>
    <dgm:effectClrLst/>
    <dgm:txLinClrLst/>
    <dgm:txFillClrLst/>
    <dgm:txEffectClrLst/>
  </dgm:styleLbl>
  <dgm:styleLbl name="node2">
    <dgm:fillClrLst meth="repeat">
      <a:schemeClr val="accent4"/>
    </dgm:fillClrLst>
    <dgm:linClrLst meth="repeat">
      <a:schemeClr val="lt1"/>
    </dgm:linClrLst>
    <dgm:effectClrLst/>
    <dgm:txLinClrLst/>
    <dgm:txFillClrLst/>
    <dgm:txEffectClrLst/>
  </dgm:styleLbl>
  <dgm:styleLbl name="node3">
    <dgm:fillClrLst meth="repeat">
      <a:schemeClr val="accent4"/>
    </dgm:fillClrLst>
    <dgm:linClrLst meth="repeat">
      <a:schemeClr val="lt1"/>
    </dgm:linClrLst>
    <dgm:effectClrLst/>
    <dgm:txLinClrLst/>
    <dgm:txFillClrLst/>
    <dgm:txEffectClrLst/>
  </dgm:styleLbl>
  <dgm:styleLbl name="node4">
    <dgm:fillClrLst meth="repeat">
      <a:schemeClr val="accent4"/>
    </dgm:fillClrLst>
    <dgm:linClrLst meth="repeat">
      <a:schemeClr val="lt1"/>
    </dgm:linClrLst>
    <dgm:effectClrLst/>
    <dgm:txLinClrLst/>
    <dgm:txFillClrLst/>
    <dgm:txEffectClrLst/>
  </dgm:styleLbl>
  <dgm:styleLbl name="fg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4">
        <a:tint val="60000"/>
      </a:schemeClr>
    </dgm:fillClrLst>
    <dgm:linClrLst meth="repeat">
      <a:schemeClr val="accent4">
        <a:tint val="60000"/>
      </a:schemeClr>
    </dgm:linClrLst>
    <dgm:effectClrLst/>
    <dgm:txLinClrLst/>
    <dgm:txFillClrLst/>
    <dgm:txEffectClrLst/>
  </dgm:styleLbl>
  <dgm:styleLbl name="fgSibTrans2D1">
    <dgm:fillClrLst meth="repeat">
      <a:schemeClr val="accent4">
        <a:tint val="60000"/>
      </a:schemeClr>
    </dgm:fillClrLst>
    <dgm:linClrLst meth="repeat">
      <a:schemeClr val="accent4">
        <a:tint val="60000"/>
      </a:schemeClr>
    </dgm:linClrLst>
    <dgm:effectClrLst/>
    <dgm:txLinClrLst/>
    <dgm:txFillClrLst/>
    <dgm:txEffectClrLst/>
  </dgm:styleLbl>
  <dgm:styleLbl name="bgSibTrans2D1">
    <dgm:fillClrLst meth="repeat">
      <a:schemeClr val="accent4">
        <a:tint val="60000"/>
      </a:schemeClr>
    </dgm:fillClrLst>
    <dgm:linClrLst meth="repeat">
      <a:schemeClr val="accent4">
        <a:tint val="60000"/>
      </a:schemeClr>
    </dgm:linClrLst>
    <dgm:effectClrLst/>
    <dgm:txLinClrLst/>
    <dgm:txFillClrLst/>
    <dgm:txEffectClrLst/>
  </dgm:styleLbl>
  <dgm:styleLbl name="sibTrans1D1">
    <dgm:fillClrLst meth="repeat">
      <a:schemeClr val="accent4"/>
    </dgm:fillClrLst>
    <dgm:linClrLst meth="repeat">
      <a:schemeClr val="accent4"/>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dgm:linClrLst>
    <dgm:effectClrLst/>
    <dgm:txLinClrLst/>
    <dgm:txFillClrLst/>
    <dgm:txEffectClrLst/>
  </dgm:styleLbl>
  <dgm:styleLbl name="asst1">
    <dgm:fillClrLst meth="repeat">
      <a:schemeClr val="accent4"/>
    </dgm:fillClrLst>
    <dgm:linClrLst meth="repeat">
      <a:schemeClr val="lt1"/>
    </dgm:linClrLst>
    <dgm:effectClrLst/>
    <dgm:txLinClrLst/>
    <dgm:txFillClrLst/>
    <dgm:txEffectClrLst/>
  </dgm:styleLbl>
  <dgm:styleLbl name="asst2">
    <dgm:fillClrLst meth="repeat">
      <a:schemeClr val="accent4"/>
    </dgm:fillClrLst>
    <dgm:linClrLst meth="repeat">
      <a:schemeClr val="lt1"/>
    </dgm:linClrLst>
    <dgm:effectClrLst/>
    <dgm:txLinClrLst/>
    <dgm:txFillClrLst/>
    <dgm:txEffectClrLst/>
  </dgm:styleLbl>
  <dgm:styleLbl name="asst3">
    <dgm:fillClrLst meth="repeat">
      <a:schemeClr val="accent4"/>
    </dgm:fillClrLst>
    <dgm:linClrLst meth="repeat">
      <a:schemeClr val="lt1"/>
    </dgm:linClrLst>
    <dgm:effectClrLst/>
    <dgm:txLinClrLst/>
    <dgm:txFillClrLst/>
    <dgm:txEffectClrLst/>
  </dgm:styleLbl>
  <dgm:styleLbl name="asst4">
    <dgm:fillClrLst meth="repeat">
      <a:schemeClr val="accent4"/>
    </dgm:fillClrLst>
    <dgm:linClrLst meth="repeat">
      <a:schemeClr val="lt1"/>
    </dgm:linClrLst>
    <dgm:effectClrLst/>
    <dgm:txLinClrLst/>
    <dgm:txFillClrLst/>
    <dgm:txEffectClrLst/>
  </dgm:styleLbl>
  <dgm:styleLbl name="parChTrans2D1">
    <dgm:fillClrLst meth="repeat">
      <a:schemeClr val="accent4">
        <a:tint val="60000"/>
      </a:schemeClr>
    </dgm:fillClrLst>
    <dgm:linClrLst meth="repeat">
      <a:schemeClr val="accent4">
        <a:tint val="60000"/>
      </a:schemeClr>
    </dgm:linClrLst>
    <dgm:effectClrLst/>
    <dgm:txLinClrLst/>
    <dgm:txFillClrLst meth="repeat">
      <a:schemeClr val="lt1"/>
    </dgm:txFillClrLst>
    <dgm:txEffectClrLst/>
  </dgm:styleLbl>
  <dgm:styleLbl name="parChTrans2D2">
    <dgm:fillClrLst meth="repeat">
      <a:schemeClr val="accent4"/>
    </dgm:fillClrLst>
    <dgm:linClrLst meth="repeat">
      <a:schemeClr val="accent4"/>
    </dgm:linClrLst>
    <dgm:effectClrLst/>
    <dgm:txLinClrLst/>
    <dgm:txFillClrLst meth="repeat">
      <a:schemeClr val="lt1"/>
    </dgm:txFillClrLst>
    <dgm:txEffectClrLst/>
  </dgm:styleLbl>
  <dgm:styleLbl name="parChTrans2D3">
    <dgm:fillClrLst meth="repeat">
      <a:schemeClr val="accent4"/>
    </dgm:fillClrLst>
    <dgm:linClrLst meth="repeat">
      <a:schemeClr val="accent4"/>
    </dgm:linClrLst>
    <dgm:effectClrLst/>
    <dgm:txLinClrLst/>
    <dgm:txFillClrLst meth="repeat">
      <a:schemeClr val="lt1"/>
    </dgm:txFillClrLst>
    <dgm:txEffectClrLst/>
  </dgm:styleLbl>
  <dgm:styleLbl name="parChTrans2D4">
    <dgm:fillClrLst meth="repeat">
      <a:schemeClr val="accent4"/>
    </dgm:fillClrLst>
    <dgm:linClrLst meth="repeat">
      <a:schemeClr val="accent4"/>
    </dgm:linClrLst>
    <dgm:effectClrLst/>
    <dgm:txLinClrLst/>
    <dgm:txFillClrLst meth="repeat">
      <a:schemeClr val="lt1"/>
    </dgm:txFillClrLst>
    <dgm:txEffectClrLst/>
  </dgm:styleLbl>
  <dgm:styleLbl name="parChTrans1D1">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2">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3">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parChTrans1D4">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solidFgAcc1">
    <dgm:fillClrLst meth="repeat">
      <a:schemeClr val="lt1"/>
    </dgm:fillClrLst>
    <dgm:linClrLst meth="repeat">
      <a:schemeClr val="accent4"/>
    </dgm:linClrLst>
    <dgm:effectClrLst/>
    <dgm:txLinClrLst/>
    <dgm:txFillClrLst meth="repeat">
      <a:schemeClr val="dk1"/>
    </dgm:txFillClrLst>
    <dgm:txEffectClrLst/>
  </dgm:styleLbl>
  <dgm:styleLbl name="solidAlignAcc1">
    <dgm:fillClrLst meth="repeat">
      <a:schemeClr val="lt1"/>
    </dgm:fillClrLst>
    <dgm:linClrLst meth="repeat">
      <a:schemeClr val="accent4"/>
    </dgm:linClrLst>
    <dgm:effectClrLst/>
    <dgm:txLinClrLst/>
    <dgm:txFillClrLst meth="repeat">
      <a:schemeClr val="dk1"/>
    </dgm:txFillClrLst>
    <dgm:txEffectClrLst/>
  </dgm:styleLbl>
  <dgm:styleLbl name="solidBgAcc1">
    <dgm:fillClrLst meth="repeat">
      <a:schemeClr val="lt1"/>
    </dgm:fillClrLst>
    <dgm:linClrLst meth="repeat">
      <a:schemeClr val="accent4"/>
    </dgm:linClrLst>
    <dgm:effectClrLst/>
    <dgm:txLinClrLst/>
    <dgm:txFillClrLst meth="repeat">
      <a:schemeClr val="dk1"/>
    </dgm:txFillClrLst>
    <dgm:txEffectClrLst/>
  </dgm:styleLbl>
  <dgm:styleLbl name="f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align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b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accent4"/>
    </dgm:linClrLst>
    <dgm:effectClrLst/>
    <dgm:txLinClrLst/>
    <dgm:txFillClrLst meth="repeat">
      <a:schemeClr val="dk1"/>
    </dgm:txFillClrLst>
    <dgm:txEffectClrLst/>
  </dgm:styleLbl>
  <dgm:styleLbl name="dkBgShp">
    <dgm:fillClrLst meth="repeat">
      <a:schemeClr val="accent4">
        <a:shade val="80000"/>
      </a:schemeClr>
    </dgm:fillClrLst>
    <dgm:linClrLst meth="repeat">
      <a:schemeClr val="accent4"/>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51C01E1-2B8F-4CE9-B0B6-CBF4607B20B4}" type="doc">
      <dgm:prSet loTypeId="urn:microsoft.com/office/officeart/2018/2/layout/IconLabelList" loCatId="icon" qsTypeId="urn:microsoft.com/office/officeart/2005/8/quickstyle/simple1" qsCatId="simple" csTypeId="urn:microsoft.com/office/officeart/2005/8/colors/accent1_2" csCatId="accent1" phldr="1"/>
      <dgm:spPr/>
      <dgm:t>
        <a:bodyPr/>
        <a:lstStyle/>
        <a:p>
          <a:endParaRPr lang="en-US"/>
        </a:p>
      </dgm:t>
    </dgm:pt>
    <dgm:pt modelId="{C29021D3-4B4D-4812-8464-31F58136E0FA}">
      <dgm:prSet custT="1"/>
      <dgm:spPr>
        <a:ln>
          <a:solidFill>
            <a:schemeClr val="accent3">
              <a:lumMod val="60000"/>
              <a:lumOff val="40000"/>
            </a:schemeClr>
          </a:solidFill>
        </a:ln>
      </dgm:spPr>
      <dgm:t>
        <a:bodyPr/>
        <a:lstStyle/>
        <a:p>
          <a:pPr>
            <a:lnSpc>
              <a:spcPct val="100000"/>
            </a:lnSpc>
          </a:pPr>
          <a:r>
            <a:rPr lang="en-US" sz="1200" dirty="0"/>
            <a:t>This project created an AI system that helps predict whether someone may have COVID-19 using only symptoms and information they can notice at home— before going to a clinic or hospital.</a:t>
          </a:r>
        </a:p>
      </dgm:t>
    </dgm:pt>
    <dgm:pt modelId="{6E92CB88-0FF1-4F63-A58C-D438A28CDECF}" type="parTrans" cxnId="{520C635D-8218-42CA-8937-27F7BE766FA8}">
      <dgm:prSet/>
      <dgm:spPr/>
      <dgm:t>
        <a:bodyPr/>
        <a:lstStyle/>
        <a:p>
          <a:endParaRPr lang="en-US"/>
        </a:p>
      </dgm:t>
    </dgm:pt>
    <dgm:pt modelId="{C2F18BEB-C342-4077-9D10-68E4994BEDCC}" type="sibTrans" cxnId="{520C635D-8218-42CA-8937-27F7BE766FA8}">
      <dgm:prSet/>
      <dgm:spPr/>
      <dgm:t>
        <a:bodyPr/>
        <a:lstStyle/>
        <a:p>
          <a:endParaRPr lang="en-US"/>
        </a:p>
      </dgm:t>
    </dgm:pt>
    <dgm:pt modelId="{A63AF2CC-079F-4A3C-8CB5-990F1AE23E02}">
      <dgm:prSet/>
      <dgm:spPr/>
      <dgm:t>
        <a:bodyPr/>
        <a:lstStyle/>
        <a:p>
          <a:pPr>
            <a:lnSpc>
              <a:spcPct val="100000"/>
            </a:lnSpc>
          </a:pPr>
          <a:r>
            <a:rPr lang="en-US"/>
            <a:t>The goal was to help people decide:</a:t>
          </a:r>
        </a:p>
      </dgm:t>
    </dgm:pt>
    <dgm:pt modelId="{E2AE2DAC-48E9-4C17-ABBE-9A85E39DFA67}" type="parTrans" cxnId="{7481A1C5-F719-418D-B008-C076CE8F94C2}">
      <dgm:prSet/>
      <dgm:spPr/>
      <dgm:t>
        <a:bodyPr/>
        <a:lstStyle/>
        <a:p>
          <a:endParaRPr lang="en-US"/>
        </a:p>
      </dgm:t>
    </dgm:pt>
    <dgm:pt modelId="{12A42D50-9E32-41C1-92D9-58497148BBDF}" type="sibTrans" cxnId="{7481A1C5-F719-418D-B008-C076CE8F94C2}">
      <dgm:prSet/>
      <dgm:spPr/>
      <dgm:t>
        <a:bodyPr/>
        <a:lstStyle/>
        <a:p>
          <a:endParaRPr lang="en-US"/>
        </a:p>
      </dgm:t>
    </dgm:pt>
    <dgm:pt modelId="{E01D57F8-E1DE-4DA0-91CC-D1790C813747}">
      <dgm:prSet/>
      <dgm:spPr/>
      <dgm:t>
        <a:bodyPr/>
        <a:lstStyle/>
        <a:p>
          <a:pPr>
            <a:lnSpc>
              <a:spcPct val="100000"/>
            </a:lnSpc>
          </a:pPr>
          <a:r>
            <a:rPr lang="en-US"/>
            <a:t>*Should I get tested? </a:t>
          </a:r>
        </a:p>
      </dgm:t>
    </dgm:pt>
    <dgm:pt modelId="{E5EC5466-BFA8-4A33-BC5E-03D4B4A5474D}" type="parTrans" cxnId="{E8295021-74A6-4E7F-B975-43869CE174BD}">
      <dgm:prSet/>
      <dgm:spPr/>
      <dgm:t>
        <a:bodyPr/>
        <a:lstStyle/>
        <a:p>
          <a:endParaRPr lang="en-US"/>
        </a:p>
      </dgm:t>
    </dgm:pt>
    <dgm:pt modelId="{CBF3E7DF-AF30-4335-8F2F-57F83DD3A0F0}" type="sibTrans" cxnId="{E8295021-74A6-4E7F-B975-43869CE174BD}">
      <dgm:prSet/>
      <dgm:spPr/>
      <dgm:t>
        <a:bodyPr/>
        <a:lstStyle/>
        <a:p>
          <a:endParaRPr lang="en-US"/>
        </a:p>
      </dgm:t>
    </dgm:pt>
    <dgm:pt modelId="{533C0A14-EA04-4BEF-ABA9-4D1F770C547B}">
      <dgm:prSet/>
      <dgm:spPr/>
      <dgm:t>
        <a:bodyPr/>
        <a:lstStyle/>
        <a:p>
          <a:pPr>
            <a:lnSpc>
              <a:spcPct val="100000"/>
            </a:lnSpc>
          </a:pPr>
          <a:r>
            <a:rPr lang="en-US"/>
            <a:t>*Should I isolate? </a:t>
          </a:r>
        </a:p>
      </dgm:t>
    </dgm:pt>
    <dgm:pt modelId="{FCD85DF5-CB75-4E71-8707-20C78B261DF6}" type="parTrans" cxnId="{C9A1BF2E-5F36-4697-B64D-100B712EDF66}">
      <dgm:prSet/>
      <dgm:spPr/>
      <dgm:t>
        <a:bodyPr/>
        <a:lstStyle/>
        <a:p>
          <a:endParaRPr lang="en-US"/>
        </a:p>
      </dgm:t>
    </dgm:pt>
    <dgm:pt modelId="{5810EF84-3719-4896-A77B-617AE0A09D18}" type="sibTrans" cxnId="{C9A1BF2E-5F36-4697-B64D-100B712EDF66}">
      <dgm:prSet/>
      <dgm:spPr/>
      <dgm:t>
        <a:bodyPr/>
        <a:lstStyle/>
        <a:p>
          <a:endParaRPr lang="en-US"/>
        </a:p>
      </dgm:t>
    </dgm:pt>
    <dgm:pt modelId="{A724E877-E98E-4027-BCCD-518C1F35DCB1}">
      <dgm:prSet/>
      <dgm:spPr/>
      <dgm:t>
        <a:bodyPr/>
        <a:lstStyle/>
        <a:p>
          <a:pPr>
            <a:lnSpc>
              <a:spcPct val="100000"/>
            </a:lnSpc>
          </a:pPr>
          <a:r>
            <a:rPr lang="en-US"/>
            <a:t>*Do I need medical care? </a:t>
          </a:r>
        </a:p>
      </dgm:t>
    </dgm:pt>
    <dgm:pt modelId="{3797C28B-24B6-4E23-8EEC-F5AE19DD23D4}" type="parTrans" cxnId="{EA1CD53D-8FB6-4B9A-A726-45E59919C7CD}">
      <dgm:prSet/>
      <dgm:spPr/>
      <dgm:t>
        <a:bodyPr/>
        <a:lstStyle/>
        <a:p>
          <a:endParaRPr lang="en-US"/>
        </a:p>
      </dgm:t>
    </dgm:pt>
    <dgm:pt modelId="{9E8DD780-91FE-4BC2-B0ED-6CCD65DB6504}" type="sibTrans" cxnId="{EA1CD53D-8FB6-4B9A-A726-45E59919C7CD}">
      <dgm:prSet/>
      <dgm:spPr/>
      <dgm:t>
        <a:bodyPr/>
        <a:lstStyle/>
        <a:p>
          <a:endParaRPr lang="en-US"/>
        </a:p>
      </dgm:t>
    </dgm:pt>
    <dgm:pt modelId="{582D6BC5-2AD8-446F-A95C-817F68D62AB4}" type="pres">
      <dgm:prSet presAssocID="{E51C01E1-2B8F-4CE9-B0B6-CBF4607B20B4}" presName="root" presStyleCnt="0">
        <dgm:presLayoutVars>
          <dgm:dir/>
          <dgm:resizeHandles val="exact"/>
        </dgm:presLayoutVars>
      </dgm:prSet>
      <dgm:spPr/>
    </dgm:pt>
    <dgm:pt modelId="{60A9463D-B910-4E53-8874-2E7653453F61}" type="pres">
      <dgm:prSet presAssocID="{C29021D3-4B4D-4812-8464-31F58136E0FA}" presName="compNode" presStyleCnt="0"/>
      <dgm:spPr/>
    </dgm:pt>
    <dgm:pt modelId="{6B505979-7C45-4E26-AE2C-2C71E426AC1A}" type="pres">
      <dgm:prSet presAssocID="{C29021D3-4B4D-4812-8464-31F58136E0FA}" presName="iconRect" presStyleLbl="node1" presStyleIdx="0"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dgm:spPr>
      <dgm:extLst>
        <a:ext uri="{E40237B7-FDA0-4F09-8148-C483321AD2D9}">
          <dgm14:cNvPr xmlns:dgm14="http://schemas.microsoft.com/office/drawing/2010/diagram" id="0" name="" descr="Head with Gears"/>
        </a:ext>
      </dgm:extLst>
    </dgm:pt>
    <dgm:pt modelId="{E157FD11-703A-471A-9495-519E9D068928}" type="pres">
      <dgm:prSet presAssocID="{C29021D3-4B4D-4812-8464-31F58136E0FA}" presName="spaceRect" presStyleCnt="0"/>
      <dgm:spPr/>
    </dgm:pt>
    <dgm:pt modelId="{996203E0-B062-4472-95D2-97B8B709D334}" type="pres">
      <dgm:prSet presAssocID="{C29021D3-4B4D-4812-8464-31F58136E0FA}" presName="textRect" presStyleLbl="revTx" presStyleIdx="0" presStyleCnt="5">
        <dgm:presLayoutVars>
          <dgm:chMax val="1"/>
          <dgm:chPref val="1"/>
        </dgm:presLayoutVars>
      </dgm:prSet>
      <dgm:spPr/>
    </dgm:pt>
    <dgm:pt modelId="{50F50C5B-49A9-4308-BBE6-818623EAF94B}" type="pres">
      <dgm:prSet presAssocID="{C2F18BEB-C342-4077-9D10-68E4994BEDCC}" presName="sibTrans" presStyleCnt="0"/>
      <dgm:spPr/>
    </dgm:pt>
    <dgm:pt modelId="{A366E520-BCA9-4C1F-A7AA-C2B8BF66D206}" type="pres">
      <dgm:prSet presAssocID="{A63AF2CC-079F-4A3C-8CB5-990F1AE23E02}" presName="compNode" presStyleCnt="0"/>
      <dgm:spPr/>
    </dgm:pt>
    <dgm:pt modelId="{E72EF5F5-40B2-4574-A5E0-62C4DEF7A6C7}" type="pres">
      <dgm:prSet presAssocID="{A63AF2CC-079F-4A3C-8CB5-990F1AE23E02}" presName="iconRect" presStyleLbl="node1" presStyleIdx="1"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Bullseye"/>
        </a:ext>
      </dgm:extLst>
    </dgm:pt>
    <dgm:pt modelId="{60B9C5A7-AEE0-42E6-B46F-AF8CE474BBEE}" type="pres">
      <dgm:prSet presAssocID="{A63AF2CC-079F-4A3C-8CB5-990F1AE23E02}" presName="spaceRect" presStyleCnt="0"/>
      <dgm:spPr/>
    </dgm:pt>
    <dgm:pt modelId="{86822D8A-D7E1-4F11-80A8-21CB2045E0D9}" type="pres">
      <dgm:prSet presAssocID="{A63AF2CC-079F-4A3C-8CB5-990F1AE23E02}" presName="textRect" presStyleLbl="revTx" presStyleIdx="1" presStyleCnt="5">
        <dgm:presLayoutVars>
          <dgm:chMax val="1"/>
          <dgm:chPref val="1"/>
        </dgm:presLayoutVars>
      </dgm:prSet>
      <dgm:spPr/>
    </dgm:pt>
    <dgm:pt modelId="{430AF66F-CAA5-48F4-92FF-0387FC9DEEFD}" type="pres">
      <dgm:prSet presAssocID="{12A42D50-9E32-41C1-92D9-58497148BBDF}" presName="sibTrans" presStyleCnt="0"/>
      <dgm:spPr/>
    </dgm:pt>
    <dgm:pt modelId="{265D938E-4F94-4994-A387-F13DDE0E8BE5}" type="pres">
      <dgm:prSet presAssocID="{E01D57F8-E1DE-4DA0-91CC-D1790C813747}" presName="compNode" presStyleCnt="0"/>
      <dgm:spPr/>
    </dgm:pt>
    <dgm:pt modelId="{53DD7DDB-76E7-4C9D-B598-7B2B082310AC}" type="pres">
      <dgm:prSet presAssocID="{E01D57F8-E1DE-4DA0-91CC-D1790C813747}" presName="iconRect" presStyleLbl="node1" presStyleIdx="2"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dgm:spPr>
      <dgm:extLst>
        <a:ext uri="{E40237B7-FDA0-4F09-8148-C483321AD2D9}">
          <dgm14:cNvPr xmlns:dgm14="http://schemas.microsoft.com/office/drawing/2010/diagram" id="0" name="" descr="Test tubes"/>
        </a:ext>
      </dgm:extLst>
    </dgm:pt>
    <dgm:pt modelId="{04ED049A-C8A9-4124-9047-9F3240805127}" type="pres">
      <dgm:prSet presAssocID="{E01D57F8-E1DE-4DA0-91CC-D1790C813747}" presName="spaceRect" presStyleCnt="0"/>
      <dgm:spPr/>
    </dgm:pt>
    <dgm:pt modelId="{14BA985D-6B78-4CBD-B0AB-567F63622B70}" type="pres">
      <dgm:prSet presAssocID="{E01D57F8-E1DE-4DA0-91CC-D1790C813747}" presName="textRect" presStyleLbl="revTx" presStyleIdx="2" presStyleCnt="5">
        <dgm:presLayoutVars>
          <dgm:chMax val="1"/>
          <dgm:chPref val="1"/>
        </dgm:presLayoutVars>
      </dgm:prSet>
      <dgm:spPr/>
    </dgm:pt>
    <dgm:pt modelId="{7AE558FF-2275-4173-893C-0036B20FFECD}" type="pres">
      <dgm:prSet presAssocID="{CBF3E7DF-AF30-4335-8F2F-57F83DD3A0F0}" presName="sibTrans" presStyleCnt="0"/>
      <dgm:spPr/>
    </dgm:pt>
    <dgm:pt modelId="{0E79EC71-AF8D-4EE9-85B7-CA385B953B8A}" type="pres">
      <dgm:prSet presAssocID="{533C0A14-EA04-4BEF-ABA9-4D1F770C547B}" presName="compNode" presStyleCnt="0"/>
      <dgm:spPr/>
    </dgm:pt>
    <dgm:pt modelId="{0912A342-9C2D-4B89-9E24-EA32063470F8}" type="pres">
      <dgm:prSet presAssocID="{533C0A14-EA04-4BEF-ABA9-4D1F770C547B}" presName="iconRect" presStyleLbl="node1" presStyleIdx="3"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Irritant"/>
        </a:ext>
      </dgm:extLst>
    </dgm:pt>
    <dgm:pt modelId="{0363F7EF-C69B-4217-BF11-351D77A1D3D1}" type="pres">
      <dgm:prSet presAssocID="{533C0A14-EA04-4BEF-ABA9-4D1F770C547B}" presName="spaceRect" presStyleCnt="0"/>
      <dgm:spPr/>
    </dgm:pt>
    <dgm:pt modelId="{94617462-7C8C-437D-ABE2-14DAEACD2DB8}" type="pres">
      <dgm:prSet presAssocID="{533C0A14-EA04-4BEF-ABA9-4D1F770C547B}" presName="textRect" presStyleLbl="revTx" presStyleIdx="3" presStyleCnt="5">
        <dgm:presLayoutVars>
          <dgm:chMax val="1"/>
          <dgm:chPref val="1"/>
        </dgm:presLayoutVars>
      </dgm:prSet>
      <dgm:spPr/>
    </dgm:pt>
    <dgm:pt modelId="{71916F41-A8AA-41C9-B5A8-5B566F1B4AE2}" type="pres">
      <dgm:prSet presAssocID="{5810EF84-3719-4896-A77B-617AE0A09D18}" presName="sibTrans" presStyleCnt="0"/>
      <dgm:spPr/>
    </dgm:pt>
    <dgm:pt modelId="{E7CE1EF7-6DB5-44D2-B67D-0644F4773620}" type="pres">
      <dgm:prSet presAssocID="{A724E877-E98E-4027-BCCD-518C1F35DCB1}" presName="compNode" presStyleCnt="0"/>
      <dgm:spPr/>
    </dgm:pt>
    <dgm:pt modelId="{85C69CED-C3EF-4B7B-B383-B55AD0855868}" type="pres">
      <dgm:prSet presAssocID="{A724E877-E98E-4027-BCCD-518C1F35DCB1}" presName="iconRect" presStyleLbl="node1" presStyleIdx="4"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dgm:spPr>
      <dgm:extLst>
        <a:ext uri="{E40237B7-FDA0-4F09-8148-C483321AD2D9}">
          <dgm14:cNvPr xmlns:dgm14="http://schemas.microsoft.com/office/drawing/2010/diagram" id="0" name="" descr="Stethoscope"/>
        </a:ext>
      </dgm:extLst>
    </dgm:pt>
    <dgm:pt modelId="{18F30C53-C0CE-4657-B0A3-BFBBE06AB7F9}" type="pres">
      <dgm:prSet presAssocID="{A724E877-E98E-4027-BCCD-518C1F35DCB1}" presName="spaceRect" presStyleCnt="0"/>
      <dgm:spPr/>
    </dgm:pt>
    <dgm:pt modelId="{6E47A94E-9758-476F-8BDA-FABC0F59FF8F}" type="pres">
      <dgm:prSet presAssocID="{A724E877-E98E-4027-BCCD-518C1F35DCB1}" presName="textRect" presStyleLbl="revTx" presStyleIdx="4" presStyleCnt="5">
        <dgm:presLayoutVars>
          <dgm:chMax val="1"/>
          <dgm:chPref val="1"/>
        </dgm:presLayoutVars>
      </dgm:prSet>
      <dgm:spPr/>
    </dgm:pt>
  </dgm:ptLst>
  <dgm:cxnLst>
    <dgm:cxn modelId="{B9E8C71C-50AB-8640-9524-AEE6E0E083E2}" type="presOf" srcId="{A63AF2CC-079F-4A3C-8CB5-990F1AE23E02}" destId="{86822D8A-D7E1-4F11-80A8-21CB2045E0D9}" srcOrd="0" destOrd="0" presId="urn:microsoft.com/office/officeart/2018/2/layout/IconLabelList"/>
    <dgm:cxn modelId="{E8295021-74A6-4E7F-B975-43869CE174BD}" srcId="{E51C01E1-2B8F-4CE9-B0B6-CBF4607B20B4}" destId="{E01D57F8-E1DE-4DA0-91CC-D1790C813747}" srcOrd="2" destOrd="0" parTransId="{E5EC5466-BFA8-4A33-BC5E-03D4B4A5474D}" sibTransId="{CBF3E7DF-AF30-4335-8F2F-57F83DD3A0F0}"/>
    <dgm:cxn modelId="{27607F2A-E6C8-024F-A9D9-B253C96C97F3}" type="presOf" srcId="{A724E877-E98E-4027-BCCD-518C1F35DCB1}" destId="{6E47A94E-9758-476F-8BDA-FABC0F59FF8F}" srcOrd="0" destOrd="0" presId="urn:microsoft.com/office/officeart/2018/2/layout/IconLabelList"/>
    <dgm:cxn modelId="{C9A1BF2E-5F36-4697-B64D-100B712EDF66}" srcId="{E51C01E1-2B8F-4CE9-B0B6-CBF4607B20B4}" destId="{533C0A14-EA04-4BEF-ABA9-4D1F770C547B}" srcOrd="3" destOrd="0" parTransId="{FCD85DF5-CB75-4E71-8707-20C78B261DF6}" sibTransId="{5810EF84-3719-4896-A77B-617AE0A09D18}"/>
    <dgm:cxn modelId="{EA1CD53D-8FB6-4B9A-A726-45E59919C7CD}" srcId="{E51C01E1-2B8F-4CE9-B0B6-CBF4607B20B4}" destId="{A724E877-E98E-4027-BCCD-518C1F35DCB1}" srcOrd="4" destOrd="0" parTransId="{3797C28B-24B6-4E23-8EEC-F5AE19DD23D4}" sibTransId="{9E8DD780-91FE-4BC2-B0ED-6CCD65DB6504}"/>
    <dgm:cxn modelId="{520C635D-8218-42CA-8937-27F7BE766FA8}" srcId="{E51C01E1-2B8F-4CE9-B0B6-CBF4607B20B4}" destId="{C29021D3-4B4D-4812-8464-31F58136E0FA}" srcOrd="0" destOrd="0" parTransId="{6E92CB88-0FF1-4F63-A58C-D438A28CDECF}" sibTransId="{C2F18BEB-C342-4077-9D10-68E4994BEDCC}"/>
    <dgm:cxn modelId="{B9E8F26E-D900-2C4F-9EC7-E110312CD4F1}" type="presOf" srcId="{E51C01E1-2B8F-4CE9-B0B6-CBF4607B20B4}" destId="{582D6BC5-2AD8-446F-A95C-817F68D62AB4}" srcOrd="0" destOrd="0" presId="urn:microsoft.com/office/officeart/2018/2/layout/IconLabelList"/>
    <dgm:cxn modelId="{8C799876-A240-0847-8A77-6A8A9C520872}" type="presOf" srcId="{E01D57F8-E1DE-4DA0-91CC-D1790C813747}" destId="{14BA985D-6B78-4CBD-B0AB-567F63622B70}" srcOrd="0" destOrd="0" presId="urn:microsoft.com/office/officeart/2018/2/layout/IconLabelList"/>
    <dgm:cxn modelId="{41337795-99D8-0D42-8EC0-B8BEB875999E}" type="presOf" srcId="{C29021D3-4B4D-4812-8464-31F58136E0FA}" destId="{996203E0-B062-4472-95D2-97B8B709D334}" srcOrd="0" destOrd="0" presId="urn:microsoft.com/office/officeart/2018/2/layout/IconLabelList"/>
    <dgm:cxn modelId="{00F337B8-5C37-DE4B-84FA-E5DD6AEC15C7}" type="presOf" srcId="{533C0A14-EA04-4BEF-ABA9-4D1F770C547B}" destId="{94617462-7C8C-437D-ABE2-14DAEACD2DB8}" srcOrd="0" destOrd="0" presId="urn:microsoft.com/office/officeart/2018/2/layout/IconLabelList"/>
    <dgm:cxn modelId="{7481A1C5-F719-418D-B008-C076CE8F94C2}" srcId="{E51C01E1-2B8F-4CE9-B0B6-CBF4607B20B4}" destId="{A63AF2CC-079F-4A3C-8CB5-990F1AE23E02}" srcOrd="1" destOrd="0" parTransId="{E2AE2DAC-48E9-4C17-ABBE-9A85E39DFA67}" sibTransId="{12A42D50-9E32-41C1-92D9-58497148BBDF}"/>
    <dgm:cxn modelId="{1FCC088F-B290-C54F-A5E5-1A267F96D267}" type="presParOf" srcId="{582D6BC5-2AD8-446F-A95C-817F68D62AB4}" destId="{60A9463D-B910-4E53-8874-2E7653453F61}" srcOrd="0" destOrd="0" presId="urn:microsoft.com/office/officeart/2018/2/layout/IconLabelList"/>
    <dgm:cxn modelId="{2881510D-91FB-4E4C-8669-91EEE4F8D7E0}" type="presParOf" srcId="{60A9463D-B910-4E53-8874-2E7653453F61}" destId="{6B505979-7C45-4E26-AE2C-2C71E426AC1A}" srcOrd="0" destOrd="0" presId="urn:microsoft.com/office/officeart/2018/2/layout/IconLabelList"/>
    <dgm:cxn modelId="{D297EAA2-6198-584C-8B3F-2EB66FC2E022}" type="presParOf" srcId="{60A9463D-B910-4E53-8874-2E7653453F61}" destId="{E157FD11-703A-471A-9495-519E9D068928}" srcOrd="1" destOrd="0" presId="urn:microsoft.com/office/officeart/2018/2/layout/IconLabelList"/>
    <dgm:cxn modelId="{6AB1BD3C-8876-174A-A3B3-DCF1DDCF46A5}" type="presParOf" srcId="{60A9463D-B910-4E53-8874-2E7653453F61}" destId="{996203E0-B062-4472-95D2-97B8B709D334}" srcOrd="2" destOrd="0" presId="urn:microsoft.com/office/officeart/2018/2/layout/IconLabelList"/>
    <dgm:cxn modelId="{07A01E0C-55B8-D740-B73A-4854844706DC}" type="presParOf" srcId="{582D6BC5-2AD8-446F-A95C-817F68D62AB4}" destId="{50F50C5B-49A9-4308-BBE6-818623EAF94B}" srcOrd="1" destOrd="0" presId="urn:microsoft.com/office/officeart/2018/2/layout/IconLabelList"/>
    <dgm:cxn modelId="{29CB2B0C-5CE3-9844-9858-739F3DE80353}" type="presParOf" srcId="{582D6BC5-2AD8-446F-A95C-817F68D62AB4}" destId="{A366E520-BCA9-4C1F-A7AA-C2B8BF66D206}" srcOrd="2" destOrd="0" presId="urn:microsoft.com/office/officeart/2018/2/layout/IconLabelList"/>
    <dgm:cxn modelId="{AB5F3ABB-745B-9745-ACB9-C9EBC32EC6C9}" type="presParOf" srcId="{A366E520-BCA9-4C1F-A7AA-C2B8BF66D206}" destId="{E72EF5F5-40B2-4574-A5E0-62C4DEF7A6C7}" srcOrd="0" destOrd="0" presId="urn:microsoft.com/office/officeart/2018/2/layout/IconLabelList"/>
    <dgm:cxn modelId="{B8230B91-847E-5B45-BFE5-274F2BEBF9A5}" type="presParOf" srcId="{A366E520-BCA9-4C1F-A7AA-C2B8BF66D206}" destId="{60B9C5A7-AEE0-42E6-B46F-AF8CE474BBEE}" srcOrd="1" destOrd="0" presId="urn:microsoft.com/office/officeart/2018/2/layout/IconLabelList"/>
    <dgm:cxn modelId="{A9CC4EE2-756F-0B4A-978B-596B2E93AE05}" type="presParOf" srcId="{A366E520-BCA9-4C1F-A7AA-C2B8BF66D206}" destId="{86822D8A-D7E1-4F11-80A8-21CB2045E0D9}" srcOrd="2" destOrd="0" presId="urn:microsoft.com/office/officeart/2018/2/layout/IconLabelList"/>
    <dgm:cxn modelId="{F7777BDF-3A0B-2944-A53F-CDD85939E6D6}" type="presParOf" srcId="{582D6BC5-2AD8-446F-A95C-817F68D62AB4}" destId="{430AF66F-CAA5-48F4-92FF-0387FC9DEEFD}" srcOrd="3" destOrd="0" presId="urn:microsoft.com/office/officeart/2018/2/layout/IconLabelList"/>
    <dgm:cxn modelId="{C9ABA9BD-A4D1-D641-A437-329650D76BF8}" type="presParOf" srcId="{582D6BC5-2AD8-446F-A95C-817F68D62AB4}" destId="{265D938E-4F94-4994-A387-F13DDE0E8BE5}" srcOrd="4" destOrd="0" presId="urn:microsoft.com/office/officeart/2018/2/layout/IconLabelList"/>
    <dgm:cxn modelId="{7B030A14-D584-D24F-BC1F-87F4AC5C7606}" type="presParOf" srcId="{265D938E-4F94-4994-A387-F13DDE0E8BE5}" destId="{53DD7DDB-76E7-4C9D-B598-7B2B082310AC}" srcOrd="0" destOrd="0" presId="urn:microsoft.com/office/officeart/2018/2/layout/IconLabelList"/>
    <dgm:cxn modelId="{D8A0D3D6-8BE6-0443-88DD-97D6D96FEED0}" type="presParOf" srcId="{265D938E-4F94-4994-A387-F13DDE0E8BE5}" destId="{04ED049A-C8A9-4124-9047-9F3240805127}" srcOrd="1" destOrd="0" presId="urn:microsoft.com/office/officeart/2018/2/layout/IconLabelList"/>
    <dgm:cxn modelId="{255ED074-B77C-0C41-9B25-0E3F12B49332}" type="presParOf" srcId="{265D938E-4F94-4994-A387-F13DDE0E8BE5}" destId="{14BA985D-6B78-4CBD-B0AB-567F63622B70}" srcOrd="2" destOrd="0" presId="urn:microsoft.com/office/officeart/2018/2/layout/IconLabelList"/>
    <dgm:cxn modelId="{8C57694F-3E60-FC45-9F60-C42621523E1F}" type="presParOf" srcId="{582D6BC5-2AD8-446F-A95C-817F68D62AB4}" destId="{7AE558FF-2275-4173-893C-0036B20FFECD}" srcOrd="5" destOrd="0" presId="urn:microsoft.com/office/officeart/2018/2/layout/IconLabelList"/>
    <dgm:cxn modelId="{50A69D58-374A-6D44-9B25-7F198CAD7B19}" type="presParOf" srcId="{582D6BC5-2AD8-446F-A95C-817F68D62AB4}" destId="{0E79EC71-AF8D-4EE9-85B7-CA385B953B8A}" srcOrd="6" destOrd="0" presId="urn:microsoft.com/office/officeart/2018/2/layout/IconLabelList"/>
    <dgm:cxn modelId="{247DEA1D-2121-234D-A9D3-BAD1EDA766C1}" type="presParOf" srcId="{0E79EC71-AF8D-4EE9-85B7-CA385B953B8A}" destId="{0912A342-9C2D-4B89-9E24-EA32063470F8}" srcOrd="0" destOrd="0" presId="urn:microsoft.com/office/officeart/2018/2/layout/IconLabelList"/>
    <dgm:cxn modelId="{26A55D86-E34E-7042-8DFF-140B25C24B8F}" type="presParOf" srcId="{0E79EC71-AF8D-4EE9-85B7-CA385B953B8A}" destId="{0363F7EF-C69B-4217-BF11-351D77A1D3D1}" srcOrd="1" destOrd="0" presId="urn:microsoft.com/office/officeart/2018/2/layout/IconLabelList"/>
    <dgm:cxn modelId="{E9962124-1EF3-3C42-A6BA-11B707D0B643}" type="presParOf" srcId="{0E79EC71-AF8D-4EE9-85B7-CA385B953B8A}" destId="{94617462-7C8C-437D-ABE2-14DAEACD2DB8}" srcOrd="2" destOrd="0" presId="urn:microsoft.com/office/officeart/2018/2/layout/IconLabelList"/>
    <dgm:cxn modelId="{4C47C2F3-F35B-2948-9BCF-309991D6E5AB}" type="presParOf" srcId="{582D6BC5-2AD8-446F-A95C-817F68D62AB4}" destId="{71916F41-A8AA-41C9-B5A8-5B566F1B4AE2}" srcOrd="7" destOrd="0" presId="urn:microsoft.com/office/officeart/2018/2/layout/IconLabelList"/>
    <dgm:cxn modelId="{4FF693F1-ECBA-8148-BBEC-BFFBB8BC459F}" type="presParOf" srcId="{582D6BC5-2AD8-446F-A95C-817F68D62AB4}" destId="{E7CE1EF7-6DB5-44D2-B67D-0644F4773620}" srcOrd="8" destOrd="0" presId="urn:microsoft.com/office/officeart/2018/2/layout/IconLabelList"/>
    <dgm:cxn modelId="{81DB5653-EBC7-B143-9D51-9E32F6A10556}" type="presParOf" srcId="{E7CE1EF7-6DB5-44D2-B67D-0644F4773620}" destId="{85C69CED-C3EF-4B7B-B383-B55AD0855868}" srcOrd="0" destOrd="0" presId="urn:microsoft.com/office/officeart/2018/2/layout/IconLabelList"/>
    <dgm:cxn modelId="{F03AC3D6-97A5-F247-8F04-7519C40AA960}" type="presParOf" srcId="{E7CE1EF7-6DB5-44D2-B67D-0644F4773620}" destId="{18F30C53-C0CE-4657-B0A3-BFBBE06AB7F9}" srcOrd="1" destOrd="0" presId="urn:microsoft.com/office/officeart/2018/2/layout/IconLabelList"/>
    <dgm:cxn modelId="{94519C3B-BD41-A248-B354-4C2040B2476E}" type="presParOf" srcId="{E7CE1EF7-6DB5-44D2-B67D-0644F4773620}" destId="{6E47A94E-9758-476F-8BDA-FABC0F59FF8F}" srcOrd="2" destOrd="0" presId="urn:microsoft.com/office/officeart/2018/2/layout/IconLabel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B7E234A7-5706-B54B-BB8E-EE61464B3ED6}" type="doc">
      <dgm:prSet loTypeId="urn:microsoft.com/office/officeart/2005/8/layout/default" loCatId="list" qsTypeId="urn:microsoft.com/office/officeart/2005/8/quickstyle/simple1" qsCatId="simple" csTypeId="urn:microsoft.com/office/officeart/2005/8/colors/accent1_2" csCatId="accent1" phldr="1"/>
      <dgm:spPr/>
      <dgm:t>
        <a:bodyPr/>
        <a:lstStyle/>
        <a:p>
          <a:endParaRPr lang="en-US"/>
        </a:p>
      </dgm:t>
    </dgm:pt>
    <dgm:pt modelId="{9647886F-BD98-9549-8EBD-8C65CF9E4356}">
      <dgm:prSet phldrT="[Text]" custT="1"/>
      <dgm:spPr/>
      <dgm:t>
        <a:bodyPr/>
        <a:lstStyle/>
        <a:p>
          <a:r>
            <a:rPr lang="en-US" sz="1800" dirty="0"/>
            <a:t>Knowledge base with tier assignments</a:t>
          </a:r>
        </a:p>
      </dgm:t>
    </dgm:pt>
    <dgm:pt modelId="{4D4EA970-95C2-B54D-BE8A-131A0A369E20}" type="parTrans" cxnId="{600B0739-A416-2A42-B1C9-FDD831AF9A29}">
      <dgm:prSet/>
      <dgm:spPr/>
      <dgm:t>
        <a:bodyPr/>
        <a:lstStyle/>
        <a:p>
          <a:endParaRPr lang="en-US" sz="1800"/>
        </a:p>
      </dgm:t>
    </dgm:pt>
    <dgm:pt modelId="{5ECEFFBF-BAF0-3040-B2B8-F22880CD2692}" type="sibTrans" cxnId="{600B0739-A416-2A42-B1C9-FDD831AF9A29}">
      <dgm:prSet/>
      <dgm:spPr/>
      <dgm:t>
        <a:bodyPr/>
        <a:lstStyle/>
        <a:p>
          <a:endParaRPr lang="en-US" sz="1800"/>
        </a:p>
      </dgm:t>
    </dgm:pt>
    <dgm:pt modelId="{4F9CCD43-498C-D541-87F7-E455244F23B4}">
      <dgm:prSet phldrT="[Text]" custT="1"/>
      <dgm:spPr/>
      <dgm:t>
        <a:bodyPr/>
        <a:lstStyle/>
        <a:p>
          <a:r>
            <a:rPr lang="en-US" sz="1800" dirty="0"/>
            <a:t>Apply temporal rules to determine which variables come first</a:t>
          </a:r>
        </a:p>
      </dgm:t>
    </dgm:pt>
    <dgm:pt modelId="{00C6CA40-4032-A748-B390-3DA43E03FDBC}" type="parTrans" cxnId="{4B1CE786-3090-8B42-AF1C-BEAA2F4D7FDD}">
      <dgm:prSet/>
      <dgm:spPr/>
      <dgm:t>
        <a:bodyPr/>
        <a:lstStyle/>
        <a:p>
          <a:endParaRPr lang="en-US" sz="1800"/>
        </a:p>
      </dgm:t>
    </dgm:pt>
    <dgm:pt modelId="{932FA2BF-FA31-EE49-8451-551C89DDD182}" type="sibTrans" cxnId="{4B1CE786-3090-8B42-AF1C-BEAA2F4D7FDD}">
      <dgm:prSet/>
      <dgm:spPr/>
      <dgm:t>
        <a:bodyPr/>
        <a:lstStyle/>
        <a:p>
          <a:endParaRPr lang="en-US" sz="1800"/>
        </a:p>
      </dgm:t>
    </dgm:pt>
    <dgm:pt modelId="{5A137254-4DFB-034F-B50F-33524BDAFE6C}">
      <dgm:prSet phldrT="[Text]" custT="1"/>
      <dgm:spPr/>
      <dgm:t>
        <a:bodyPr/>
        <a:lstStyle/>
        <a:p>
          <a:r>
            <a:rPr lang="en-US" sz="1800" dirty="0"/>
            <a:t>Calculated Pair wise associations and frequences</a:t>
          </a:r>
        </a:p>
      </dgm:t>
    </dgm:pt>
    <dgm:pt modelId="{4DA852E1-1779-2048-8644-4F35207394F7}" type="parTrans" cxnId="{A81D05AD-4E0B-2E4D-A3A0-C8A60C28088C}">
      <dgm:prSet/>
      <dgm:spPr/>
      <dgm:t>
        <a:bodyPr/>
        <a:lstStyle/>
        <a:p>
          <a:endParaRPr lang="en-US" sz="1800"/>
        </a:p>
      </dgm:t>
    </dgm:pt>
    <dgm:pt modelId="{FAEF2CD0-3A4E-7B4B-BF9F-333B8D7DAC69}" type="sibTrans" cxnId="{A81D05AD-4E0B-2E4D-A3A0-C8A60C28088C}">
      <dgm:prSet/>
      <dgm:spPr/>
      <dgm:t>
        <a:bodyPr/>
        <a:lstStyle/>
        <a:p>
          <a:endParaRPr lang="en-US" sz="1800"/>
        </a:p>
      </dgm:t>
    </dgm:pt>
    <dgm:pt modelId="{77B45AE8-35AD-624E-8225-55F88B796846}">
      <dgm:prSet custT="1"/>
      <dgm:spPr/>
      <dgm:t>
        <a:bodyPr/>
        <a:lstStyle/>
        <a:p>
          <a:r>
            <a:rPr lang="en-US" sz="1800" dirty="0"/>
            <a:t>Ran Lasso Regression with Pair wise and triple interactions</a:t>
          </a:r>
        </a:p>
      </dgm:t>
    </dgm:pt>
    <dgm:pt modelId="{B35B1292-197B-C246-B283-CE720C47CEF3}" type="parTrans" cxnId="{DA6840C7-0155-734B-AD95-57BDA99072A5}">
      <dgm:prSet/>
      <dgm:spPr/>
      <dgm:t>
        <a:bodyPr/>
        <a:lstStyle/>
        <a:p>
          <a:endParaRPr lang="en-US" sz="1800"/>
        </a:p>
      </dgm:t>
    </dgm:pt>
    <dgm:pt modelId="{E3CDB764-7664-664E-822A-4DE764FDFC04}" type="sibTrans" cxnId="{DA6840C7-0155-734B-AD95-57BDA99072A5}">
      <dgm:prSet/>
      <dgm:spPr/>
      <dgm:t>
        <a:bodyPr/>
        <a:lstStyle/>
        <a:p>
          <a:endParaRPr lang="en-US" sz="1800"/>
        </a:p>
      </dgm:t>
    </dgm:pt>
    <dgm:pt modelId="{F1E7D44F-2002-2C43-B1FE-69A38F30EA65}">
      <dgm:prSet custT="1"/>
      <dgm:spPr/>
      <dgm:t>
        <a:bodyPr/>
        <a:lstStyle/>
        <a:p>
          <a:r>
            <a:rPr lang="en-US" sz="1800" dirty="0"/>
            <a:t>Built a Markov Blanket Network showing parents and child relationships</a:t>
          </a:r>
        </a:p>
      </dgm:t>
    </dgm:pt>
    <dgm:pt modelId="{3C45A6A5-4535-B649-93F9-5188520970CB}" type="parTrans" cxnId="{282FFB4E-9043-4240-9A2A-37E8ED1FBA86}">
      <dgm:prSet/>
      <dgm:spPr/>
      <dgm:t>
        <a:bodyPr/>
        <a:lstStyle/>
        <a:p>
          <a:endParaRPr lang="en-US" sz="1800"/>
        </a:p>
      </dgm:t>
    </dgm:pt>
    <dgm:pt modelId="{DC9C78B0-2EC3-1045-A1E2-11DFE14CD755}" type="sibTrans" cxnId="{282FFB4E-9043-4240-9A2A-37E8ED1FBA86}">
      <dgm:prSet/>
      <dgm:spPr/>
      <dgm:t>
        <a:bodyPr/>
        <a:lstStyle/>
        <a:p>
          <a:endParaRPr lang="en-US" sz="1800"/>
        </a:p>
      </dgm:t>
    </dgm:pt>
    <dgm:pt modelId="{D02BF2A3-EB00-FB47-B6B6-1FC3201AB907}">
      <dgm:prSet custT="1"/>
      <dgm:spPr/>
      <dgm:t>
        <a:bodyPr/>
        <a:lstStyle/>
        <a:p>
          <a:r>
            <a:rPr lang="en-US" sz="1800" dirty="0"/>
            <a:t>Implemented the DEMI algorithm to make final predictions</a:t>
          </a:r>
        </a:p>
      </dgm:t>
    </dgm:pt>
    <dgm:pt modelId="{3FFDCEF6-99F0-9B49-B2CA-E9CC5181EA18}" type="parTrans" cxnId="{2B14DF33-4EAD-C747-8C9B-6C3FEC448B4F}">
      <dgm:prSet/>
      <dgm:spPr/>
      <dgm:t>
        <a:bodyPr/>
        <a:lstStyle/>
        <a:p>
          <a:endParaRPr lang="en-US" sz="1800"/>
        </a:p>
      </dgm:t>
    </dgm:pt>
    <dgm:pt modelId="{9ACC6313-B125-8841-80E5-885BEFDD0847}" type="sibTrans" cxnId="{2B14DF33-4EAD-C747-8C9B-6C3FEC448B4F}">
      <dgm:prSet/>
      <dgm:spPr/>
      <dgm:t>
        <a:bodyPr/>
        <a:lstStyle/>
        <a:p>
          <a:endParaRPr lang="en-US" sz="1800"/>
        </a:p>
      </dgm:t>
    </dgm:pt>
    <dgm:pt modelId="{CCFE8331-0AC4-F742-BCC6-0BD9F38A638C}" type="pres">
      <dgm:prSet presAssocID="{B7E234A7-5706-B54B-BB8E-EE61464B3ED6}" presName="diagram" presStyleCnt="0">
        <dgm:presLayoutVars>
          <dgm:dir/>
          <dgm:resizeHandles val="exact"/>
        </dgm:presLayoutVars>
      </dgm:prSet>
      <dgm:spPr/>
    </dgm:pt>
    <dgm:pt modelId="{DBD9E159-4552-524B-A580-D6AE02E8DD95}" type="pres">
      <dgm:prSet presAssocID="{9647886F-BD98-9549-8EBD-8C65CF9E4356}" presName="node" presStyleLbl="node1" presStyleIdx="0" presStyleCnt="6">
        <dgm:presLayoutVars>
          <dgm:bulletEnabled val="1"/>
        </dgm:presLayoutVars>
      </dgm:prSet>
      <dgm:spPr/>
    </dgm:pt>
    <dgm:pt modelId="{7F8B9875-4D0C-4F49-A525-DA96628293F3}" type="pres">
      <dgm:prSet presAssocID="{5ECEFFBF-BAF0-3040-B2B8-F22880CD2692}" presName="sibTrans" presStyleCnt="0"/>
      <dgm:spPr/>
    </dgm:pt>
    <dgm:pt modelId="{4EE70241-ABA4-F14C-BC15-C3790401A3E9}" type="pres">
      <dgm:prSet presAssocID="{4F9CCD43-498C-D541-87F7-E455244F23B4}" presName="node" presStyleLbl="node1" presStyleIdx="1" presStyleCnt="6">
        <dgm:presLayoutVars>
          <dgm:bulletEnabled val="1"/>
        </dgm:presLayoutVars>
      </dgm:prSet>
      <dgm:spPr/>
    </dgm:pt>
    <dgm:pt modelId="{3BE9933E-E3BA-1C40-A780-3ED1B047A10F}" type="pres">
      <dgm:prSet presAssocID="{932FA2BF-FA31-EE49-8451-551C89DDD182}" presName="sibTrans" presStyleCnt="0"/>
      <dgm:spPr/>
    </dgm:pt>
    <dgm:pt modelId="{25424453-12AE-0E4D-B38A-3A26B7E8977E}" type="pres">
      <dgm:prSet presAssocID="{5A137254-4DFB-034F-B50F-33524BDAFE6C}" presName="node" presStyleLbl="node1" presStyleIdx="2" presStyleCnt="6">
        <dgm:presLayoutVars>
          <dgm:bulletEnabled val="1"/>
        </dgm:presLayoutVars>
      </dgm:prSet>
      <dgm:spPr/>
    </dgm:pt>
    <dgm:pt modelId="{B33E6639-98A6-4441-9128-E2084AE302C1}" type="pres">
      <dgm:prSet presAssocID="{FAEF2CD0-3A4E-7B4B-BF9F-333B8D7DAC69}" presName="sibTrans" presStyleCnt="0"/>
      <dgm:spPr/>
    </dgm:pt>
    <dgm:pt modelId="{E48BCB83-18BE-B047-AE3A-683161A2D6CA}" type="pres">
      <dgm:prSet presAssocID="{77B45AE8-35AD-624E-8225-55F88B796846}" presName="node" presStyleLbl="node1" presStyleIdx="3" presStyleCnt="6">
        <dgm:presLayoutVars>
          <dgm:bulletEnabled val="1"/>
        </dgm:presLayoutVars>
      </dgm:prSet>
      <dgm:spPr/>
    </dgm:pt>
    <dgm:pt modelId="{65031B01-13AF-594D-AAF9-5C918BEE619F}" type="pres">
      <dgm:prSet presAssocID="{E3CDB764-7664-664E-822A-4DE764FDFC04}" presName="sibTrans" presStyleCnt="0"/>
      <dgm:spPr/>
    </dgm:pt>
    <dgm:pt modelId="{8FF30308-7918-6F4F-8220-E5E3D0650161}" type="pres">
      <dgm:prSet presAssocID="{F1E7D44F-2002-2C43-B1FE-69A38F30EA65}" presName="node" presStyleLbl="node1" presStyleIdx="4" presStyleCnt="6">
        <dgm:presLayoutVars>
          <dgm:bulletEnabled val="1"/>
        </dgm:presLayoutVars>
      </dgm:prSet>
      <dgm:spPr/>
    </dgm:pt>
    <dgm:pt modelId="{693AD24F-8A65-A149-A4D0-AE11B09B014A}" type="pres">
      <dgm:prSet presAssocID="{DC9C78B0-2EC3-1045-A1E2-11DFE14CD755}" presName="sibTrans" presStyleCnt="0"/>
      <dgm:spPr/>
    </dgm:pt>
    <dgm:pt modelId="{B6859056-E6F3-EF42-B6BC-828FF6AA1FB0}" type="pres">
      <dgm:prSet presAssocID="{D02BF2A3-EB00-FB47-B6B6-1FC3201AB907}" presName="node" presStyleLbl="node1" presStyleIdx="5" presStyleCnt="6">
        <dgm:presLayoutVars>
          <dgm:bulletEnabled val="1"/>
        </dgm:presLayoutVars>
      </dgm:prSet>
      <dgm:spPr/>
    </dgm:pt>
  </dgm:ptLst>
  <dgm:cxnLst>
    <dgm:cxn modelId="{E104C01B-71A9-8945-BE47-19B457AFE884}" type="presOf" srcId="{D02BF2A3-EB00-FB47-B6B6-1FC3201AB907}" destId="{B6859056-E6F3-EF42-B6BC-828FF6AA1FB0}" srcOrd="0" destOrd="0" presId="urn:microsoft.com/office/officeart/2005/8/layout/default"/>
    <dgm:cxn modelId="{2B14DF33-4EAD-C747-8C9B-6C3FEC448B4F}" srcId="{B7E234A7-5706-B54B-BB8E-EE61464B3ED6}" destId="{D02BF2A3-EB00-FB47-B6B6-1FC3201AB907}" srcOrd="5" destOrd="0" parTransId="{3FFDCEF6-99F0-9B49-B2CA-E9CC5181EA18}" sibTransId="{9ACC6313-B125-8841-80E5-885BEFDD0847}"/>
    <dgm:cxn modelId="{600B0739-A416-2A42-B1C9-FDD831AF9A29}" srcId="{B7E234A7-5706-B54B-BB8E-EE61464B3ED6}" destId="{9647886F-BD98-9549-8EBD-8C65CF9E4356}" srcOrd="0" destOrd="0" parTransId="{4D4EA970-95C2-B54D-BE8A-131A0A369E20}" sibTransId="{5ECEFFBF-BAF0-3040-B2B8-F22880CD2692}"/>
    <dgm:cxn modelId="{B6E6E744-2C85-C344-848B-C3F5BDD8EF9C}" type="presOf" srcId="{5A137254-4DFB-034F-B50F-33524BDAFE6C}" destId="{25424453-12AE-0E4D-B38A-3A26B7E8977E}" srcOrd="0" destOrd="0" presId="urn:microsoft.com/office/officeart/2005/8/layout/default"/>
    <dgm:cxn modelId="{282FFB4E-9043-4240-9A2A-37E8ED1FBA86}" srcId="{B7E234A7-5706-B54B-BB8E-EE61464B3ED6}" destId="{F1E7D44F-2002-2C43-B1FE-69A38F30EA65}" srcOrd="4" destOrd="0" parTransId="{3C45A6A5-4535-B649-93F9-5188520970CB}" sibTransId="{DC9C78B0-2EC3-1045-A1E2-11DFE14CD755}"/>
    <dgm:cxn modelId="{A1A76C4F-5248-3140-9FA9-7F4982926AB6}" type="presOf" srcId="{77B45AE8-35AD-624E-8225-55F88B796846}" destId="{E48BCB83-18BE-B047-AE3A-683161A2D6CA}" srcOrd="0" destOrd="0" presId="urn:microsoft.com/office/officeart/2005/8/layout/default"/>
    <dgm:cxn modelId="{7EA0C278-D418-B344-AAFA-BB5B9A2032A1}" type="presOf" srcId="{9647886F-BD98-9549-8EBD-8C65CF9E4356}" destId="{DBD9E159-4552-524B-A580-D6AE02E8DD95}" srcOrd="0" destOrd="0" presId="urn:microsoft.com/office/officeart/2005/8/layout/default"/>
    <dgm:cxn modelId="{4B1CE786-3090-8B42-AF1C-BEAA2F4D7FDD}" srcId="{B7E234A7-5706-B54B-BB8E-EE61464B3ED6}" destId="{4F9CCD43-498C-D541-87F7-E455244F23B4}" srcOrd="1" destOrd="0" parTransId="{00C6CA40-4032-A748-B390-3DA43E03FDBC}" sibTransId="{932FA2BF-FA31-EE49-8451-551C89DDD182}"/>
    <dgm:cxn modelId="{A81D05AD-4E0B-2E4D-A3A0-C8A60C28088C}" srcId="{B7E234A7-5706-B54B-BB8E-EE61464B3ED6}" destId="{5A137254-4DFB-034F-B50F-33524BDAFE6C}" srcOrd="2" destOrd="0" parTransId="{4DA852E1-1779-2048-8644-4F35207394F7}" sibTransId="{FAEF2CD0-3A4E-7B4B-BF9F-333B8D7DAC69}"/>
    <dgm:cxn modelId="{F8029AC3-31A4-8144-A0E8-6CB9D93203ED}" type="presOf" srcId="{4F9CCD43-498C-D541-87F7-E455244F23B4}" destId="{4EE70241-ABA4-F14C-BC15-C3790401A3E9}" srcOrd="0" destOrd="0" presId="urn:microsoft.com/office/officeart/2005/8/layout/default"/>
    <dgm:cxn modelId="{DA6840C7-0155-734B-AD95-57BDA99072A5}" srcId="{B7E234A7-5706-B54B-BB8E-EE61464B3ED6}" destId="{77B45AE8-35AD-624E-8225-55F88B796846}" srcOrd="3" destOrd="0" parTransId="{B35B1292-197B-C246-B283-CE720C47CEF3}" sibTransId="{E3CDB764-7664-664E-822A-4DE764FDFC04}"/>
    <dgm:cxn modelId="{42336FCA-5306-0C42-93EF-D0CEF46F5356}" type="presOf" srcId="{B7E234A7-5706-B54B-BB8E-EE61464B3ED6}" destId="{CCFE8331-0AC4-F742-BCC6-0BD9F38A638C}" srcOrd="0" destOrd="0" presId="urn:microsoft.com/office/officeart/2005/8/layout/default"/>
    <dgm:cxn modelId="{A64FDCF9-82AC-7646-8F4D-8FDC4F8B0E0C}" type="presOf" srcId="{F1E7D44F-2002-2C43-B1FE-69A38F30EA65}" destId="{8FF30308-7918-6F4F-8220-E5E3D0650161}" srcOrd="0" destOrd="0" presId="urn:microsoft.com/office/officeart/2005/8/layout/default"/>
    <dgm:cxn modelId="{2D3B6CCF-0148-034A-97D6-2998F23804E6}" type="presParOf" srcId="{CCFE8331-0AC4-F742-BCC6-0BD9F38A638C}" destId="{DBD9E159-4552-524B-A580-D6AE02E8DD95}" srcOrd="0" destOrd="0" presId="urn:microsoft.com/office/officeart/2005/8/layout/default"/>
    <dgm:cxn modelId="{5C27CB01-C216-444C-B5A9-0D8E625DE5A3}" type="presParOf" srcId="{CCFE8331-0AC4-F742-BCC6-0BD9F38A638C}" destId="{7F8B9875-4D0C-4F49-A525-DA96628293F3}" srcOrd="1" destOrd="0" presId="urn:microsoft.com/office/officeart/2005/8/layout/default"/>
    <dgm:cxn modelId="{ACD08869-F1EF-674F-A6B5-1DFC3DCF03C4}" type="presParOf" srcId="{CCFE8331-0AC4-F742-BCC6-0BD9F38A638C}" destId="{4EE70241-ABA4-F14C-BC15-C3790401A3E9}" srcOrd="2" destOrd="0" presId="urn:microsoft.com/office/officeart/2005/8/layout/default"/>
    <dgm:cxn modelId="{7C2E07C4-8161-434C-BEB4-1B9C14239B00}" type="presParOf" srcId="{CCFE8331-0AC4-F742-BCC6-0BD9F38A638C}" destId="{3BE9933E-E3BA-1C40-A780-3ED1B047A10F}" srcOrd="3" destOrd="0" presId="urn:microsoft.com/office/officeart/2005/8/layout/default"/>
    <dgm:cxn modelId="{6461910E-1FFE-4844-850B-545056920802}" type="presParOf" srcId="{CCFE8331-0AC4-F742-BCC6-0BD9F38A638C}" destId="{25424453-12AE-0E4D-B38A-3A26B7E8977E}" srcOrd="4" destOrd="0" presId="urn:microsoft.com/office/officeart/2005/8/layout/default"/>
    <dgm:cxn modelId="{EF2AEFCD-88C3-7E4A-B603-68913D3E2C4C}" type="presParOf" srcId="{CCFE8331-0AC4-F742-BCC6-0BD9F38A638C}" destId="{B33E6639-98A6-4441-9128-E2084AE302C1}" srcOrd="5" destOrd="0" presId="urn:microsoft.com/office/officeart/2005/8/layout/default"/>
    <dgm:cxn modelId="{5E8BC371-BB8A-BA49-8D9C-78EC0DE1F3F6}" type="presParOf" srcId="{CCFE8331-0AC4-F742-BCC6-0BD9F38A638C}" destId="{E48BCB83-18BE-B047-AE3A-683161A2D6CA}" srcOrd="6" destOrd="0" presId="urn:microsoft.com/office/officeart/2005/8/layout/default"/>
    <dgm:cxn modelId="{FD625AC1-69B2-AE4C-AAF3-5A31226DA56F}" type="presParOf" srcId="{CCFE8331-0AC4-F742-BCC6-0BD9F38A638C}" destId="{65031B01-13AF-594D-AAF9-5C918BEE619F}" srcOrd="7" destOrd="0" presId="urn:microsoft.com/office/officeart/2005/8/layout/default"/>
    <dgm:cxn modelId="{CF37B27A-BB0B-5049-80AD-3D7A96CC1123}" type="presParOf" srcId="{CCFE8331-0AC4-F742-BCC6-0BD9F38A638C}" destId="{8FF30308-7918-6F4F-8220-E5E3D0650161}" srcOrd="8" destOrd="0" presId="urn:microsoft.com/office/officeart/2005/8/layout/default"/>
    <dgm:cxn modelId="{C83210BE-3BEC-F740-8D20-62F2D8B2D4E4}" type="presParOf" srcId="{CCFE8331-0AC4-F742-BCC6-0BD9F38A638C}" destId="{693AD24F-8A65-A149-A4D0-AE11B09B014A}" srcOrd="9" destOrd="0" presId="urn:microsoft.com/office/officeart/2005/8/layout/default"/>
    <dgm:cxn modelId="{B7163A7D-B07B-F345-AF38-ABA5B7DF246D}" type="presParOf" srcId="{CCFE8331-0AC4-F742-BCC6-0BD9F38A638C}" destId="{B6859056-E6F3-EF42-B6BC-828FF6AA1FB0}" srcOrd="10"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F0D6767E-A758-DC48-A9AD-FCC6A5DCDFF2}" type="doc">
      <dgm:prSet loTypeId="urn:microsoft.com/office/officeart/2005/8/layout/process1" loCatId="" qsTypeId="urn:microsoft.com/office/officeart/2005/8/quickstyle/simple1" qsCatId="simple" csTypeId="urn:microsoft.com/office/officeart/2005/8/colors/accent1_2" csCatId="accent1" phldr="1"/>
      <dgm:spPr/>
    </dgm:pt>
    <dgm:pt modelId="{7452DD2C-6777-F541-980D-ADD7F727DBCA}">
      <dgm:prSet phldrT="[Text]"/>
      <dgm:spPr/>
      <dgm:t>
        <a:bodyPr/>
        <a:lstStyle/>
        <a:p>
          <a:r>
            <a:rPr lang="en-US" dirty="0"/>
            <a:t>Tier 0</a:t>
          </a:r>
        </a:p>
        <a:p>
          <a:r>
            <a:rPr lang="en-US" dirty="0"/>
            <a:t>Demographics</a:t>
          </a:r>
        </a:p>
        <a:p>
          <a:endParaRPr lang="en-US" dirty="0"/>
        </a:p>
        <a:p>
          <a:r>
            <a:rPr lang="en-US" dirty="0"/>
            <a:t>Age, sex, race, ethnicity</a:t>
          </a:r>
        </a:p>
      </dgm:t>
    </dgm:pt>
    <dgm:pt modelId="{4506B062-C544-8842-B285-168D92AED4F7}" type="parTrans" cxnId="{6A4F4CD7-D1BE-6B45-BEA9-96B7C30EB3D3}">
      <dgm:prSet/>
      <dgm:spPr/>
      <dgm:t>
        <a:bodyPr/>
        <a:lstStyle/>
        <a:p>
          <a:endParaRPr lang="en-US"/>
        </a:p>
      </dgm:t>
    </dgm:pt>
    <dgm:pt modelId="{B6402800-A1C0-AD4D-9A76-CDF803D58E9D}" type="sibTrans" cxnId="{6A4F4CD7-D1BE-6B45-BEA9-96B7C30EB3D3}">
      <dgm:prSet/>
      <dgm:spPr/>
      <dgm:t>
        <a:bodyPr/>
        <a:lstStyle/>
        <a:p>
          <a:endParaRPr lang="en-US"/>
        </a:p>
      </dgm:t>
    </dgm:pt>
    <dgm:pt modelId="{123E301C-835A-F242-AC2E-EF1462143F33}">
      <dgm:prSet phldrT="[Text]"/>
      <dgm:spPr/>
      <dgm:t>
        <a:bodyPr/>
        <a:lstStyle/>
        <a:p>
          <a:r>
            <a:rPr lang="en-US" dirty="0"/>
            <a:t>Tier 1</a:t>
          </a:r>
        </a:p>
        <a:p>
          <a:r>
            <a:rPr lang="en-US" dirty="0"/>
            <a:t>Vaccinations</a:t>
          </a:r>
        </a:p>
        <a:p>
          <a:endParaRPr lang="en-US" dirty="0"/>
        </a:p>
        <a:p>
          <a:r>
            <a:rPr lang="en-US" dirty="0"/>
            <a:t>COVID and Flu </a:t>
          </a:r>
          <a:r>
            <a:rPr lang="en-US" dirty="0" err="1"/>
            <a:t>Vacciation</a:t>
          </a:r>
          <a:r>
            <a:rPr lang="en-US" dirty="0"/>
            <a:t> status</a:t>
          </a:r>
        </a:p>
      </dgm:t>
    </dgm:pt>
    <dgm:pt modelId="{5172CEE5-0033-D240-B68A-759E289B8BEA}" type="parTrans" cxnId="{D5A7462A-C1F4-AB41-A823-98A7EA55A283}">
      <dgm:prSet/>
      <dgm:spPr/>
      <dgm:t>
        <a:bodyPr/>
        <a:lstStyle/>
        <a:p>
          <a:endParaRPr lang="en-US"/>
        </a:p>
      </dgm:t>
    </dgm:pt>
    <dgm:pt modelId="{68FF0C99-F52E-FF40-A05F-21CE28494FDE}" type="sibTrans" cxnId="{D5A7462A-C1F4-AB41-A823-98A7EA55A283}">
      <dgm:prSet/>
      <dgm:spPr/>
      <dgm:t>
        <a:bodyPr/>
        <a:lstStyle/>
        <a:p>
          <a:endParaRPr lang="en-US"/>
        </a:p>
      </dgm:t>
    </dgm:pt>
    <dgm:pt modelId="{60C3864F-0192-6B40-A2AB-576327FDB4CE}">
      <dgm:prSet phldrT="[Text]"/>
      <dgm:spPr/>
      <dgm:t>
        <a:bodyPr/>
        <a:lstStyle/>
        <a:p>
          <a:r>
            <a:rPr lang="en-US" dirty="0"/>
            <a:t>Tier 2</a:t>
          </a:r>
        </a:p>
        <a:p>
          <a:r>
            <a:rPr lang="en-US" dirty="0"/>
            <a:t>Symptoms</a:t>
          </a:r>
        </a:p>
        <a:p>
          <a:endParaRPr lang="en-US" dirty="0"/>
        </a:p>
        <a:p>
          <a:r>
            <a:rPr lang="en-US" dirty="0"/>
            <a:t>Self-observed </a:t>
          </a:r>
          <a:r>
            <a:rPr lang="en-US" dirty="0" err="1"/>
            <a:t>symtoms</a:t>
          </a:r>
          <a:endParaRPr lang="en-US" dirty="0"/>
        </a:p>
      </dgm:t>
    </dgm:pt>
    <dgm:pt modelId="{C980BDF3-81DE-1C44-951A-3A991DD19083}" type="parTrans" cxnId="{1CA74BB1-DBF3-1149-A298-E6A98662C21D}">
      <dgm:prSet/>
      <dgm:spPr/>
      <dgm:t>
        <a:bodyPr/>
        <a:lstStyle/>
        <a:p>
          <a:endParaRPr lang="en-US"/>
        </a:p>
      </dgm:t>
    </dgm:pt>
    <dgm:pt modelId="{09FBDC73-655D-4C44-97F4-A99345E1D863}" type="sibTrans" cxnId="{1CA74BB1-DBF3-1149-A298-E6A98662C21D}">
      <dgm:prSet/>
      <dgm:spPr/>
      <dgm:t>
        <a:bodyPr/>
        <a:lstStyle/>
        <a:p>
          <a:endParaRPr lang="en-US"/>
        </a:p>
      </dgm:t>
    </dgm:pt>
    <dgm:pt modelId="{2F3F9B0F-B0D5-2544-B695-EEF5373CDDA5}">
      <dgm:prSet phldrT="[Text]"/>
      <dgm:spPr/>
      <dgm:t>
        <a:bodyPr/>
        <a:lstStyle/>
        <a:p>
          <a:r>
            <a:rPr lang="en-US" dirty="0"/>
            <a:t>Tier 3</a:t>
          </a:r>
        </a:p>
        <a:p>
          <a:r>
            <a:rPr lang="en-US" dirty="0"/>
            <a:t>At-Home Test</a:t>
          </a:r>
        </a:p>
        <a:p>
          <a:endParaRPr lang="en-US" dirty="0"/>
        </a:p>
        <a:p>
          <a:r>
            <a:rPr lang="en-US" dirty="0"/>
            <a:t>Rapid test results</a:t>
          </a:r>
        </a:p>
      </dgm:t>
    </dgm:pt>
    <dgm:pt modelId="{9D512E74-FEB8-D140-A79A-21712669B9BE}" type="parTrans" cxnId="{698E4C9B-B903-AE4E-8FEE-EEBB8A32F2ED}">
      <dgm:prSet/>
      <dgm:spPr/>
      <dgm:t>
        <a:bodyPr/>
        <a:lstStyle/>
        <a:p>
          <a:endParaRPr lang="en-US"/>
        </a:p>
      </dgm:t>
    </dgm:pt>
    <dgm:pt modelId="{3D93BD01-00E1-F543-8475-40142E6ED41B}" type="sibTrans" cxnId="{698E4C9B-B903-AE4E-8FEE-EEBB8A32F2ED}">
      <dgm:prSet/>
      <dgm:spPr/>
      <dgm:t>
        <a:bodyPr/>
        <a:lstStyle/>
        <a:p>
          <a:endParaRPr lang="en-US"/>
        </a:p>
      </dgm:t>
    </dgm:pt>
    <dgm:pt modelId="{20758412-2059-3B49-9DA4-A657BAD73186}">
      <dgm:prSet phldrT="[Text]"/>
      <dgm:spPr/>
      <dgm:t>
        <a:bodyPr/>
        <a:lstStyle/>
        <a:p>
          <a:r>
            <a:rPr lang="en-US" dirty="0"/>
            <a:t>Tier 4</a:t>
          </a:r>
        </a:p>
        <a:p>
          <a:r>
            <a:rPr lang="en-US" dirty="0"/>
            <a:t>PCR Outcome</a:t>
          </a:r>
        </a:p>
        <a:p>
          <a:r>
            <a:rPr lang="en-US" dirty="0"/>
            <a:t> </a:t>
          </a:r>
        </a:p>
        <a:p>
          <a:r>
            <a:rPr lang="en-US" dirty="0"/>
            <a:t>Lab confirmed COVID-19</a:t>
          </a:r>
        </a:p>
      </dgm:t>
    </dgm:pt>
    <dgm:pt modelId="{05B4C6AC-DD1D-8242-A7EA-08223EA94758}" type="parTrans" cxnId="{CFE148F9-50A6-BD40-8454-E1761D95BB1B}">
      <dgm:prSet/>
      <dgm:spPr/>
      <dgm:t>
        <a:bodyPr/>
        <a:lstStyle/>
        <a:p>
          <a:endParaRPr lang="en-US"/>
        </a:p>
      </dgm:t>
    </dgm:pt>
    <dgm:pt modelId="{298F7739-763D-E140-B825-BC4E7DB94B1E}" type="sibTrans" cxnId="{CFE148F9-50A6-BD40-8454-E1761D95BB1B}">
      <dgm:prSet/>
      <dgm:spPr/>
      <dgm:t>
        <a:bodyPr/>
        <a:lstStyle/>
        <a:p>
          <a:endParaRPr lang="en-US"/>
        </a:p>
      </dgm:t>
    </dgm:pt>
    <dgm:pt modelId="{8538318B-FC1C-DC43-9D0E-00E56A0211D0}" type="pres">
      <dgm:prSet presAssocID="{F0D6767E-A758-DC48-A9AD-FCC6A5DCDFF2}" presName="Name0" presStyleCnt="0">
        <dgm:presLayoutVars>
          <dgm:dir/>
          <dgm:resizeHandles val="exact"/>
        </dgm:presLayoutVars>
      </dgm:prSet>
      <dgm:spPr/>
    </dgm:pt>
    <dgm:pt modelId="{8D0CE68B-5374-7448-B021-E79E04D57280}" type="pres">
      <dgm:prSet presAssocID="{7452DD2C-6777-F541-980D-ADD7F727DBCA}" presName="node" presStyleLbl="node1" presStyleIdx="0" presStyleCnt="5">
        <dgm:presLayoutVars>
          <dgm:bulletEnabled val="1"/>
        </dgm:presLayoutVars>
      </dgm:prSet>
      <dgm:spPr/>
    </dgm:pt>
    <dgm:pt modelId="{C65B7FDE-0F95-AD40-97A7-6ADC3DF56A16}" type="pres">
      <dgm:prSet presAssocID="{B6402800-A1C0-AD4D-9A76-CDF803D58E9D}" presName="sibTrans" presStyleLbl="sibTrans2D1" presStyleIdx="0" presStyleCnt="4"/>
      <dgm:spPr/>
    </dgm:pt>
    <dgm:pt modelId="{3D444E6F-1ABD-E942-B0B5-10A13384246D}" type="pres">
      <dgm:prSet presAssocID="{B6402800-A1C0-AD4D-9A76-CDF803D58E9D}" presName="connectorText" presStyleLbl="sibTrans2D1" presStyleIdx="0" presStyleCnt="4"/>
      <dgm:spPr/>
    </dgm:pt>
    <dgm:pt modelId="{FDC9252B-E006-F74A-9A15-CFD749C51F97}" type="pres">
      <dgm:prSet presAssocID="{123E301C-835A-F242-AC2E-EF1462143F33}" presName="node" presStyleLbl="node1" presStyleIdx="1" presStyleCnt="5">
        <dgm:presLayoutVars>
          <dgm:bulletEnabled val="1"/>
        </dgm:presLayoutVars>
      </dgm:prSet>
      <dgm:spPr/>
    </dgm:pt>
    <dgm:pt modelId="{C6DECFA0-A37D-7F4D-94E1-3313E666E2E4}" type="pres">
      <dgm:prSet presAssocID="{68FF0C99-F52E-FF40-A05F-21CE28494FDE}" presName="sibTrans" presStyleLbl="sibTrans2D1" presStyleIdx="1" presStyleCnt="4"/>
      <dgm:spPr/>
    </dgm:pt>
    <dgm:pt modelId="{606497F6-DAEA-0D43-AA7F-C6814052B6FE}" type="pres">
      <dgm:prSet presAssocID="{68FF0C99-F52E-FF40-A05F-21CE28494FDE}" presName="connectorText" presStyleLbl="sibTrans2D1" presStyleIdx="1" presStyleCnt="4"/>
      <dgm:spPr/>
    </dgm:pt>
    <dgm:pt modelId="{33034828-CF5C-4B4D-A9F8-07D01E1BFC07}" type="pres">
      <dgm:prSet presAssocID="{60C3864F-0192-6B40-A2AB-576327FDB4CE}" presName="node" presStyleLbl="node1" presStyleIdx="2" presStyleCnt="5">
        <dgm:presLayoutVars>
          <dgm:bulletEnabled val="1"/>
        </dgm:presLayoutVars>
      </dgm:prSet>
      <dgm:spPr/>
    </dgm:pt>
    <dgm:pt modelId="{71AF1EDD-1A25-5E4B-8E78-C128B8ED8FDE}" type="pres">
      <dgm:prSet presAssocID="{09FBDC73-655D-4C44-97F4-A99345E1D863}" presName="sibTrans" presStyleLbl="sibTrans2D1" presStyleIdx="2" presStyleCnt="4"/>
      <dgm:spPr/>
    </dgm:pt>
    <dgm:pt modelId="{34F00D45-A0FA-4540-AF20-ED5031110088}" type="pres">
      <dgm:prSet presAssocID="{09FBDC73-655D-4C44-97F4-A99345E1D863}" presName="connectorText" presStyleLbl="sibTrans2D1" presStyleIdx="2" presStyleCnt="4"/>
      <dgm:spPr/>
    </dgm:pt>
    <dgm:pt modelId="{FDAE7416-CAA7-274F-AF64-DBA052030B65}" type="pres">
      <dgm:prSet presAssocID="{2F3F9B0F-B0D5-2544-B695-EEF5373CDDA5}" presName="node" presStyleLbl="node1" presStyleIdx="3" presStyleCnt="5">
        <dgm:presLayoutVars>
          <dgm:bulletEnabled val="1"/>
        </dgm:presLayoutVars>
      </dgm:prSet>
      <dgm:spPr/>
    </dgm:pt>
    <dgm:pt modelId="{7BD9BC8F-9D86-9341-851B-1067571E2CC3}" type="pres">
      <dgm:prSet presAssocID="{3D93BD01-00E1-F543-8475-40142E6ED41B}" presName="sibTrans" presStyleLbl="sibTrans2D1" presStyleIdx="3" presStyleCnt="4"/>
      <dgm:spPr/>
    </dgm:pt>
    <dgm:pt modelId="{443EFFFC-6828-D24E-900A-F1CAA0E2B974}" type="pres">
      <dgm:prSet presAssocID="{3D93BD01-00E1-F543-8475-40142E6ED41B}" presName="connectorText" presStyleLbl="sibTrans2D1" presStyleIdx="3" presStyleCnt="4"/>
      <dgm:spPr/>
    </dgm:pt>
    <dgm:pt modelId="{215AD6BF-49BA-5A49-A974-2600101620E1}" type="pres">
      <dgm:prSet presAssocID="{20758412-2059-3B49-9DA4-A657BAD73186}" presName="node" presStyleLbl="node1" presStyleIdx="4" presStyleCnt="5">
        <dgm:presLayoutVars>
          <dgm:bulletEnabled val="1"/>
        </dgm:presLayoutVars>
      </dgm:prSet>
      <dgm:spPr/>
    </dgm:pt>
  </dgm:ptLst>
  <dgm:cxnLst>
    <dgm:cxn modelId="{536FB01E-4B51-2846-9BFE-4C0353619561}" type="presOf" srcId="{68FF0C99-F52E-FF40-A05F-21CE28494FDE}" destId="{C6DECFA0-A37D-7F4D-94E1-3313E666E2E4}" srcOrd="0" destOrd="0" presId="urn:microsoft.com/office/officeart/2005/8/layout/process1"/>
    <dgm:cxn modelId="{D5A7462A-C1F4-AB41-A823-98A7EA55A283}" srcId="{F0D6767E-A758-DC48-A9AD-FCC6A5DCDFF2}" destId="{123E301C-835A-F242-AC2E-EF1462143F33}" srcOrd="1" destOrd="0" parTransId="{5172CEE5-0033-D240-B68A-759E289B8BEA}" sibTransId="{68FF0C99-F52E-FF40-A05F-21CE28494FDE}"/>
    <dgm:cxn modelId="{76BAEB42-94A8-FB4E-BB58-D22A577BB8CD}" type="presOf" srcId="{68FF0C99-F52E-FF40-A05F-21CE28494FDE}" destId="{606497F6-DAEA-0D43-AA7F-C6814052B6FE}" srcOrd="1" destOrd="0" presId="urn:microsoft.com/office/officeart/2005/8/layout/process1"/>
    <dgm:cxn modelId="{4C24F162-1F16-474A-80E6-17EE6F09A736}" type="presOf" srcId="{2F3F9B0F-B0D5-2544-B695-EEF5373CDDA5}" destId="{FDAE7416-CAA7-274F-AF64-DBA052030B65}" srcOrd="0" destOrd="0" presId="urn:microsoft.com/office/officeart/2005/8/layout/process1"/>
    <dgm:cxn modelId="{92A01D66-0E36-7E4D-BFC6-85E6F8B716F7}" type="presOf" srcId="{3D93BD01-00E1-F543-8475-40142E6ED41B}" destId="{7BD9BC8F-9D86-9341-851B-1067571E2CC3}" srcOrd="0" destOrd="0" presId="urn:microsoft.com/office/officeart/2005/8/layout/process1"/>
    <dgm:cxn modelId="{C772A772-76D5-A940-A88D-E6850665161D}" type="presOf" srcId="{B6402800-A1C0-AD4D-9A76-CDF803D58E9D}" destId="{C65B7FDE-0F95-AD40-97A7-6ADC3DF56A16}" srcOrd="0" destOrd="0" presId="urn:microsoft.com/office/officeart/2005/8/layout/process1"/>
    <dgm:cxn modelId="{A48E9A7A-3D0A-B44B-859C-AFC09BEA2E6F}" type="presOf" srcId="{123E301C-835A-F242-AC2E-EF1462143F33}" destId="{FDC9252B-E006-F74A-9A15-CFD749C51F97}" srcOrd="0" destOrd="0" presId="urn:microsoft.com/office/officeart/2005/8/layout/process1"/>
    <dgm:cxn modelId="{698E4C9B-B903-AE4E-8FEE-EEBB8A32F2ED}" srcId="{F0D6767E-A758-DC48-A9AD-FCC6A5DCDFF2}" destId="{2F3F9B0F-B0D5-2544-B695-EEF5373CDDA5}" srcOrd="3" destOrd="0" parTransId="{9D512E74-FEB8-D140-A79A-21712669B9BE}" sibTransId="{3D93BD01-00E1-F543-8475-40142E6ED41B}"/>
    <dgm:cxn modelId="{9FCD4AA7-9D83-7143-B187-0C2D0F6506F1}" type="presOf" srcId="{09FBDC73-655D-4C44-97F4-A99345E1D863}" destId="{34F00D45-A0FA-4540-AF20-ED5031110088}" srcOrd="1" destOrd="0" presId="urn:microsoft.com/office/officeart/2005/8/layout/process1"/>
    <dgm:cxn modelId="{4EAC5FAC-95E3-6744-8F7B-636D9FA93B66}" type="presOf" srcId="{7452DD2C-6777-F541-980D-ADD7F727DBCA}" destId="{8D0CE68B-5374-7448-B021-E79E04D57280}" srcOrd="0" destOrd="0" presId="urn:microsoft.com/office/officeart/2005/8/layout/process1"/>
    <dgm:cxn modelId="{1CA74BB1-DBF3-1149-A298-E6A98662C21D}" srcId="{F0D6767E-A758-DC48-A9AD-FCC6A5DCDFF2}" destId="{60C3864F-0192-6B40-A2AB-576327FDB4CE}" srcOrd="2" destOrd="0" parTransId="{C980BDF3-81DE-1C44-951A-3A991DD19083}" sibTransId="{09FBDC73-655D-4C44-97F4-A99345E1D863}"/>
    <dgm:cxn modelId="{3A4A9EB1-F428-7F4A-BD39-D3019EEBAF3B}" type="presOf" srcId="{60C3864F-0192-6B40-A2AB-576327FDB4CE}" destId="{33034828-CF5C-4B4D-A9F8-07D01E1BFC07}" srcOrd="0" destOrd="0" presId="urn:microsoft.com/office/officeart/2005/8/layout/process1"/>
    <dgm:cxn modelId="{5B5B9DD4-825A-564E-BEC9-4B1A7E437D0A}" type="presOf" srcId="{F0D6767E-A758-DC48-A9AD-FCC6A5DCDFF2}" destId="{8538318B-FC1C-DC43-9D0E-00E56A0211D0}" srcOrd="0" destOrd="0" presId="urn:microsoft.com/office/officeart/2005/8/layout/process1"/>
    <dgm:cxn modelId="{D963A5D5-6A1A-D949-BD23-3123398D1028}" type="presOf" srcId="{B6402800-A1C0-AD4D-9A76-CDF803D58E9D}" destId="{3D444E6F-1ABD-E942-B0B5-10A13384246D}" srcOrd="1" destOrd="0" presId="urn:microsoft.com/office/officeart/2005/8/layout/process1"/>
    <dgm:cxn modelId="{6A4F4CD7-D1BE-6B45-BEA9-96B7C30EB3D3}" srcId="{F0D6767E-A758-DC48-A9AD-FCC6A5DCDFF2}" destId="{7452DD2C-6777-F541-980D-ADD7F727DBCA}" srcOrd="0" destOrd="0" parTransId="{4506B062-C544-8842-B285-168D92AED4F7}" sibTransId="{B6402800-A1C0-AD4D-9A76-CDF803D58E9D}"/>
    <dgm:cxn modelId="{70677FD8-9959-AD41-A80F-BDF09C5794B0}" type="presOf" srcId="{20758412-2059-3B49-9DA4-A657BAD73186}" destId="{215AD6BF-49BA-5A49-A974-2600101620E1}" srcOrd="0" destOrd="0" presId="urn:microsoft.com/office/officeart/2005/8/layout/process1"/>
    <dgm:cxn modelId="{CD8C52E6-955E-5149-A7DD-00C69122F6C8}" type="presOf" srcId="{09FBDC73-655D-4C44-97F4-A99345E1D863}" destId="{71AF1EDD-1A25-5E4B-8E78-C128B8ED8FDE}" srcOrd="0" destOrd="0" presId="urn:microsoft.com/office/officeart/2005/8/layout/process1"/>
    <dgm:cxn modelId="{642FF2F3-4141-9040-B33D-50D975506C8B}" type="presOf" srcId="{3D93BD01-00E1-F543-8475-40142E6ED41B}" destId="{443EFFFC-6828-D24E-900A-F1CAA0E2B974}" srcOrd="1" destOrd="0" presId="urn:microsoft.com/office/officeart/2005/8/layout/process1"/>
    <dgm:cxn modelId="{CFE148F9-50A6-BD40-8454-E1761D95BB1B}" srcId="{F0D6767E-A758-DC48-A9AD-FCC6A5DCDFF2}" destId="{20758412-2059-3B49-9DA4-A657BAD73186}" srcOrd="4" destOrd="0" parTransId="{05B4C6AC-DD1D-8242-A7EA-08223EA94758}" sibTransId="{298F7739-763D-E140-B825-BC4E7DB94B1E}"/>
    <dgm:cxn modelId="{AD87A009-B96B-1C44-93F6-4197533AE9AC}" type="presParOf" srcId="{8538318B-FC1C-DC43-9D0E-00E56A0211D0}" destId="{8D0CE68B-5374-7448-B021-E79E04D57280}" srcOrd="0" destOrd="0" presId="urn:microsoft.com/office/officeart/2005/8/layout/process1"/>
    <dgm:cxn modelId="{60EBDFB6-378B-5E49-9FEA-2ACCF46E8CFE}" type="presParOf" srcId="{8538318B-FC1C-DC43-9D0E-00E56A0211D0}" destId="{C65B7FDE-0F95-AD40-97A7-6ADC3DF56A16}" srcOrd="1" destOrd="0" presId="urn:microsoft.com/office/officeart/2005/8/layout/process1"/>
    <dgm:cxn modelId="{154E8657-E139-2A4E-A6F1-288400F9C7C4}" type="presParOf" srcId="{C65B7FDE-0F95-AD40-97A7-6ADC3DF56A16}" destId="{3D444E6F-1ABD-E942-B0B5-10A13384246D}" srcOrd="0" destOrd="0" presId="urn:microsoft.com/office/officeart/2005/8/layout/process1"/>
    <dgm:cxn modelId="{90229B1D-D6D6-CA4B-B144-7C4A4AFEF989}" type="presParOf" srcId="{8538318B-FC1C-DC43-9D0E-00E56A0211D0}" destId="{FDC9252B-E006-F74A-9A15-CFD749C51F97}" srcOrd="2" destOrd="0" presId="urn:microsoft.com/office/officeart/2005/8/layout/process1"/>
    <dgm:cxn modelId="{370FDA86-FB62-A147-BDD5-9DAB3786F7DF}" type="presParOf" srcId="{8538318B-FC1C-DC43-9D0E-00E56A0211D0}" destId="{C6DECFA0-A37D-7F4D-94E1-3313E666E2E4}" srcOrd="3" destOrd="0" presId="urn:microsoft.com/office/officeart/2005/8/layout/process1"/>
    <dgm:cxn modelId="{BBFAA9B2-A627-134D-81FF-2CA40FB0FEA3}" type="presParOf" srcId="{C6DECFA0-A37D-7F4D-94E1-3313E666E2E4}" destId="{606497F6-DAEA-0D43-AA7F-C6814052B6FE}" srcOrd="0" destOrd="0" presId="urn:microsoft.com/office/officeart/2005/8/layout/process1"/>
    <dgm:cxn modelId="{B13F33A0-9440-CE4D-90FC-61EBB71DE18F}" type="presParOf" srcId="{8538318B-FC1C-DC43-9D0E-00E56A0211D0}" destId="{33034828-CF5C-4B4D-A9F8-07D01E1BFC07}" srcOrd="4" destOrd="0" presId="urn:microsoft.com/office/officeart/2005/8/layout/process1"/>
    <dgm:cxn modelId="{67D09FC7-EE84-F34D-93EC-2DDBBF6E1468}" type="presParOf" srcId="{8538318B-FC1C-DC43-9D0E-00E56A0211D0}" destId="{71AF1EDD-1A25-5E4B-8E78-C128B8ED8FDE}" srcOrd="5" destOrd="0" presId="urn:microsoft.com/office/officeart/2005/8/layout/process1"/>
    <dgm:cxn modelId="{0E87AC8C-974F-3C4F-8089-DBC0DE270C0B}" type="presParOf" srcId="{71AF1EDD-1A25-5E4B-8E78-C128B8ED8FDE}" destId="{34F00D45-A0FA-4540-AF20-ED5031110088}" srcOrd="0" destOrd="0" presId="urn:microsoft.com/office/officeart/2005/8/layout/process1"/>
    <dgm:cxn modelId="{0B4C0499-0389-9B42-A2A8-A05680D28D74}" type="presParOf" srcId="{8538318B-FC1C-DC43-9D0E-00E56A0211D0}" destId="{FDAE7416-CAA7-274F-AF64-DBA052030B65}" srcOrd="6" destOrd="0" presId="urn:microsoft.com/office/officeart/2005/8/layout/process1"/>
    <dgm:cxn modelId="{11FBEEED-58C6-B249-A961-42033F234604}" type="presParOf" srcId="{8538318B-FC1C-DC43-9D0E-00E56A0211D0}" destId="{7BD9BC8F-9D86-9341-851B-1067571E2CC3}" srcOrd="7" destOrd="0" presId="urn:microsoft.com/office/officeart/2005/8/layout/process1"/>
    <dgm:cxn modelId="{3E89B4D3-AF6E-F049-9EBC-FEA13DB68B7B}" type="presParOf" srcId="{7BD9BC8F-9D86-9341-851B-1067571E2CC3}" destId="{443EFFFC-6828-D24E-900A-F1CAA0E2B974}" srcOrd="0" destOrd="0" presId="urn:microsoft.com/office/officeart/2005/8/layout/process1"/>
    <dgm:cxn modelId="{F687D68F-961C-044D-AF79-9D666B7F5EE5}" type="presParOf" srcId="{8538318B-FC1C-DC43-9D0E-00E56A0211D0}" destId="{215AD6BF-49BA-5A49-A974-2600101620E1}" srcOrd="8" destOrd="0" presId="urn:microsoft.com/office/officeart/2005/8/layout/process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92AF6EB9-4561-47A3-BC11-3BBF94DFEEA1}" type="doc">
      <dgm:prSet loTypeId="urn:microsoft.com/office/officeart/2018/5/layout/IconCircleLabelList" loCatId="icon" qsTypeId="urn:microsoft.com/office/officeart/2005/8/quickstyle/simple1" qsCatId="simple" csTypeId="urn:microsoft.com/office/officeart/2018/5/colors/Iconchunking_neutralicon_colorful1" csCatId="colorful" phldr="1"/>
      <dgm:spPr/>
      <dgm:t>
        <a:bodyPr/>
        <a:lstStyle/>
        <a:p>
          <a:endParaRPr lang="en-US"/>
        </a:p>
      </dgm:t>
    </dgm:pt>
    <dgm:pt modelId="{717E3B7C-85FB-461A-A0BD-5D15C2879863}">
      <dgm:prSet/>
      <dgm:spPr/>
      <dgm:t>
        <a:bodyPr/>
        <a:lstStyle/>
        <a:p>
          <a:pPr>
            <a:defRPr cap="all"/>
          </a:pPr>
          <a:r>
            <a:rPr lang="en-US"/>
            <a:t>Potential benefits:</a:t>
          </a:r>
        </a:p>
      </dgm:t>
    </dgm:pt>
    <dgm:pt modelId="{E61C7ECC-8D27-41FB-BDD1-CD406010F4E5}" type="parTrans" cxnId="{1AD699EA-45EC-454E-B6F5-86E98EC8642D}">
      <dgm:prSet/>
      <dgm:spPr/>
      <dgm:t>
        <a:bodyPr/>
        <a:lstStyle/>
        <a:p>
          <a:endParaRPr lang="en-US"/>
        </a:p>
      </dgm:t>
    </dgm:pt>
    <dgm:pt modelId="{8F9E6DBE-DB90-4BD4-94E2-E32AC0B7210A}" type="sibTrans" cxnId="{1AD699EA-45EC-454E-B6F5-86E98EC8642D}">
      <dgm:prSet/>
      <dgm:spPr/>
      <dgm:t>
        <a:bodyPr/>
        <a:lstStyle/>
        <a:p>
          <a:endParaRPr lang="en-US"/>
        </a:p>
      </dgm:t>
    </dgm:pt>
    <dgm:pt modelId="{5731AFAF-BCC2-4786-94CC-60561EAA5761}">
      <dgm:prSet/>
      <dgm:spPr/>
      <dgm:t>
        <a:bodyPr/>
        <a:lstStyle/>
        <a:p>
          <a:pPr>
            <a:defRPr cap="all"/>
          </a:pPr>
          <a:r>
            <a:rPr lang="en-US" dirty="0"/>
            <a:t>•Earlier COVID screening</a:t>
          </a:r>
        </a:p>
      </dgm:t>
    </dgm:pt>
    <dgm:pt modelId="{6C53DD95-952D-4B01-879D-B7969D80A931}" type="parTrans" cxnId="{8C053064-9781-47CC-A93E-072EFDEF7087}">
      <dgm:prSet/>
      <dgm:spPr/>
      <dgm:t>
        <a:bodyPr/>
        <a:lstStyle/>
        <a:p>
          <a:endParaRPr lang="en-US"/>
        </a:p>
      </dgm:t>
    </dgm:pt>
    <dgm:pt modelId="{CAAF9717-AB28-495F-8DD1-46CB890EDA1E}" type="sibTrans" cxnId="{8C053064-9781-47CC-A93E-072EFDEF7087}">
      <dgm:prSet/>
      <dgm:spPr/>
      <dgm:t>
        <a:bodyPr/>
        <a:lstStyle/>
        <a:p>
          <a:endParaRPr lang="en-US"/>
        </a:p>
      </dgm:t>
    </dgm:pt>
    <dgm:pt modelId="{6507C0BA-41BA-45AC-9CC5-AAA4AD64A3DC}">
      <dgm:prSet/>
      <dgm:spPr/>
      <dgm:t>
        <a:bodyPr/>
        <a:lstStyle/>
        <a:p>
          <a:pPr>
            <a:defRPr cap="all"/>
          </a:pPr>
          <a:r>
            <a:rPr lang="en-US" dirty="0"/>
            <a:t>Reduced unnecessary ER visits</a:t>
          </a:r>
        </a:p>
      </dgm:t>
    </dgm:pt>
    <dgm:pt modelId="{3051949D-A0E5-4CF6-B6F5-D7DACA4936F5}" type="parTrans" cxnId="{14867F6F-EAF0-4E50-921B-735AFFB41ABA}">
      <dgm:prSet/>
      <dgm:spPr/>
      <dgm:t>
        <a:bodyPr/>
        <a:lstStyle/>
        <a:p>
          <a:endParaRPr lang="en-US"/>
        </a:p>
      </dgm:t>
    </dgm:pt>
    <dgm:pt modelId="{67E048B3-2E31-4561-84A9-CAAEE6C9B657}" type="sibTrans" cxnId="{14867F6F-EAF0-4E50-921B-735AFFB41ABA}">
      <dgm:prSet/>
      <dgm:spPr/>
      <dgm:t>
        <a:bodyPr/>
        <a:lstStyle/>
        <a:p>
          <a:endParaRPr lang="en-US"/>
        </a:p>
      </dgm:t>
    </dgm:pt>
    <dgm:pt modelId="{F60358ED-8A87-46BD-AF61-3DFBCE8E08BB}">
      <dgm:prSet/>
      <dgm:spPr/>
      <dgm:t>
        <a:bodyPr/>
        <a:lstStyle/>
        <a:p>
          <a:pPr>
            <a:defRPr cap="all"/>
          </a:pPr>
          <a:r>
            <a:rPr lang="en-US" dirty="0"/>
            <a:t>Better pre-clinical triage</a:t>
          </a:r>
        </a:p>
      </dgm:t>
    </dgm:pt>
    <dgm:pt modelId="{21564A83-5E98-47A8-83EF-5B66774B4376}" type="parTrans" cxnId="{8E254F15-C565-4D9E-B980-112CEC1E4D54}">
      <dgm:prSet/>
      <dgm:spPr/>
      <dgm:t>
        <a:bodyPr/>
        <a:lstStyle/>
        <a:p>
          <a:endParaRPr lang="en-US"/>
        </a:p>
      </dgm:t>
    </dgm:pt>
    <dgm:pt modelId="{996ABB57-21F9-45B6-9127-BD2F3C7AB292}" type="sibTrans" cxnId="{8E254F15-C565-4D9E-B980-112CEC1E4D54}">
      <dgm:prSet/>
      <dgm:spPr/>
      <dgm:t>
        <a:bodyPr/>
        <a:lstStyle/>
        <a:p>
          <a:endParaRPr lang="en-US"/>
        </a:p>
      </dgm:t>
    </dgm:pt>
    <dgm:pt modelId="{4229B046-C463-4D97-B833-5FF51B84B10C}">
      <dgm:prSet/>
      <dgm:spPr/>
      <dgm:t>
        <a:bodyPr/>
        <a:lstStyle/>
        <a:p>
          <a:pPr>
            <a:defRPr cap="all"/>
          </a:pPr>
          <a:r>
            <a:rPr lang="en-US" dirty="0"/>
            <a:t>Transparent AI recommendations</a:t>
          </a:r>
        </a:p>
      </dgm:t>
    </dgm:pt>
    <dgm:pt modelId="{C9B95CF2-22F1-4875-BE81-AB4BC177847D}" type="parTrans" cxnId="{125DDC54-135A-4979-88D1-6498623B749C}">
      <dgm:prSet/>
      <dgm:spPr/>
      <dgm:t>
        <a:bodyPr/>
        <a:lstStyle/>
        <a:p>
          <a:endParaRPr lang="en-US"/>
        </a:p>
      </dgm:t>
    </dgm:pt>
    <dgm:pt modelId="{4CFD652E-46EA-41E9-8571-6F89FC2DF385}" type="sibTrans" cxnId="{125DDC54-135A-4979-88D1-6498623B749C}">
      <dgm:prSet/>
      <dgm:spPr/>
      <dgm:t>
        <a:bodyPr/>
        <a:lstStyle/>
        <a:p>
          <a:endParaRPr lang="en-US"/>
        </a:p>
      </dgm:t>
    </dgm:pt>
    <dgm:pt modelId="{AA753FB5-E36B-413B-AB8F-80CA1ACBF478}">
      <dgm:prSet/>
      <dgm:spPr/>
      <dgm:t>
        <a:bodyPr/>
        <a:lstStyle/>
        <a:p>
          <a:pPr>
            <a:defRPr cap="all"/>
          </a:pPr>
          <a:r>
            <a:rPr lang="en-US" dirty="0"/>
            <a:t>Supports telehealth screening</a:t>
          </a:r>
        </a:p>
      </dgm:t>
    </dgm:pt>
    <dgm:pt modelId="{FF2B3ED5-9658-4631-9084-19B8F50F128A}" type="parTrans" cxnId="{5A245D19-B9A0-4051-8835-4459BABF0C47}">
      <dgm:prSet/>
      <dgm:spPr/>
      <dgm:t>
        <a:bodyPr/>
        <a:lstStyle/>
        <a:p>
          <a:endParaRPr lang="en-US"/>
        </a:p>
      </dgm:t>
    </dgm:pt>
    <dgm:pt modelId="{71204A1E-799B-40D0-A63B-3A5CB127A573}" type="sibTrans" cxnId="{5A245D19-B9A0-4051-8835-4459BABF0C47}">
      <dgm:prSet/>
      <dgm:spPr/>
      <dgm:t>
        <a:bodyPr/>
        <a:lstStyle/>
        <a:p>
          <a:endParaRPr lang="en-US"/>
        </a:p>
      </dgm:t>
    </dgm:pt>
    <dgm:pt modelId="{CD6DF145-5D34-419A-9E5B-54C8B858FED3}">
      <dgm:prSet/>
      <dgm:spPr/>
      <dgm:t>
        <a:bodyPr/>
        <a:lstStyle/>
        <a:p>
          <a:pPr>
            <a:defRPr cap="all"/>
          </a:pPr>
          <a:r>
            <a:rPr lang="en-US" dirty="0"/>
            <a:t>Improved testing decisions</a:t>
          </a:r>
        </a:p>
      </dgm:t>
    </dgm:pt>
    <dgm:pt modelId="{8047BEE8-9940-434D-9233-09CEBC0314E8}" type="sibTrans" cxnId="{5738ECF5-87E1-409E-AAAF-80D29A8759AC}">
      <dgm:prSet/>
      <dgm:spPr/>
      <dgm:t>
        <a:bodyPr/>
        <a:lstStyle/>
        <a:p>
          <a:endParaRPr lang="en-US"/>
        </a:p>
      </dgm:t>
    </dgm:pt>
    <dgm:pt modelId="{490879B5-D7EB-4484-9C11-AACA1B5679BC}" type="parTrans" cxnId="{5738ECF5-87E1-409E-AAAF-80D29A8759AC}">
      <dgm:prSet/>
      <dgm:spPr/>
      <dgm:t>
        <a:bodyPr/>
        <a:lstStyle/>
        <a:p>
          <a:endParaRPr lang="en-US"/>
        </a:p>
      </dgm:t>
    </dgm:pt>
    <dgm:pt modelId="{8CE808E3-763B-4888-8FE3-88BA6BA0A57C}" type="pres">
      <dgm:prSet presAssocID="{92AF6EB9-4561-47A3-BC11-3BBF94DFEEA1}" presName="root" presStyleCnt="0">
        <dgm:presLayoutVars>
          <dgm:dir/>
          <dgm:resizeHandles val="exact"/>
        </dgm:presLayoutVars>
      </dgm:prSet>
      <dgm:spPr/>
    </dgm:pt>
    <dgm:pt modelId="{A0D6402C-317B-42A8-AADC-2776923EC3F5}" type="pres">
      <dgm:prSet presAssocID="{717E3B7C-85FB-461A-A0BD-5D15C2879863}" presName="compNode" presStyleCnt="0"/>
      <dgm:spPr/>
    </dgm:pt>
    <dgm:pt modelId="{E9D7138B-8B00-427E-BBCD-A9DFF32B5BB7}" type="pres">
      <dgm:prSet presAssocID="{717E3B7C-85FB-461A-A0BD-5D15C2879863}" presName="iconBgRect" presStyleLbl="bgShp" presStyleIdx="0" presStyleCnt="7"/>
      <dgm:spPr/>
    </dgm:pt>
    <dgm:pt modelId="{C58BD5B0-A08F-48D3-95E8-F1BD0965F891}" type="pres">
      <dgm:prSet presAssocID="{717E3B7C-85FB-461A-A0BD-5D15C2879863}" presName="iconRect" presStyleLbl="node1" presStyleIdx="0" presStyleCnt="7"/>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Upward trend"/>
        </a:ext>
      </dgm:extLst>
    </dgm:pt>
    <dgm:pt modelId="{ACE546D9-3A5B-47D2-AC96-BC8FE91D2362}" type="pres">
      <dgm:prSet presAssocID="{717E3B7C-85FB-461A-A0BD-5D15C2879863}" presName="spaceRect" presStyleCnt="0"/>
      <dgm:spPr/>
    </dgm:pt>
    <dgm:pt modelId="{E0AD6420-A247-44F6-9985-D6FBF39D6481}" type="pres">
      <dgm:prSet presAssocID="{717E3B7C-85FB-461A-A0BD-5D15C2879863}" presName="textRect" presStyleLbl="revTx" presStyleIdx="0" presStyleCnt="7">
        <dgm:presLayoutVars>
          <dgm:chMax val="1"/>
          <dgm:chPref val="1"/>
        </dgm:presLayoutVars>
      </dgm:prSet>
      <dgm:spPr/>
    </dgm:pt>
    <dgm:pt modelId="{34014A11-F900-4DF3-9478-C951BE673154}" type="pres">
      <dgm:prSet presAssocID="{8F9E6DBE-DB90-4BD4-94E2-E32AC0B7210A}" presName="sibTrans" presStyleCnt="0"/>
      <dgm:spPr/>
    </dgm:pt>
    <dgm:pt modelId="{6511B854-FF2E-4868-9875-8FBB8A25EC61}" type="pres">
      <dgm:prSet presAssocID="{5731AFAF-BCC2-4786-94CC-60561EAA5761}" presName="compNode" presStyleCnt="0"/>
      <dgm:spPr/>
    </dgm:pt>
    <dgm:pt modelId="{AFB06A49-74C1-4118-8D67-E69DCD6C9F0F}" type="pres">
      <dgm:prSet presAssocID="{5731AFAF-BCC2-4786-94CC-60561EAA5761}" presName="iconBgRect" presStyleLbl="bgShp" presStyleIdx="1" presStyleCnt="7"/>
      <dgm:spPr/>
    </dgm:pt>
    <dgm:pt modelId="{2B7A2953-F523-45FB-B0BF-637725E63020}" type="pres">
      <dgm:prSet presAssocID="{5731AFAF-BCC2-4786-94CC-60561EAA5761}" presName="iconRect" presStyleLbl="node1" presStyleIdx="1" presStyleCnt="7"/>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heckmark"/>
        </a:ext>
      </dgm:extLst>
    </dgm:pt>
    <dgm:pt modelId="{CEAEBA90-4B19-4AE5-BB03-47839C219B40}" type="pres">
      <dgm:prSet presAssocID="{5731AFAF-BCC2-4786-94CC-60561EAA5761}" presName="spaceRect" presStyleCnt="0"/>
      <dgm:spPr/>
    </dgm:pt>
    <dgm:pt modelId="{D50BC285-9FEC-4168-91A0-DA3D4441BA10}" type="pres">
      <dgm:prSet presAssocID="{5731AFAF-BCC2-4786-94CC-60561EAA5761}" presName="textRect" presStyleLbl="revTx" presStyleIdx="1" presStyleCnt="7">
        <dgm:presLayoutVars>
          <dgm:chMax val="1"/>
          <dgm:chPref val="1"/>
        </dgm:presLayoutVars>
      </dgm:prSet>
      <dgm:spPr/>
    </dgm:pt>
    <dgm:pt modelId="{85B0CAED-E85F-410E-9FCD-CBFC9B9F4F66}" type="pres">
      <dgm:prSet presAssocID="{CAAF9717-AB28-495F-8DD1-46CB890EDA1E}" presName="sibTrans" presStyleCnt="0"/>
      <dgm:spPr/>
    </dgm:pt>
    <dgm:pt modelId="{BD51EA83-C831-44C0-986B-29BDD7B6C0C2}" type="pres">
      <dgm:prSet presAssocID="{6507C0BA-41BA-45AC-9CC5-AAA4AD64A3DC}" presName="compNode" presStyleCnt="0"/>
      <dgm:spPr/>
    </dgm:pt>
    <dgm:pt modelId="{6F7D4767-E451-4F7B-8D34-5653F4AE6510}" type="pres">
      <dgm:prSet presAssocID="{6507C0BA-41BA-45AC-9CC5-AAA4AD64A3DC}" presName="iconBgRect" presStyleLbl="bgShp" presStyleIdx="2" presStyleCnt="7"/>
      <dgm:spPr/>
    </dgm:pt>
    <dgm:pt modelId="{91AE345F-6F1E-4E27-BF45-8C1904B82315}" type="pres">
      <dgm:prSet presAssocID="{6507C0BA-41BA-45AC-9CC5-AAA4AD64A3DC}" presName="iconRect" presStyleLbl="node1" presStyleIdx="2" presStyleCnt="7"/>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Stethoscope"/>
        </a:ext>
      </dgm:extLst>
    </dgm:pt>
    <dgm:pt modelId="{911AAA6B-E22B-4FC6-B28F-C60391228904}" type="pres">
      <dgm:prSet presAssocID="{6507C0BA-41BA-45AC-9CC5-AAA4AD64A3DC}" presName="spaceRect" presStyleCnt="0"/>
      <dgm:spPr/>
    </dgm:pt>
    <dgm:pt modelId="{9C1D89C5-3B5D-4674-996C-737D8B48A2F7}" type="pres">
      <dgm:prSet presAssocID="{6507C0BA-41BA-45AC-9CC5-AAA4AD64A3DC}" presName="textRect" presStyleLbl="revTx" presStyleIdx="2" presStyleCnt="7">
        <dgm:presLayoutVars>
          <dgm:chMax val="1"/>
          <dgm:chPref val="1"/>
        </dgm:presLayoutVars>
      </dgm:prSet>
      <dgm:spPr/>
    </dgm:pt>
    <dgm:pt modelId="{24A2B935-569F-4A86-BBD6-13D5FA979FA6}" type="pres">
      <dgm:prSet presAssocID="{67E048B3-2E31-4561-84A9-CAAEE6C9B657}" presName="sibTrans" presStyleCnt="0"/>
      <dgm:spPr/>
    </dgm:pt>
    <dgm:pt modelId="{CDF9EE12-807F-44CE-ADB1-6C379ED60590}" type="pres">
      <dgm:prSet presAssocID="{CD6DF145-5D34-419A-9E5B-54C8B858FED3}" presName="compNode" presStyleCnt="0"/>
      <dgm:spPr/>
    </dgm:pt>
    <dgm:pt modelId="{CC334E9C-67AD-48F3-8CD2-5A4A317CFD1E}" type="pres">
      <dgm:prSet presAssocID="{CD6DF145-5D34-419A-9E5B-54C8B858FED3}" presName="iconBgRect" presStyleLbl="bgShp" presStyleIdx="3" presStyleCnt="7"/>
      <dgm:spPr/>
    </dgm:pt>
    <dgm:pt modelId="{9E0AF8D2-8956-4C88-9BB6-B5005586F613}" type="pres">
      <dgm:prSet presAssocID="{CD6DF145-5D34-419A-9E5B-54C8B858FED3}" presName="iconRect" presStyleLbl="node1" presStyleIdx="3" presStyleCnt="7"/>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Head with Gears"/>
        </a:ext>
      </dgm:extLst>
    </dgm:pt>
    <dgm:pt modelId="{3A2CAA0A-CED0-4083-9835-FC362E1E2B8F}" type="pres">
      <dgm:prSet presAssocID="{CD6DF145-5D34-419A-9E5B-54C8B858FED3}" presName="spaceRect" presStyleCnt="0"/>
      <dgm:spPr/>
    </dgm:pt>
    <dgm:pt modelId="{CA38042B-A656-4BE4-A778-76C9A431347D}" type="pres">
      <dgm:prSet presAssocID="{CD6DF145-5D34-419A-9E5B-54C8B858FED3}" presName="textRect" presStyleLbl="revTx" presStyleIdx="3" presStyleCnt="7">
        <dgm:presLayoutVars>
          <dgm:chMax val="1"/>
          <dgm:chPref val="1"/>
        </dgm:presLayoutVars>
      </dgm:prSet>
      <dgm:spPr/>
    </dgm:pt>
    <dgm:pt modelId="{D4BBE777-C353-4E5E-ADED-89085DB7ECF9}" type="pres">
      <dgm:prSet presAssocID="{8047BEE8-9940-434D-9233-09CEBC0314E8}" presName="sibTrans" presStyleCnt="0"/>
      <dgm:spPr/>
    </dgm:pt>
    <dgm:pt modelId="{0DDE49E0-F982-4802-B49F-E2B7DA1DF808}" type="pres">
      <dgm:prSet presAssocID="{F60358ED-8A87-46BD-AF61-3DFBCE8E08BB}" presName="compNode" presStyleCnt="0"/>
      <dgm:spPr/>
    </dgm:pt>
    <dgm:pt modelId="{ADBE97C7-F4AA-4FF4-8252-46947DD3051C}" type="pres">
      <dgm:prSet presAssocID="{F60358ED-8A87-46BD-AF61-3DFBCE8E08BB}" presName="iconBgRect" presStyleLbl="bgShp" presStyleIdx="4" presStyleCnt="7"/>
      <dgm:spPr/>
    </dgm:pt>
    <dgm:pt modelId="{50DD6B0B-ADB4-4B21-853A-429505EE14F8}" type="pres">
      <dgm:prSet presAssocID="{F60358ED-8A87-46BD-AF61-3DFBCE8E08BB}" presName="iconRect" presStyleLbl="node1" presStyleIdx="4" presStyleCnt="7"/>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a:noFill/>
        </a:ln>
      </dgm:spPr>
      <dgm:extLst>
        <a:ext uri="{E40237B7-FDA0-4F09-8148-C483321AD2D9}">
          <dgm14:cNvPr xmlns:dgm14="http://schemas.microsoft.com/office/drawing/2010/diagram" id="0" name="" descr="Hospital"/>
        </a:ext>
      </dgm:extLst>
    </dgm:pt>
    <dgm:pt modelId="{6C8A4644-1C25-4289-87CD-8001D729F2F2}" type="pres">
      <dgm:prSet presAssocID="{F60358ED-8A87-46BD-AF61-3DFBCE8E08BB}" presName="spaceRect" presStyleCnt="0"/>
      <dgm:spPr/>
    </dgm:pt>
    <dgm:pt modelId="{B7B647C1-F636-4D42-9E48-6E416C2D49FF}" type="pres">
      <dgm:prSet presAssocID="{F60358ED-8A87-46BD-AF61-3DFBCE8E08BB}" presName="textRect" presStyleLbl="revTx" presStyleIdx="4" presStyleCnt="7">
        <dgm:presLayoutVars>
          <dgm:chMax val="1"/>
          <dgm:chPref val="1"/>
        </dgm:presLayoutVars>
      </dgm:prSet>
      <dgm:spPr/>
    </dgm:pt>
    <dgm:pt modelId="{DF7B0E32-BF73-43D4-B58B-F6E52B23EE47}" type="pres">
      <dgm:prSet presAssocID="{996ABB57-21F9-45B6-9127-BD2F3C7AB292}" presName="sibTrans" presStyleCnt="0"/>
      <dgm:spPr/>
    </dgm:pt>
    <dgm:pt modelId="{5C573FA3-1D1E-4FE7-86DC-7CCB302A9569}" type="pres">
      <dgm:prSet presAssocID="{4229B046-C463-4D97-B833-5FF51B84B10C}" presName="compNode" presStyleCnt="0"/>
      <dgm:spPr/>
    </dgm:pt>
    <dgm:pt modelId="{7D7F406E-E092-4571-B8F9-701ABCB69AD3}" type="pres">
      <dgm:prSet presAssocID="{4229B046-C463-4D97-B833-5FF51B84B10C}" presName="iconBgRect" presStyleLbl="bgShp" presStyleIdx="5" presStyleCnt="7"/>
      <dgm:spPr/>
    </dgm:pt>
    <dgm:pt modelId="{260C75DB-4FE6-4204-B99C-9FAB556B7C1E}" type="pres">
      <dgm:prSet presAssocID="{4229B046-C463-4D97-B833-5FF51B84B10C}" presName="iconRect" presStyleLbl="node1" presStyleIdx="5" presStyleCnt="7"/>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Gears"/>
        </a:ext>
      </dgm:extLst>
    </dgm:pt>
    <dgm:pt modelId="{8F1BCD7C-4ABD-4B10-8D33-0E3C1F6DFD92}" type="pres">
      <dgm:prSet presAssocID="{4229B046-C463-4D97-B833-5FF51B84B10C}" presName="spaceRect" presStyleCnt="0"/>
      <dgm:spPr/>
    </dgm:pt>
    <dgm:pt modelId="{9FA4F229-A4A0-49BE-9340-343B3669EA17}" type="pres">
      <dgm:prSet presAssocID="{4229B046-C463-4D97-B833-5FF51B84B10C}" presName="textRect" presStyleLbl="revTx" presStyleIdx="5" presStyleCnt="7">
        <dgm:presLayoutVars>
          <dgm:chMax val="1"/>
          <dgm:chPref val="1"/>
        </dgm:presLayoutVars>
      </dgm:prSet>
      <dgm:spPr/>
    </dgm:pt>
    <dgm:pt modelId="{4CF606E5-E0EE-4D28-B60D-252BD1EB75E4}" type="pres">
      <dgm:prSet presAssocID="{4CFD652E-46EA-41E9-8571-6F89FC2DF385}" presName="sibTrans" presStyleCnt="0"/>
      <dgm:spPr/>
    </dgm:pt>
    <dgm:pt modelId="{002BF281-92D2-465C-8CF9-23BFD06CB695}" type="pres">
      <dgm:prSet presAssocID="{AA753FB5-E36B-413B-AB8F-80CA1ACBF478}" presName="compNode" presStyleCnt="0"/>
      <dgm:spPr/>
    </dgm:pt>
    <dgm:pt modelId="{8B42048B-2E19-49E7-9909-52564ED15EFA}" type="pres">
      <dgm:prSet presAssocID="{AA753FB5-E36B-413B-AB8F-80CA1ACBF478}" presName="iconBgRect" presStyleLbl="bgShp" presStyleIdx="6" presStyleCnt="7"/>
      <dgm:spPr/>
    </dgm:pt>
    <dgm:pt modelId="{A5AA28D6-3941-4F74-B448-7BFFFF5CBDF2}" type="pres">
      <dgm:prSet presAssocID="{AA753FB5-E36B-413B-AB8F-80CA1ACBF478}" presName="iconRect" presStyleLbl="node1" presStyleIdx="6" presStyleCnt="7"/>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a:blipFill>
        <a:ln>
          <a:noFill/>
        </a:ln>
      </dgm:spPr>
      <dgm:extLst>
        <a:ext uri="{E40237B7-FDA0-4F09-8148-C483321AD2D9}">
          <dgm14:cNvPr xmlns:dgm14="http://schemas.microsoft.com/office/drawing/2010/diagram" id="0" name="" descr="Call center"/>
        </a:ext>
      </dgm:extLst>
    </dgm:pt>
    <dgm:pt modelId="{31CD0075-2613-4AAE-8E8C-0F5DF641C719}" type="pres">
      <dgm:prSet presAssocID="{AA753FB5-E36B-413B-AB8F-80CA1ACBF478}" presName="spaceRect" presStyleCnt="0"/>
      <dgm:spPr/>
    </dgm:pt>
    <dgm:pt modelId="{33ABB82B-84DD-47B6-AE5E-2BF5A589B3F4}" type="pres">
      <dgm:prSet presAssocID="{AA753FB5-E36B-413B-AB8F-80CA1ACBF478}" presName="textRect" presStyleLbl="revTx" presStyleIdx="6" presStyleCnt="7">
        <dgm:presLayoutVars>
          <dgm:chMax val="1"/>
          <dgm:chPref val="1"/>
        </dgm:presLayoutVars>
      </dgm:prSet>
      <dgm:spPr/>
    </dgm:pt>
  </dgm:ptLst>
  <dgm:cxnLst>
    <dgm:cxn modelId="{8E254F15-C565-4D9E-B980-112CEC1E4D54}" srcId="{92AF6EB9-4561-47A3-BC11-3BBF94DFEEA1}" destId="{F60358ED-8A87-46BD-AF61-3DFBCE8E08BB}" srcOrd="4" destOrd="0" parTransId="{21564A83-5E98-47A8-83EF-5B66774B4376}" sibTransId="{996ABB57-21F9-45B6-9127-BD2F3C7AB292}"/>
    <dgm:cxn modelId="{5A245D19-B9A0-4051-8835-4459BABF0C47}" srcId="{92AF6EB9-4561-47A3-BC11-3BBF94DFEEA1}" destId="{AA753FB5-E36B-413B-AB8F-80CA1ACBF478}" srcOrd="6" destOrd="0" parTransId="{FF2B3ED5-9658-4631-9084-19B8F50F128A}" sibTransId="{71204A1E-799B-40D0-A63B-3A5CB127A573}"/>
    <dgm:cxn modelId="{177EB326-E1DC-4917-9E54-4E0636C977F2}" type="presOf" srcId="{92AF6EB9-4561-47A3-BC11-3BBF94DFEEA1}" destId="{8CE808E3-763B-4888-8FE3-88BA6BA0A57C}" srcOrd="0" destOrd="0" presId="urn:microsoft.com/office/officeart/2018/5/layout/IconCircleLabelList"/>
    <dgm:cxn modelId="{125DDC54-135A-4979-88D1-6498623B749C}" srcId="{92AF6EB9-4561-47A3-BC11-3BBF94DFEEA1}" destId="{4229B046-C463-4D97-B833-5FF51B84B10C}" srcOrd="5" destOrd="0" parTransId="{C9B95CF2-22F1-4875-BE81-AB4BC177847D}" sibTransId="{4CFD652E-46EA-41E9-8571-6F89FC2DF385}"/>
    <dgm:cxn modelId="{35F49356-D35A-4D76-9037-9E7A0111BF2E}" type="presOf" srcId="{5731AFAF-BCC2-4786-94CC-60561EAA5761}" destId="{D50BC285-9FEC-4168-91A0-DA3D4441BA10}" srcOrd="0" destOrd="0" presId="urn:microsoft.com/office/officeart/2018/5/layout/IconCircleLabelList"/>
    <dgm:cxn modelId="{96FC4860-10FB-4498-AF09-DCB79007C09F}" type="presOf" srcId="{717E3B7C-85FB-461A-A0BD-5D15C2879863}" destId="{E0AD6420-A247-44F6-9985-D6FBF39D6481}" srcOrd="0" destOrd="0" presId="urn:microsoft.com/office/officeart/2018/5/layout/IconCircleLabelList"/>
    <dgm:cxn modelId="{FE018160-CE6D-44B7-A82A-248851338891}" type="presOf" srcId="{AA753FB5-E36B-413B-AB8F-80CA1ACBF478}" destId="{33ABB82B-84DD-47B6-AE5E-2BF5A589B3F4}" srcOrd="0" destOrd="0" presId="urn:microsoft.com/office/officeart/2018/5/layout/IconCircleLabelList"/>
    <dgm:cxn modelId="{8C053064-9781-47CC-A93E-072EFDEF7087}" srcId="{92AF6EB9-4561-47A3-BC11-3BBF94DFEEA1}" destId="{5731AFAF-BCC2-4786-94CC-60561EAA5761}" srcOrd="1" destOrd="0" parTransId="{6C53DD95-952D-4B01-879D-B7969D80A931}" sibTransId="{CAAF9717-AB28-495F-8DD1-46CB890EDA1E}"/>
    <dgm:cxn modelId="{14867F6F-EAF0-4E50-921B-735AFFB41ABA}" srcId="{92AF6EB9-4561-47A3-BC11-3BBF94DFEEA1}" destId="{6507C0BA-41BA-45AC-9CC5-AAA4AD64A3DC}" srcOrd="2" destOrd="0" parTransId="{3051949D-A0E5-4CF6-B6F5-D7DACA4936F5}" sibTransId="{67E048B3-2E31-4561-84A9-CAAEE6C9B657}"/>
    <dgm:cxn modelId="{C8B3A681-9AA3-46A8-85D3-BBB48B40B668}" type="presOf" srcId="{4229B046-C463-4D97-B833-5FF51B84B10C}" destId="{9FA4F229-A4A0-49BE-9340-343B3669EA17}" srcOrd="0" destOrd="0" presId="urn:microsoft.com/office/officeart/2018/5/layout/IconCircleLabelList"/>
    <dgm:cxn modelId="{AAB8A9AD-851C-4E60-9683-C870E9A94AA9}" type="presOf" srcId="{F60358ED-8A87-46BD-AF61-3DFBCE8E08BB}" destId="{B7B647C1-F636-4D42-9E48-6E416C2D49FF}" srcOrd="0" destOrd="0" presId="urn:microsoft.com/office/officeart/2018/5/layout/IconCircleLabelList"/>
    <dgm:cxn modelId="{0B2E2DB8-B115-4583-A81D-21AE6F558705}" type="presOf" srcId="{6507C0BA-41BA-45AC-9CC5-AAA4AD64A3DC}" destId="{9C1D89C5-3B5D-4674-996C-737D8B48A2F7}" srcOrd="0" destOrd="0" presId="urn:microsoft.com/office/officeart/2018/5/layout/IconCircleLabelList"/>
    <dgm:cxn modelId="{1AD699EA-45EC-454E-B6F5-86E98EC8642D}" srcId="{92AF6EB9-4561-47A3-BC11-3BBF94DFEEA1}" destId="{717E3B7C-85FB-461A-A0BD-5D15C2879863}" srcOrd="0" destOrd="0" parTransId="{E61C7ECC-8D27-41FB-BDD1-CD406010F4E5}" sibTransId="{8F9E6DBE-DB90-4BD4-94E2-E32AC0B7210A}"/>
    <dgm:cxn modelId="{5738ECF5-87E1-409E-AAAF-80D29A8759AC}" srcId="{92AF6EB9-4561-47A3-BC11-3BBF94DFEEA1}" destId="{CD6DF145-5D34-419A-9E5B-54C8B858FED3}" srcOrd="3" destOrd="0" parTransId="{490879B5-D7EB-4484-9C11-AACA1B5679BC}" sibTransId="{8047BEE8-9940-434D-9233-09CEBC0314E8}"/>
    <dgm:cxn modelId="{F331B2FC-2DAD-4A09-BD3F-20716BD61AD6}" type="presOf" srcId="{CD6DF145-5D34-419A-9E5B-54C8B858FED3}" destId="{CA38042B-A656-4BE4-A778-76C9A431347D}" srcOrd="0" destOrd="0" presId="urn:microsoft.com/office/officeart/2018/5/layout/IconCircleLabelList"/>
    <dgm:cxn modelId="{F5CB02E2-AF7E-4B54-B71B-EBF639CC8EFE}" type="presParOf" srcId="{8CE808E3-763B-4888-8FE3-88BA6BA0A57C}" destId="{A0D6402C-317B-42A8-AADC-2776923EC3F5}" srcOrd="0" destOrd="0" presId="urn:microsoft.com/office/officeart/2018/5/layout/IconCircleLabelList"/>
    <dgm:cxn modelId="{34C207B1-3360-417A-9136-CA84F1CA5139}" type="presParOf" srcId="{A0D6402C-317B-42A8-AADC-2776923EC3F5}" destId="{E9D7138B-8B00-427E-BBCD-A9DFF32B5BB7}" srcOrd="0" destOrd="0" presId="urn:microsoft.com/office/officeart/2018/5/layout/IconCircleLabelList"/>
    <dgm:cxn modelId="{BE021FC2-F501-41CA-A81B-75A5B8C44D6A}" type="presParOf" srcId="{A0D6402C-317B-42A8-AADC-2776923EC3F5}" destId="{C58BD5B0-A08F-48D3-95E8-F1BD0965F891}" srcOrd="1" destOrd="0" presId="urn:microsoft.com/office/officeart/2018/5/layout/IconCircleLabelList"/>
    <dgm:cxn modelId="{C64A1A00-2035-4E6A-B172-53483D8D0412}" type="presParOf" srcId="{A0D6402C-317B-42A8-AADC-2776923EC3F5}" destId="{ACE546D9-3A5B-47D2-AC96-BC8FE91D2362}" srcOrd="2" destOrd="0" presId="urn:microsoft.com/office/officeart/2018/5/layout/IconCircleLabelList"/>
    <dgm:cxn modelId="{B8601F3F-FB53-4696-8BF3-EAD803E92B78}" type="presParOf" srcId="{A0D6402C-317B-42A8-AADC-2776923EC3F5}" destId="{E0AD6420-A247-44F6-9985-D6FBF39D6481}" srcOrd="3" destOrd="0" presId="urn:microsoft.com/office/officeart/2018/5/layout/IconCircleLabelList"/>
    <dgm:cxn modelId="{7999A6AF-CEC7-4CEC-97D3-282A8A36C57F}" type="presParOf" srcId="{8CE808E3-763B-4888-8FE3-88BA6BA0A57C}" destId="{34014A11-F900-4DF3-9478-C951BE673154}" srcOrd="1" destOrd="0" presId="urn:microsoft.com/office/officeart/2018/5/layout/IconCircleLabelList"/>
    <dgm:cxn modelId="{2386B11B-BFE5-4102-A052-033474071C74}" type="presParOf" srcId="{8CE808E3-763B-4888-8FE3-88BA6BA0A57C}" destId="{6511B854-FF2E-4868-9875-8FBB8A25EC61}" srcOrd="2" destOrd="0" presId="urn:microsoft.com/office/officeart/2018/5/layout/IconCircleLabelList"/>
    <dgm:cxn modelId="{2DBCF0CF-3C37-4661-8B5A-00D3CF663663}" type="presParOf" srcId="{6511B854-FF2E-4868-9875-8FBB8A25EC61}" destId="{AFB06A49-74C1-4118-8D67-E69DCD6C9F0F}" srcOrd="0" destOrd="0" presId="urn:microsoft.com/office/officeart/2018/5/layout/IconCircleLabelList"/>
    <dgm:cxn modelId="{500252A4-BDBC-400A-BF0E-339206C9B5F9}" type="presParOf" srcId="{6511B854-FF2E-4868-9875-8FBB8A25EC61}" destId="{2B7A2953-F523-45FB-B0BF-637725E63020}" srcOrd="1" destOrd="0" presId="urn:microsoft.com/office/officeart/2018/5/layout/IconCircleLabelList"/>
    <dgm:cxn modelId="{7B62C1D4-9632-499C-B202-4BD6E0CBDAC6}" type="presParOf" srcId="{6511B854-FF2E-4868-9875-8FBB8A25EC61}" destId="{CEAEBA90-4B19-4AE5-BB03-47839C219B40}" srcOrd="2" destOrd="0" presId="urn:microsoft.com/office/officeart/2018/5/layout/IconCircleLabelList"/>
    <dgm:cxn modelId="{3F0B7BDA-274A-4E4C-9B15-D85309892D6A}" type="presParOf" srcId="{6511B854-FF2E-4868-9875-8FBB8A25EC61}" destId="{D50BC285-9FEC-4168-91A0-DA3D4441BA10}" srcOrd="3" destOrd="0" presId="urn:microsoft.com/office/officeart/2018/5/layout/IconCircleLabelList"/>
    <dgm:cxn modelId="{9DAA56EA-5DCF-4604-A4D4-DDDCDC81B5A8}" type="presParOf" srcId="{8CE808E3-763B-4888-8FE3-88BA6BA0A57C}" destId="{85B0CAED-E85F-410E-9FCD-CBFC9B9F4F66}" srcOrd="3" destOrd="0" presId="urn:microsoft.com/office/officeart/2018/5/layout/IconCircleLabelList"/>
    <dgm:cxn modelId="{2DD4EB2B-0212-410E-BDB9-CD93C44B5CC3}" type="presParOf" srcId="{8CE808E3-763B-4888-8FE3-88BA6BA0A57C}" destId="{BD51EA83-C831-44C0-986B-29BDD7B6C0C2}" srcOrd="4" destOrd="0" presId="urn:microsoft.com/office/officeart/2018/5/layout/IconCircleLabelList"/>
    <dgm:cxn modelId="{E3B1E20D-4D71-4857-A36B-D21356B724C6}" type="presParOf" srcId="{BD51EA83-C831-44C0-986B-29BDD7B6C0C2}" destId="{6F7D4767-E451-4F7B-8D34-5653F4AE6510}" srcOrd="0" destOrd="0" presId="urn:microsoft.com/office/officeart/2018/5/layout/IconCircleLabelList"/>
    <dgm:cxn modelId="{F66D88C5-5C66-4433-87EC-C3393460D9EF}" type="presParOf" srcId="{BD51EA83-C831-44C0-986B-29BDD7B6C0C2}" destId="{91AE345F-6F1E-4E27-BF45-8C1904B82315}" srcOrd="1" destOrd="0" presId="urn:microsoft.com/office/officeart/2018/5/layout/IconCircleLabelList"/>
    <dgm:cxn modelId="{A7CDDF21-9A9F-4BD9-9B9D-5E0570BE134F}" type="presParOf" srcId="{BD51EA83-C831-44C0-986B-29BDD7B6C0C2}" destId="{911AAA6B-E22B-4FC6-B28F-C60391228904}" srcOrd="2" destOrd="0" presId="urn:microsoft.com/office/officeart/2018/5/layout/IconCircleLabelList"/>
    <dgm:cxn modelId="{055BF595-071C-4327-96DA-4E69C0299821}" type="presParOf" srcId="{BD51EA83-C831-44C0-986B-29BDD7B6C0C2}" destId="{9C1D89C5-3B5D-4674-996C-737D8B48A2F7}" srcOrd="3" destOrd="0" presId="urn:microsoft.com/office/officeart/2018/5/layout/IconCircleLabelList"/>
    <dgm:cxn modelId="{C034BBD4-8F26-40F8-81AB-595F93625E34}" type="presParOf" srcId="{8CE808E3-763B-4888-8FE3-88BA6BA0A57C}" destId="{24A2B935-569F-4A86-BBD6-13D5FA979FA6}" srcOrd="5" destOrd="0" presId="urn:microsoft.com/office/officeart/2018/5/layout/IconCircleLabelList"/>
    <dgm:cxn modelId="{0CA924F5-A564-456A-A3C9-218CE270B750}" type="presParOf" srcId="{8CE808E3-763B-4888-8FE3-88BA6BA0A57C}" destId="{CDF9EE12-807F-44CE-ADB1-6C379ED60590}" srcOrd="6" destOrd="0" presId="urn:microsoft.com/office/officeart/2018/5/layout/IconCircleLabelList"/>
    <dgm:cxn modelId="{B8874C38-BA49-44EF-A2FE-1B4DB97AEE06}" type="presParOf" srcId="{CDF9EE12-807F-44CE-ADB1-6C379ED60590}" destId="{CC334E9C-67AD-48F3-8CD2-5A4A317CFD1E}" srcOrd="0" destOrd="0" presId="urn:microsoft.com/office/officeart/2018/5/layout/IconCircleLabelList"/>
    <dgm:cxn modelId="{C4B94BD8-454F-4CE8-AA09-452FB2F92963}" type="presParOf" srcId="{CDF9EE12-807F-44CE-ADB1-6C379ED60590}" destId="{9E0AF8D2-8956-4C88-9BB6-B5005586F613}" srcOrd="1" destOrd="0" presId="urn:microsoft.com/office/officeart/2018/5/layout/IconCircleLabelList"/>
    <dgm:cxn modelId="{B0A17C80-4043-4209-84C5-A08B7C08DB49}" type="presParOf" srcId="{CDF9EE12-807F-44CE-ADB1-6C379ED60590}" destId="{3A2CAA0A-CED0-4083-9835-FC362E1E2B8F}" srcOrd="2" destOrd="0" presId="urn:microsoft.com/office/officeart/2018/5/layout/IconCircleLabelList"/>
    <dgm:cxn modelId="{D2DD7734-3552-4200-8383-1FF33DB6583E}" type="presParOf" srcId="{CDF9EE12-807F-44CE-ADB1-6C379ED60590}" destId="{CA38042B-A656-4BE4-A778-76C9A431347D}" srcOrd="3" destOrd="0" presId="urn:microsoft.com/office/officeart/2018/5/layout/IconCircleLabelList"/>
    <dgm:cxn modelId="{1D6593E8-C407-422F-B76C-F845E805CC0F}" type="presParOf" srcId="{8CE808E3-763B-4888-8FE3-88BA6BA0A57C}" destId="{D4BBE777-C353-4E5E-ADED-89085DB7ECF9}" srcOrd="7" destOrd="0" presId="urn:microsoft.com/office/officeart/2018/5/layout/IconCircleLabelList"/>
    <dgm:cxn modelId="{5F4873E9-E616-465C-8DD8-5B9ED88D9D48}" type="presParOf" srcId="{8CE808E3-763B-4888-8FE3-88BA6BA0A57C}" destId="{0DDE49E0-F982-4802-B49F-E2B7DA1DF808}" srcOrd="8" destOrd="0" presId="urn:microsoft.com/office/officeart/2018/5/layout/IconCircleLabelList"/>
    <dgm:cxn modelId="{E89AB2D6-2ADC-4087-9086-443EBB646F24}" type="presParOf" srcId="{0DDE49E0-F982-4802-B49F-E2B7DA1DF808}" destId="{ADBE97C7-F4AA-4FF4-8252-46947DD3051C}" srcOrd="0" destOrd="0" presId="urn:microsoft.com/office/officeart/2018/5/layout/IconCircleLabelList"/>
    <dgm:cxn modelId="{2A141F59-A6CD-4F20-B880-E3E826EE350D}" type="presParOf" srcId="{0DDE49E0-F982-4802-B49F-E2B7DA1DF808}" destId="{50DD6B0B-ADB4-4B21-853A-429505EE14F8}" srcOrd="1" destOrd="0" presId="urn:microsoft.com/office/officeart/2018/5/layout/IconCircleLabelList"/>
    <dgm:cxn modelId="{85342F89-1035-438E-947E-39FF54093FEB}" type="presParOf" srcId="{0DDE49E0-F982-4802-B49F-E2B7DA1DF808}" destId="{6C8A4644-1C25-4289-87CD-8001D729F2F2}" srcOrd="2" destOrd="0" presId="urn:microsoft.com/office/officeart/2018/5/layout/IconCircleLabelList"/>
    <dgm:cxn modelId="{B0FF25B3-C210-4332-8158-95840B7A84D7}" type="presParOf" srcId="{0DDE49E0-F982-4802-B49F-E2B7DA1DF808}" destId="{B7B647C1-F636-4D42-9E48-6E416C2D49FF}" srcOrd="3" destOrd="0" presId="urn:microsoft.com/office/officeart/2018/5/layout/IconCircleLabelList"/>
    <dgm:cxn modelId="{09CA0422-1691-4F65-984F-9A93CEA15A9F}" type="presParOf" srcId="{8CE808E3-763B-4888-8FE3-88BA6BA0A57C}" destId="{DF7B0E32-BF73-43D4-B58B-F6E52B23EE47}" srcOrd="9" destOrd="0" presId="urn:microsoft.com/office/officeart/2018/5/layout/IconCircleLabelList"/>
    <dgm:cxn modelId="{A5E505ED-C323-4EB1-AB0F-F0C7E1A28BF5}" type="presParOf" srcId="{8CE808E3-763B-4888-8FE3-88BA6BA0A57C}" destId="{5C573FA3-1D1E-4FE7-86DC-7CCB302A9569}" srcOrd="10" destOrd="0" presId="urn:microsoft.com/office/officeart/2018/5/layout/IconCircleLabelList"/>
    <dgm:cxn modelId="{D4AE674E-A84A-446A-96D7-3C038DEC2717}" type="presParOf" srcId="{5C573FA3-1D1E-4FE7-86DC-7CCB302A9569}" destId="{7D7F406E-E092-4571-B8F9-701ABCB69AD3}" srcOrd="0" destOrd="0" presId="urn:microsoft.com/office/officeart/2018/5/layout/IconCircleLabelList"/>
    <dgm:cxn modelId="{C3D5880C-E5E5-4A72-A3AB-53EF50C82993}" type="presParOf" srcId="{5C573FA3-1D1E-4FE7-86DC-7CCB302A9569}" destId="{260C75DB-4FE6-4204-B99C-9FAB556B7C1E}" srcOrd="1" destOrd="0" presId="urn:microsoft.com/office/officeart/2018/5/layout/IconCircleLabelList"/>
    <dgm:cxn modelId="{79049CCB-E80F-40EB-A19C-D6E47BE0D372}" type="presParOf" srcId="{5C573FA3-1D1E-4FE7-86DC-7CCB302A9569}" destId="{8F1BCD7C-4ABD-4B10-8D33-0E3C1F6DFD92}" srcOrd="2" destOrd="0" presId="urn:microsoft.com/office/officeart/2018/5/layout/IconCircleLabelList"/>
    <dgm:cxn modelId="{AF74FEA3-3732-4D77-8DC0-AB3B6FCAC1E7}" type="presParOf" srcId="{5C573FA3-1D1E-4FE7-86DC-7CCB302A9569}" destId="{9FA4F229-A4A0-49BE-9340-343B3669EA17}" srcOrd="3" destOrd="0" presId="urn:microsoft.com/office/officeart/2018/5/layout/IconCircleLabelList"/>
    <dgm:cxn modelId="{F6E8BC8F-F54A-4C5A-846E-C72B827A4120}" type="presParOf" srcId="{8CE808E3-763B-4888-8FE3-88BA6BA0A57C}" destId="{4CF606E5-E0EE-4D28-B60D-252BD1EB75E4}" srcOrd="11" destOrd="0" presId="urn:microsoft.com/office/officeart/2018/5/layout/IconCircleLabelList"/>
    <dgm:cxn modelId="{5B327CB1-6EAF-498F-BAFE-6F9B7C9830DD}" type="presParOf" srcId="{8CE808E3-763B-4888-8FE3-88BA6BA0A57C}" destId="{002BF281-92D2-465C-8CF9-23BFD06CB695}" srcOrd="12" destOrd="0" presId="urn:microsoft.com/office/officeart/2018/5/layout/IconCircleLabelList"/>
    <dgm:cxn modelId="{5F928BE3-D658-47AA-AD14-623254276C3B}" type="presParOf" srcId="{002BF281-92D2-465C-8CF9-23BFD06CB695}" destId="{8B42048B-2E19-49E7-9909-52564ED15EFA}" srcOrd="0" destOrd="0" presId="urn:microsoft.com/office/officeart/2018/5/layout/IconCircleLabelList"/>
    <dgm:cxn modelId="{BE5100F5-DDF4-4A28-8E80-564A5B14224E}" type="presParOf" srcId="{002BF281-92D2-465C-8CF9-23BFD06CB695}" destId="{A5AA28D6-3941-4F74-B448-7BFFFF5CBDF2}" srcOrd="1" destOrd="0" presId="urn:microsoft.com/office/officeart/2018/5/layout/IconCircleLabelList"/>
    <dgm:cxn modelId="{AC69E2C3-3285-49E2-AB28-FDF93D6101D5}" type="presParOf" srcId="{002BF281-92D2-465C-8CF9-23BFD06CB695}" destId="{31CD0075-2613-4AAE-8E8C-0F5DF641C719}" srcOrd="2" destOrd="0" presId="urn:microsoft.com/office/officeart/2018/5/layout/IconCircleLabelList"/>
    <dgm:cxn modelId="{2703A720-5C79-4089-A4F4-CC2979ACBA0C}" type="presParOf" srcId="{002BF281-92D2-465C-8CF9-23BFD06CB695}" destId="{33ABB82B-84DD-47B6-AE5E-2BF5A589B3F4}" srcOrd="3" destOrd="0" presId="urn:microsoft.com/office/officeart/2018/5/layout/IconCircleLabel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AF57212C-1F8F-4F54-9C13-746E77A97BB4}" type="doc">
      <dgm:prSet loTypeId="urn:microsoft.com/office/officeart/2005/8/layout/default" loCatId="list" qsTypeId="urn:microsoft.com/office/officeart/2005/8/quickstyle/simple2" qsCatId="simple" csTypeId="urn:microsoft.com/office/officeart/2005/8/colors/accent4_2" csCatId="accent4" phldr="1"/>
      <dgm:spPr/>
      <dgm:t>
        <a:bodyPr/>
        <a:lstStyle/>
        <a:p>
          <a:endParaRPr lang="en-US"/>
        </a:p>
      </dgm:t>
    </dgm:pt>
    <dgm:pt modelId="{6918B632-732A-4F8A-9126-9CFBA72FA30E}">
      <dgm:prSet/>
      <dgm:spPr/>
      <dgm:t>
        <a:bodyPr/>
        <a:lstStyle/>
        <a:p>
          <a:r>
            <a:rPr lang="en-US"/>
            <a:t>This project showed that AI can help estimate COVID risk using only symptoms and health information available at home.</a:t>
          </a:r>
        </a:p>
      </dgm:t>
    </dgm:pt>
    <dgm:pt modelId="{0F656DA3-C9D3-478A-A0F6-0FF34385A426}" type="parTrans" cxnId="{C3F97EBF-3B88-4E0C-A395-978CA6368913}">
      <dgm:prSet/>
      <dgm:spPr/>
      <dgm:t>
        <a:bodyPr/>
        <a:lstStyle/>
        <a:p>
          <a:endParaRPr lang="en-US"/>
        </a:p>
      </dgm:t>
    </dgm:pt>
    <dgm:pt modelId="{18C0D599-FE8F-477F-88F1-C3FE23969190}" type="sibTrans" cxnId="{C3F97EBF-3B88-4E0C-A395-978CA6368913}">
      <dgm:prSet/>
      <dgm:spPr/>
      <dgm:t>
        <a:bodyPr/>
        <a:lstStyle/>
        <a:p>
          <a:endParaRPr lang="en-US"/>
        </a:p>
      </dgm:t>
    </dgm:pt>
    <dgm:pt modelId="{605C847B-2EDE-4449-8DB5-81ACBA0D629E}">
      <dgm:prSet/>
      <dgm:spPr/>
      <dgm:t>
        <a:bodyPr/>
        <a:lstStyle/>
        <a:p>
          <a:r>
            <a:rPr lang="en-US" dirty="0"/>
            <a:t>The tool worked especially well for: </a:t>
          </a:r>
        </a:p>
        <a:p>
          <a:r>
            <a:rPr lang="en-US" dirty="0"/>
            <a:t>*identifying low-risk individuals</a:t>
          </a:r>
        </a:p>
        <a:p>
          <a:r>
            <a:rPr lang="en-US" dirty="0"/>
            <a:t>*encouraging early testing</a:t>
          </a:r>
        </a:p>
        <a:p>
          <a:r>
            <a:rPr lang="en-US" dirty="0"/>
            <a:t>*helping people decide when to see medial care </a:t>
          </a:r>
        </a:p>
      </dgm:t>
    </dgm:pt>
    <dgm:pt modelId="{BAFAC3BF-E158-40FA-8E22-796909BA48BE}" type="parTrans" cxnId="{4FC371AB-8AD4-498D-AF70-FE656A91E0F5}">
      <dgm:prSet/>
      <dgm:spPr/>
      <dgm:t>
        <a:bodyPr/>
        <a:lstStyle/>
        <a:p>
          <a:endParaRPr lang="en-US"/>
        </a:p>
      </dgm:t>
    </dgm:pt>
    <dgm:pt modelId="{C74752FF-F223-4795-BA44-D98EA280FC71}" type="sibTrans" cxnId="{4FC371AB-8AD4-498D-AF70-FE656A91E0F5}">
      <dgm:prSet/>
      <dgm:spPr/>
      <dgm:t>
        <a:bodyPr/>
        <a:lstStyle/>
        <a:p>
          <a:endParaRPr lang="en-US"/>
        </a:p>
      </dgm:t>
    </dgm:pt>
    <dgm:pt modelId="{CAC9543D-4D86-4219-93D0-2E9D82B06041}">
      <dgm:prSet/>
      <dgm:spPr/>
      <dgm:t>
        <a:bodyPr/>
        <a:lstStyle/>
        <a:p>
          <a:r>
            <a:rPr lang="en-US"/>
            <a:t>Although it cannot replace professional testing or doctors, it demonstrates how machine learning can support early health decision-making during infectious disease outbreaks.</a:t>
          </a:r>
        </a:p>
      </dgm:t>
    </dgm:pt>
    <dgm:pt modelId="{8EA9EF96-3FAD-413B-AF52-64EE80A470A3}" type="parTrans" cxnId="{ACCA6C7A-ACC2-4B5A-8CD9-1FE97BFC0C7A}">
      <dgm:prSet/>
      <dgm:spPr/>
      <dgm:t>
        <a:bodyPr/>
        <a:lstStyle/>
        <a:p>
          <a:endParaRPr lang="en-US"/>
        </a:p>
      </dgm:t>
    </dgm:pt>
    <dgm:pt modelId="{33550DDE-9876-49C1-8FFD-FFC1B29E3825}" type="sibTrans" cxnId="{ACCA6C7A-ACC2-4B5A-8CD9-1FE97BFC0C7A}">
      <dgm:prSet/>
      <dgm:spPr/>
      <dgm:t>
        <a:bodyPr/>
        <a:lstStyle/>
        <a:p>
          <a:endParaRPr lang="en-US"/>
        </a:p>
      </dgm:t>
    </dgm:pt>
    <dgm:pt modelId="{A0839D03-A6E1-A84A-AF89-00CCFCEA4F22}" type="pres">
      <dgm:prSet presAssocID="{AF57212C-1F8F-4F54-9C13-746E77A97BB4}" presName="diagram" presStyleCnt="0">
        <dgm:presLayoutVars>
          <dgm:dir/>
          <dgm:resizeHandles val="exact"/>
        </dgm:presLayoutVars>
      </dgm:prSet>
      <dgm:spPr/>
    </dgm:pt>
    <dgm:pt modelId="{31A2027C-0134-A446-BDAD-20EBED93FB4E}" type="pres">
      <dgm:prSet presAssocID="{6918B632-732A-4F8A-9126-9CFBA72FA30E}" presName="node" presStyleLbl="node1" presStyleIdx="0" presStyleCnt="3">
        <dgm:presLayoutVars>
          <dgm:bulletEnabled val="1"/>
        </dgm:presLayoutVars>
      </dgm:prSet>
      <dgm:spPr/>
    </dgm:pt>
    <dgm:pt modelId="{63B6FBEF-28A5-0B40-9DDA-D75E263E9AF6}" type="pres">
      <dgm:prSet presAssocID="{18C0D599-FE8F-477F-88F1-C3FE23969190}" presName="sibTrans" presStyleCnt="0"/>
      <dgm:spPr/>
    </dgm:pt>
    <dgm:pt modelId="{19D93C4B-F2A7-3D49-9BCA-2E3B72137BDD}" type="pres">
      <dgm:prSet presAssocID="{605C847B-2EDE-4449-8DB5-81ACBA0D629E}" presName="node" presStyleLbl="node1" presStyleIdx="1" presStyleCnt="3">
        <dgm:presLayoutVars>
          <dgm:bulletEnabled val="1"/>
        </dgm:presLayoutVars>
      </dgm:prSet>
      <dgm:spPr/>
    </dgm:pt>
    <dgm:pt modelId="{5A1A9D52-394D-7A47-9D93-563A0B4E7BB5}" type="pres">
      <dgm:prSet presAssocID="{C74752FF-F223-4795-BA44-D98EA280FC71}" presName="sibTrans" presStyleCnt="0"/>
      <dgm:spPr/>
    </dgm:pt>
    <dgm:pt modelId="{222D1EF5-6762-5B41-AFE1-2CAE24BB6C6A}" type="pres">
      <dgm:prSet presAssocID="{CAC9543D-4D86-4219-93D0-2E9D82B06041}" presName="node" presStyleLbl="node1" presStyleIdx="2" presStyleCnt="3">
        <dgm:presLayoutVars>
          <dgm:bulletEnabled val="1"/>
        </dgm:presLayoutVars>
      </dgm:prSet>
      <dgm:spPr/>
    </dgm:pt>
  </dgm:ptLst>
  <dgm:cxnLst>
    <dgm:cxn modelId="{0278130C-F27B-6F46-8AA0-3ECFBA87AC7A}" type="presOf" srcId="{605C847B-2EDE-4449-8DB5-81ACBA0D629E}" destId="{19D93C4B-F2A7-3D49-9BCA-2E3B72137BDD}" srcOrd="0" destOrd="0" presId="urn:microsoft.com/office/officeart/2005/8/layout/default"/>
    <dgm:cxn modelId="{ACCA6C7A-ACC2-4B5A-8CD9-1FE97BFC0C7A}" srcId="{AF57212C-1F8F-4F54-9C13-746E77A97BB4}" destId="{CAC9543D-4D86-4219-93D0-2E9D82B06041}" srcOrd="2" destOrd="0" parTransId="{8EA9EF96-3FAD-413B-AF52-64EE80A470A3}" sibTransId="{33550DDE-9876-49C1-8FFD-FFC1B29E3825}"/>
    <dgm:cxn modelId="{7551FB9C-C501-B24F-BF29-E860E272EAE4}" type="presOf" srcId="{6918B632-732A-4F8A-9126-9CFBA72FA30E}" destId="{31A2027C-0134-A446-BDAD-20EBED93FB4E}" srcOrd="0" destOrd="0" presId="urn:microsoft.com/office/officeart/2005/8/layout/default"/>
    <dgm:cxn modelId="{4FC371AB-8AD4-498D-AF70-FE656A91E0F5}" srcId="{AF57212C-1F8F-4F54-9C13-746E77A97BB4}" destId="{605C847B-2EDE-4449-8DB5-81ACBA0D629E}" srcOrd="1" destOrd="0" parTransId="{BAFAC3BF-E158-40FA-8E22-796909BA48BE}" sibTransId="{C74752FF-F223-4795-BA44-D98EA280FC71}"/>
    <dgm:cxn modelId="{77723BBF-400D-EA4E-96B8-52C104E40237}" type="presOf" srcId="{AF57212C-1F8F-4F54-9C13-746E77A97BB4}" destId="{A0839D03-A6E1-A84A-AF89-00CCFCEA4F22}" srcOrd="0" destOrd="0" presId="urn:microsoft.com/office/officeart/2005/8/layout/default"/>
    <dgm:cxn modelId="{C3F97EBF-3B88-4E0C-A395-978CA6368913}" srcId="{AF57212C-1F8F-4F54-9C13-746E77A97BB4}" destId="{6918B632-732A-4F8A-9126-9CFBA72FA30E}" srcOrd="0" destOrd="0" parTransId="{0F656DA3-C9D3-478A-A0F6-0FF34385A426}" sibTransId="{18C0D599-FE8F-477F-88F1-C3FE23969190}"/>
    <dgm:cxn modelId="{D6DF8CF1-6D59-F148-B12C-8946F96F12E8}" type="presOf" srcId="{CAC9543D-4D86-4219-93D0-2E9D82B06041}" destId="{222D1EF5-6762-5B41-AFE1-2CAE24BB6C6A}" srcOrd="0" destOrd="0" presId="urn:microsoft.com/office/officeart/2005/8/layout/default"/>
    <dgm:cxn modelId="{C870E43E-4367-0D4A-89A4-A78812270E06}" type="presParOf" srcId="{A0839D03-A6E1-A84A-AF89-00CCFCEA4F22}" destId="{31A2027C-0134-A446-BDAD-20EBED93FB4E}" srcOrd="0" destOrd="0" presId="urn:microsoft.com/office/officeart/2005/8/layout/default"/>
    <dgm:cxn modelId="{149CCCA9-9843-E342-9CB4-7CEB5037A1E8}" type="presParOf" srcId="{A0839D03-A6E1-A84A-AF89-00CCFCEA4F22}" destId="{63B6FBEF-28A5-0B40-9DDA-D75E263E9AF6}" srcOrd="1" destOrd="0" presId="urn:microsoft.com/office/officeart/2005/8/layout/default"/>
    <dgm:cxn modelId="{94601574-5278-3546-998D-36E45012CE8A}" type="presParOf" srcId="{A0839D03-A6E1-A84A-AF89-00CCFCEA4F22}" destId="{19D93C4B-F2A7-3D49-9BCA-2E3B72137BDD}" srcOrd="2" destOrd="0" presId="urn:microsoft.com/office/officeart/2005/8/layout/default"/>
    <dgm:cxn modelId="{C57568B2-D321-174B-AA9D-F2C141713184}" type="presParOf" srcId="{A0839D03-A6E1-A84A-AF89-00CCFCEA4F22}" destId="{5A1A9D52-394D-7A47-9D93-563A0B4E7BB5}" srcOrd="3" destOrd="0" presId="urn:microsoft.com/office/officeart/2005/8/layout/default"/>
    <dgm:cxn modelId="{B67B4B52-01F9-4A4E-8D75-452BD91D4E50}" type="presParOf" srcId="{A0839D03-A6E1-A84A-AF89-00CCFCEA4F22}" destId="{222D1EF5-6762-5B41-AFE1-2CAE24BB6C6A}" srcOrd="4"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B505979-7C45-4E26-AE2C-2C71E426AC1A}">
      <dsp:nvSpPr>
        <dsp:cNvPr id="0" name=""/>
        <dsp:cNvSpPr/>
      </dsp:nvSpPr>
      <dsp:spPr>
        <a:xfrm>
          <a:off x="471822" y="145748"/>
          <a:ext cx="623320" cy="62332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996203E0-B062-4472-95D2-97B8B709D334}">
      <dsp:nvSpPr>
        <dsp:cNvPr id="0" name=""/>
        <dsp:cNvSpPr/>
      </dsp:nvSpPr>
      <dsp:spPr>
        <a:xfrm>
          <a:off x="90904" y="1071765"/>
          <a:ext cx="1385156" cy="1090810"/>
        </a:xfrm>
        <a:prstGeom prst="rect">
          <a:avLst/>
        </a:prstGeom>
        <a:noFill/>
        <a:ln>
          <a:solidFill>
            <a:schemeClr val="accent3">
              <a:lumMod val="60000"/>
              <a:lumOff val="40000"/>
            </a:schemeClr>
          </a:solid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33400">
            <a:lnSpc>
              <a:spcPct val="100000"/>
            </a:lnSpc>
            <a:spcBef>
              <a:spcPct val="0"/>
            </a:spcBef>
            <a:spcAft>
              <a:spcPct val="35000"/>
            </a:spcAft>
            <a:buNone/>
          </a:pPr>
          <a:r>
            <a:rPr lang="en-US" sz="1200" kern="1200" dirty="0"/>
            <a:t>This project created an AI system that helps predict whether someone may have COVID-19 using only symptoms and information they can notice at home— before going to a clinic or hospital.</a:t>
          </a:r>
        </a:p>
      </dsp:txBody>
      <dsp:txXfrm>
        <a:off x="90904" y="1071765"/>
        <a:ext cx="1385156" cy="1090810"/>
      </dsp:txXfrm>
    </dsp:sp>
    <dsp:sp modelId="{E72EF5F5-40B2-4574-A5E0-62C4DEF7A6C7}">
      <dsp:nvSpPr>
        <dsp:cNvPr id="0" name=""/>
        <dsp:cNvSpPr/>
      </dsp:nvSpPr>
      <dsp:spPr>
        <a:xfrm>
          <a:off x="2099381" y="145748"/>
          <a:ext cx="623320" cy="62332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86822D8A-D7E1-4F11-80A8-21CB2045E0D9}">
      <dsp:nvSpPr>
        <dsp:cNvPr id="0" name=""/>
        <dsp:cNvSpPr/>
      </dsp:nvSpPr>
      <dsp:spPr>
        <a:xfrm>
          <a:off x="1718463" y="1071765"/>
          <a:ext cx="1385156" cy="10908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00100">
            <a:lnSpc>
              <a:spcPct val="100000"/>
            </a:lnSpc>
            <a:spcBef>
              <a:spcPct val="0"/>
            </a:spcBef>
            <a:spcAft>
              <a:spcPct val="35000"/>
            </a:spcAft>
            <a:buNone/>
          </a:pPr>
          <a:r>
            <a:rPr lang="en-US" sz="1800" kern="1200"/>
            <a:t>The goal was to help people decide:</a:t>
          </a:r>
        </a:p>
      </dsp:txBody>
      <dsp:txXfrm>
        <a:off x="1718463" y="1071765"/>
        <a:ext cx="1385156" cy="1090810"/>
      </dsp:txXfrm>
    </dsp:sp>
    <dsp:sp modelId="{53DD7DDB-76E7-4C9D-B598-7B2B082310AC}">
      <dsp:nvSpPr>
        <dsp:cNvPr id="0" name=""/>
        <dsp:cNvSpPr/>
      </dsp:nvSpPr>
      <dsp:spPr>
        <a:xfrm>
          <a:off x="3726939" y="145748"/>
          <a:ext cx="623320" cy="62332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14BA985D-6B78-4CBD-B0AB-567F63622B70}">
      <dsp:nvSpPr>
        <dsp:cNvPr id="0" name=""/>
        <dsp:cNvSpPr/>
      </dsp:nvSpPr>
      <dsp:spPr>
        <a:xfrm>
          <a:off x="3346021" y="1071765"/>
          <a:ext cx="1385156" cy="10908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00100">
            <a:lnSpc>
              <a:spcPct val="100000"/>
            </a:lnSpc>
            <a:spcBef>
              <a:spcPct val="0"/>
            </a:spcBef>
            <a:spcAft>
              <a:spcPct val="35000"/>
            </a:spcAft>
            <a:buNone/>
          </a:pPr>
          <a:r>
            <a:rPr lang="en-US" sz="1800" kern="1200"/>
            <a:t>*Should I get tested? </a:t>
          </a:r>
        </a:p>
      </dsp:txBody>
      <dsp:txXfrm>
        <a:off x="3346021" y="1071765"/>
        <a:ext cx="1385156" cy="1090810"/>
      </dsp:txXfrm>
    </dsp:sp>
    <dsp:sp modelId="{0912A342-9C2D-4B89-9E24-EA32063470F8}">
      <dsp:nvSpPr>
        <dsp:cNvPr id="0" name=""/>
        <dsp:cNvSpPr/>
      </dsp:nvSpPr>
      <dsp:spPr>
        <a:xfrm>
          <a:off x="5354498" y="145748"/>
          <a:ext cx="623320" cy="62332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94617462-7C8C-437D-ABE2-14DAEACD2DB8}">
      <dsp:nvSpPr>
        <dsp:cNvPr id="0" name=""/>
        <dsp:cNvSpPr/>
      </dsp:nvSpPr>
      <dsp:spPr>
        <a:xfrm>
          <a:off x="4973580" y="1071765"/>
          <a:ext cx="1385156" cy="10908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00100">
            <a:lnSpc>
              <a:spcPct val="100000"/>
            </a:lnSpc>
            <a:spcBef>
              <a:spcPct val="0"/>
            </a:spcBef>
            <a:spcAft>
              <a:spcPct val="35000"/>
            </a:spcAft>
            <a:buNone/>
          </a:pPr>
          <a:r>
            <a:rPr lang="en-US" sz="1800" kern="1200"/>
            <a:t>*Should I isolate? </a:t>
          </a:r>
        </a:p>
      </dsp:txBody>
      <dsp:txXfrm>
        <a:off x="4973580" y="1071765"/>
        <a:ext cx="1385156" cy="1090810"/>
      </dsp:txXfrm>
    </dsp:sp>
    <dsp:sp modelId="{85C69CED-C3EF-4B7B-B383-B55AD0855868}">
      <dsp:nvSpPr>
        <dsp:cNvPr id="0" name=""/>
        <dsp:cNvSpPr/>
      </dsp:nvSpPr>
      <dsp:spPr>
        <a:xfrm>
          <a:off x="6982057" y="145748"/>
          <a:ext cx="623320" cy="62332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6E47A94E-9758-476F-8BDA-FABC0F59FF8F}">
      <dsp:nvSpPr>
        <dsp:cNvPr id="0" name=""/>
        <dsp:cNvSpPr/>
      </dsp:nvSpPr>
      <dsp:spPr>
        <a:xfrm>
          <a:off x="6601139" y="1071765"/>
          <a:ext cx="1385156" cy="10908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00100">
            <a:lnSpc>
              <a:spcPct val="100000"/>
            </a:lnSpc>
            <a:spcBef>
              <a:spcPct val="0"/>
            </a:spcBef>
            <a:spcAft>
              <a:spcPct val="35000"/>
            </a:spcAft>
            <a:buNone/>
          </a:pPr>
          <a:r>
            <a:rPr lang="en-US" sz="1800" kern="1200"/>
            <a:t>*Do I need medical care? </a:t>
          </a:r>
        </a:p>
      </dsp:txBody>
      <dsp:txXfrm>
        <a:off x="6601139" y="1071765"/>
        <a:ext cx="1385156" cy="109081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BD9E159-4552-524B-A580-D6AE02E8DD95}">
      <dsp:nvSpPr>
        <dsp:cNvPr id="0" name=""/>
        <dsp:cNvSpPr/>
      </dsp:nvSpPr>
      <dsp:spPr>
        <a:xfrm>
          <a:off x="916483" y="1984"/>
          <a:ext cx="2030015" cy="1218009"/>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dirty="0"/>
            <a:t>Knowledge base with tier assignments</a:t>
          </a:r>
        </a:p>
      </dsp:txBody>
      <dsp:txXfrm>
        <a:off x="916483" y="1984"/>
        <a:ext cx="2030015" cy="1218009"/>
      </dsp:txXfrm>
    </dsp:sp>
    <dsp:sp modelId="{4EE70241-ABA4-F14C-BC15-C3790401A3E9}">
      <dsp:nvSpPr>
        <dsp:cNvPr id="0" name=""/>
        <dsp:cNvSpPr/>
      </dsp:nvSpPr>
      <dsp:spPr>
        <a:xfrm>
          <a:off x="3149500" y="1984"/>
          <a:ext cx="2030015" cy="1218009"/>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dirty="0"/>
            <a:t>Apply temporal rules to determine which variables come first</a:t>
          </a:r>
        </a:p>
      </dsp:txBody>
      <dsp:txXfrm>
        <a:off x="3149500" y="1984"/>
        <a:ext cx="2030015" cy="1218009"/>
      </dsp:txXfrm>
    </dsp:sp>
    <dsp:sp modelId="{25424453-12AE-0E4D-B38A-3A26B7E8977E}">
      <dsp:nvSpPr>
        <dsp:cNvPr id="0" name=""/>
        <dsp:cNvSpPr/>
      </dsp:nvSpPr>
      <dsp:spPr>
        <a:xfrm>
          <a:off x="916483" y="1422995"/>
          <a:ext cx="2030015" cy="1218009"/>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dirty="0"/>
            <a:t>Calculated Pair wise associations and frequences</a:t>
          </a:r>
        </a:p>
      </dsp:txBody>
      <dsp:txXfrm>
        <a:off x="916483" y="1422995"/>
        <a:ext cx="2030015" cy="1218009"/>
      </dsp:txXfrm>
    </dsp:sp>
    <dsp:sp modelId="{E48BCB83-18BE-B047-AE3A-683161A2D6CA}">
      <dsp:nvSpPr>
        <dsp:cNvPr id="0" name=""/>
        <dsp:cNvSpPr/>
      </dsp:nvSpPr>
      <dsp:spPr>
        <a:xfrm>
          <a:off x="3149500" y="1422995"/>
          <a:ext cx="2030015" cy="1218009"/>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dirty="0"/>
            <a:t>Ran Lasso Regression with Pair wise and triple interactions</a:t>
          </a:r>
        </a:p>
      </dsp:txBody>
      <dsp:txXfrm>
        <a:off x="3149500" y="1422995"/>
        <a:ext cx="2030015" cy="1218009"/>
      </dsp:txXfrm>
    </dsp:sp>
    <dsp:sp modelId="{8FF30308-7918-6F4F-8220-E5E3D0650161}">
      <dsp:nvSpPr>
        <dsp:cNvPr id="0" name=""/>
        <dsp:cNvSpPr/>
      </dsp:nvSpPr>
      <dsp:spPr>
        <a:xfrm>
          <a:off x="916483" y="2844006"/>
          <a:ext cx="2030015" cy="1218009"/>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dirty="0"/>
            <a:t>Built a Markov Blanket Network showing parents and child relationships</a:t>
          </a:r>
        </a:p>
      </dsp:txBody>
      <dsp:txXfrm>
        <a:off x="916483" y="2844006"/>
        <a:ext cx="2030015" cy="1218009"/>
      </dsp:txXfrm>
    </dsp:sp>
    <dsp:sp modelId="{B6859056-E6F3-EF42-B6BC-828FF6AA1FB0}">
      <dsp:nvSpPr>
        <dsp:cNvPr id="0" name=""/>
        <dsp:cNvSpPr/>
      </dsp:nvSpPr>
      <dsp:spPr>
        <a:xfrm>
          <a:off x="3149500" y="2844006"/>
          <a:ext cx="2030015" cy="1218009"/>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dirty="0"/>
            <a:t>Implemented the DEMI algorithm to make final predictions</a:t>
          </a:r>
        </a:p>
      </dsp:txBody>
      <dsp:txXfrm>
        <a:off x="3149500" y="2844006"/>
        <a:ext cx="2030015" cy="1218009"/>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D0CE68B-5374-7448-B021-E79E04D57280}">
      <dsp:nvSpPr>
        <dsp:cNvPr id="0" name=""/>
        <dsp:cNvSpPr/>
      </dsp:nvSpPr>
      <dsp:spPr>
        <a:xfrm>
          <a:off x="4471" y="2211514"/>
          <a:ext cx="1386023" cy="1630743"/>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US" sz="1500" kern="1200" dirty="0"/>
            <a:t>Tier 0</a:t>
          </a:r>
        </a:p>
        <a:p>
          <a:pPr marL="0" lvl="0" indent="0" algn="ctr" defTabSz="666750">
            <a:lnSpc>
              <a:spcPct val="90000"/>
            </a:lnSpc>
            <a:spcBef>
              <a:spcPct val="0"/>
            </a:spcBef>
            <a:spcAft>
              <a:spcPct val="35000"/>
            </a:spcAft>
            <a:buNone/>
          </a:pPr>
          <a:r>
            <a:rPr lang="en-US" sz="1500" kern="1200" dirty="0"/>
            <a:t>Demographics</a:t>
          </a:r>
        </a:p>
        <a:p>
          <a:pPr marL="0" lvl="0" indent="0" algn="ctr" defTabSz="666750">
            <a:lnSpc>
              <a:spcPct val="90000"/>
            </a:lnSpc>
            <a:spcBef>
              <a:spcPct val="0"/>
            </a:spcBef>
            <a:spcAft>
              <a:spcPct val="35000"/>
            </a:spcAft>
            <a:buNone/>
          </a:pPr>
          <a:endParaRPr lang="en-US" sz="1500" kern="1200" dirty="0"/>
        </a:p>
        <a:p>
          <a:pPr marL="0" lvl="0" indent="0" algn="ctr" defTabSz="666750">
            <a:lnSpc>
              <a:spcPct val="90000"/>
            </a:lnSpc>
            <a:spcBef>
              <a:spcPct val="0"/>
            </a:spcBef>
            <a:spcAft>
              <a:spcPct val="35000"/>
            </a:spcAft>
            <a:buNone/>
          </a:pPr>
          <a:r>
            <a:rPr lang="en-US" sz="1500" kern="1200" dirty="0"/>
            <a:t>Age, sex, race, ethnicity</a:t>
          </a:r>
        </a:p>
      </dsp:txBody>
      <dsp:txXfrm>
        <a:off x="45066" y="2252109"/>
        <a:ext cx="1304833" cy="1549553"/>
      </dsp:txXfrm>
    </dsp:sp>
    <dsp:sp modelId="{C65B7FDE-0F95-AD40-97A7-6ADC3DF56A16}">
      <dsp:nvSpPr>
        <dsp:cNvPr id="0" name=""/>
        <dsp:cNvSpPr/>
      </dsp:nvSpPr>
      <dsp:spPr>
        <a:xfrm>
          <a:off x="1529097" y="2855019"/>
          <a:ext cx="293837" cy="343733"/>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en-US" sz="1200" kern="1200"/>
        </a:p>
      </dsp:txBody>
      <dsp:txXfrm>
        <a:off x="1529097" y="2923766"/>
        <a:ext cx="205686" cy="206239"/>
      </dsp:txXfrm>
    </dsp:sp>
    <dsp:sp modelId="{FDC9252B-E006-F74A-9A15-CFD749C51F97}">
      <dsp:nvSpPr>
        <dsp:cNvPr id="0" name=""/>
        <dsp:cNvSpPr/>
      </dsp:nvSpPr>
      <dsp:spPr>
        <a:xfrm>
          <a:off x="1944904" y="2211514"/>
          <a:ext cx="1386023" cy="1630743"/>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US" sz="1500" kern="1200" dirty="0"/>
            <a:t>Tier 1</a:t>
          </a:r>
        </a:p>
        <a:p>
          <a:pPr marL="0" lvl="0" indent="0" algn="ctr" defTabSz="666750">
            <a:lnSpc>
              <a:spcPct val="90000"/>
            </a:lnSpc>
            <a:spcBef>
              <a:spcPct val="0"/>
            </a:spcBef>
            <a:spcAft>
              <a:spcPct val="35000"/>
            </a:spcAft>
            <a:buNone/>
          </a:pPr>
          <a:r>
            <a:rPr lang="en-US" sz="1500" kern="1200" dirty="0"/>
            <a:t>Vaccinations</a:t>
          </a:r>
        </a:p>
        <a:p>
          <a:pPr marL="0" lvl="0" indent="0" algn="ctr" defTabSz="666750">
            <a:lnSpc>
              <a:spcPct val="90000"/>
            </a:lnSpc>
            <a:spcBef>
              <a:spcPct val="0"/>
            </a:spcBef>
            <a:spcAft>
              <a:spcPct val="35000"/>
            </a:spcAft>
            <a:buNone/>
          </a:pPr>
          <a:endParaRPr lang="en-US" sz="1500" kern="1200" dirty="0"/>
        </a:p>
        <a:p>
          <a:pPr marL="0" lvl="0" indent="0" algn="ctr" defTabSz="666750">
            <a:lnSpc>
              <a:spcPct val="90000"/>
            </a:lnSpc>
            <a:spcBef>
              <a:spcPct val="0"/>
            </a:spcBef>
            <a:spcAft>
              <a:spcPct val="35000"/>
            </a:spcAft>
            <a:buNone/>
          </a:pPr>
          <a:r>
            <a:rPr lang="en-US" sz="1500" kern="1200" dirty="0"/>
            <a:t>COVID and Flu </a:t>
          </a:r>
          <a:r>
            <a:rPr lang="en-US" sz="1500" kern="1200" dirty="0" err="1"/>
            <a:t>Vacciation</a:t>
          </a:r>
          <a:r>
            <a:rPr lang="en-US" sz="1500" kern="1200" dirty="0"/>
            <a:t> status</a:t>
          </a:r>
        </a:p>
      </dsp:txBody>
      <dsp:txXfrm>
        <a:off x="1985499" y="2252109"/>
        <a:ext cx="1304833" cy="1549553"/>
      </dsp:txXfrm>
    </dsp:sp>
    <dsp:sp modelId="{C6DECFA0-A37D-7F4D-94E1-3313E666E2E4}">
      <dsp:nvSpPr>
        <dsp:cNvPr id="0" name=""/>
        <dsp:cNvSpPr/>
      </dsp:nvSpPr>
      <dsp:spPr>
        <a:xfrm>
          <a:off x="3469530" y="2855019"/>
          <a:ext cx="293837" cy="343733"/>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en-US" sz="1200" kern="1200"/>
        </a:p>
      </dsp:txBody>
      <dsp:txXfrm>
        <a:off x="3469530" y="2923766"/>
        <a:ext cx="205686" cy="206239"/>
      </dsp:txXfrm>
    </dsp:sp>
    <dsp:sp modelId="{33034828-CF5C-4B4D-A9F8-07D01E1BFC07}">
      <dsp:nvSpPr>
        <dsp:cNvPr id="0" name=""/>
        <dsp:cNvSpPr/>
      </dsp:nvSpPr>
      <dsp:spPr>
        <a:xfrm>
          <a:off x="3885338" y="2211514"/>
          <a:ext cx="1386023" cy="1630743"/>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US" sz="1500" kern="1200" dirty="0"/>
            <a:t>Tier 2</a:t>
          </a:r>
        </a:p>
        <a:p>
          <a:pPr marL="0" lvl="0" indent="0" algn="ctr" defTabSz="666750">
            <a:lnSpc>
              <a:spcPct val="90000"/>
            </a:lnSpc>
            <a:spcBef>
              <a:spcPct val="0"/>
            </a:spcBef>
            <a:spcAft>
              <a:spcPct val="35000"/>
            </a:spcAft>
            <a:buNone/>
          </a:pPr>
          <a:r>
            <a:rPr lang="en-US" sz="1500" kern="1200" dirty="0"/>
            <a:t>Symptoms</a:t>
          </a:r>
        </a:p>
        <a:p>
          <a:pPr marL="0" lvl="0" indent="0" algn="ctr" defTabSz="666750">
            <a:lnSpc>
              <a:spcPct val="90000"/>
            </a:lnSpc>
            <a:spcBef>
              <a:spcPct val="0"/>
            </a:spcBef>
            <a:spcAft>
              <a:spcPct val="35000"/>
            </a:spcAft>
            <a:buNone/>
          </a:pPr>
          <a:endParaRPr lang="en-US" sz="1500" kern="1200" dirty="0"/>
        </a:p>
        <a:p>
          <a:pPr marL="0" lvl="0" indent="0" algn="ctr" defTabSz="666750">
            <a:lnSpc>
              <a:spcPct val="90000"/>
            </a:lnSpc>
            <a:spcBef>
              <a:spcPct val="0"/>
            </a:spcBef>
            <a:spcAft>
              <a:spcPct val="35000"/>
            </a:spcAft>
            <a:buNone/>
          </a:pPr>
          <a:r>
            <a:rPr lang="en-US" sz="1500" kern="1200" dirty="0"/>
            <a:t>Self-observed </a:t>
          </a:r>
          <a:r>
            <a:rPr lang="en-US" sz="1500" kern="1200" dirty="0" err="1"/>
            <a:t>symtoms</a:t>
          </a:r>
          <a:endParaRPr lang="en-US" sz="1500" kern="1200" dirty="0"/>
        </a:p>
      </dsp:txBody>
      <dsp:txXfrm>
        <a:off x="3925933" y="2252109"/>
        <a:ext cx="1304833" cy="1549553"/>
      </dsp:txXfrm>
    </dsp:sp>
    <dsp:sp modelId="{71AF1EDD-1A25-5E4B-8E78-C128B8ED8FDE}">
      <dsp:nvSpPr>
        <dsp:cNvPr id="0" name=""/>
        <dsp:cNvSpPr/>
      </dsp:nvSpPr>
      <dsp:spPr>
        <a:xfrm>
          <a:off x="5409964" y="2855019"/>
          <a:ext cx="293837" cy="343733"/>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en-US" sz="1200" kern="1200"/>
        </a:p>
      </dsp:txBody>
      <dsp:txXfrm>
        <a:off x="5409964" y="2923766"/>
        <a:ext cx="205686" cy="206239"/>
      </dsp:txXfrm>
    </dsp:sp>
    <dsp:sp modelId="{FDAE7416-CAA7-274F-AF64-DBA052030B65}">
      <dsp:nvSpPr>
        <dsp:cNvPr id="0" name=""/>
        <dsp:cNvSpPr/>
      </dsp:nvSpPr>
      <dsp:spPr>
        <a:xfrm>
          <a:off x="5825771" y="2211514"/>
          <a:ext cx="1386023" cy="1630743"/>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US" sz="1500" kern="1200" dirty="0"/>
            <a:t>Tier 3</a:t>
          </a:r>
        </a:p>
        <a:p>
          <a:pPr marL="0" lvl="0" indent="0" algn="ctr" defTabSz="666750">
            <a:lnSpc>
              <a:spcPct val="90000"/>
            </a:lnSpc>
            <a:spcBef>
              <a:spcPct val="0"/>
            </a:spcBef>
            <a:spcAft>
              <a:spcPct val="35000"/>
            </a:spcAft>
            <a:buNone/>
          </a:pPr>
          <a:r>
            <a:rPr lang="en-US" sz="1500" kern="1200" dirty="0"/>
            <a:t>At-Home Test</a:t>
          </a:r>
        </a:p>
        <a:p>
          <a:pPr marL="0" lvl="0" indent="0" algn="ctr" defTabSz="666750">
            <a:lnSpc>
              <a:spcPct val="90000"/>
            </a:lnSpc>
            <a:spcBef>
              <a:spcPct val="0"/>
            </a:spcBef>
            <a:spcAft>
              <a:spcPct val="35000"/>
            </a:spcAft>
            <a:buNone/>
          </a:pPr>
          <a:endParaRPr lang="en-US" sz="1500" kern="1200" dirty="0"/>
        </a:p>
        <a:p>
          <a:pPr marL="0" lvl="0" indent="0" algn="ctr" defTabSz="666750">
            <a:lnSpc>
              <a:spcPct val="90000"/>
            </a:lnSpc>
            <a:spcBef>
              <a:spcPct val="0"/>
            </a:spcBef>
            <a:spcAft>
              <a:spcPct val="35000"/>
            </a:spcAft>
            <a:buNone/>
          </a:pPr>
          <a:r>
            <a:rPr lang="en-US" sz="1500" kern="1200" dirty="0"/>
            <a:t>Rapid test results</a:t>
          </a:r>
        </a:p>
      </dsp:txBody>
      <dsp:txXfrm>
        <a:off x="5866366" y="2252109"/>
        <a:ext cx="1304833" cy="1549553"/>
      </dsp:txXfrm>
    </dsp:sp>
    <dsp:sp modelId="{7BD9BC8F-9D86-9341-851B-1067571E2CC3}">
      <dsp:nvSpPr>
        <dsp:cNvPr id="0" name=""/>
        <dsp:cNvSpPr/>
      </dsp:nvSpPr>
      <dsp:spPr>
        <a:xfrm>
          <a:off x="7350397" y="2855019"/>
          <a:ext cx="293837" cy="343733"/>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en-US" sz="1200" kern="1200"/>
        </a:p>
      </dsp:txBody>
      <dsp:txXfrm>
        <a:off x="7350397" y="2923766"/>
        <a:ext cx="205686" cy="206239"/>
      </dsp:txXfrm>
    </dsp:sp>
    <dsp:sp modelId="{215AD6BF-49BA-5A49-A974-2600101620E1}">
      <dsp:nvSpPr>
        <dsp:cNvPr id="0" name=""/>
        <dsp:cNvSpPr/>
      </dsp:nvSpPr>
      <dsp:spPr>
        <a:xfrm>
          <a:off x="7766205" y="2211514"/>
          <a:ext cx="1386023" cy="1630743"/>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US" sz="1500" kern="1200" dirty="0"/>
            <a:t>Tier 4</a:t>
          </a:r>
        </a:p>
        <a:p>
          <a:pPr marL="0" lvl="0" indent="0" algn="ctr" defTabSz="666750">
            <a:lnSpc>
              <a:spcPct val="90000"/>
            </a:lnSpc>
            <a:spcBef>
              <a:spcPct val="0"/>
            </a:spcBef>
            <a:spcAft>
              <a:spcPct val="35000"/>
            </a:spcAft>
            <a:buNone/>
          </a:pPr>
          <a:r>
            <a:rPr lang="en-US" sz="1500" kern="1200" dirty="0"/>
            <a:t>PCR Outcome</a:t>
          </a:r>
        </a:p>
        <a:p>
          <a:pPr marL="0" lvl="0" indent="0" algn="ctr" defTabSz="666750">
            <a:lnSpc>
              <a:spcPct val="90000"/>
            </a:lnSpc>
            <a:spcBef>
              <a:spcPct val="0"/>
            </a:spcBef>
            <a:spcAft>
              <a:spcPct val="35000"/>
            </a:spcAft>
            <a:buNone/>
          </a:pPr>
          <a:r>
            <a:rPr lang="en-US" sz="1500" kern="1200" dirty="0"/>
            <a:t> </a:t>
          </a:r>
        </a:p>
        <a:p>
          <a:pPr marL="0" lvl="0" indent="0" algn="ctr" defTabSz="666750">
            <a:lnSpc>
              <a:spcPct val="90000"/>
            </a:lnSpc>
            <a:spcBef>
              <a:spcPct val="0"/>
            </a:spcBef>
            <a:spcAft>
              <a:spcPct val="35000"/>
            </a:spcAft>
            <a:buNone/>
          </a:pPr>
          <a:r>
            <a:rPr lang="en-US" sz="1500" kern="1200" dirty="0"/>
            <a:t>Lab confirmed COVID-19</a:t>
          </a:r>
        </a:p>
      </dsp:txBody>
      <dsp:txXfrm>
        <a:off x="7806800" y="2252109"/>
        <a:ext cx="1304833" cy="1549553"/>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9D7138B-8B00-427E-BBCD-A9DFF32B5BB7}">
      <dsp:nvSpPr>
        <dsp:cNvPr id="0" name=""/>
        <dsp:cNvSpPr/>
      </dsp:nvSpPr>
      <dsp:spPr>
        <a:xfrm>
          <a:off x="984857" y="1370"/>
          <a:ext cx="849234" cy="849234"/>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58BD5B0-A08F-48D3-95E8-F1BD0965F891}">
      <dsp:nvSpPr>
        <dsp:cNvPr id="0" name=""/>
        <dsp:cNvSpPr/>
      </dsp:nvSpPr>
      <dsp:spPr>
        <a:xfrm>
          <a:off x="1165841" y="182354"/>
          <a:ext cx="487265" cy="487265"/>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E0AD6420-A247-44F6-9985-D6FBF39D6481}">
      <dsp:nvSpPr>
        <dsp:cNvPr id="0" name=""/>
        <dsp:cNvSpPr/>
      </dsp:nvSpPr>
      <dsp:spPr>
        <a:xfrm>
          <a:off x="713380" y="1115120"/>
          <a:ext cx="1392187" cy="5568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defRPr cap="all"/>
          </a:pPr>
          <a:r>
            <a:rPr lang="en-US" sz="1100" kern="1200"/>
            <a:t>Potential benefits:</a:t>
          </a:r>
        </a:p>
      </dsp:txBody>
      <dsp:txXfrm>
        <a:off x="713380" y="1115120"/>
        <a:ext cx="1392187" cy="556875"/>
      </dsp:txXfrm>
    </dsp:sp>
    <dsp:sp modelId="{AFB06A49-74C1-4118-8D67-E69DCD6C9F0F}">
      <dsp:nvSpPr>
        <dsp:cNvPr id="0" name=""/>
        <dsp:cNvSpPr/>
      </dsp:nvSpPr>
      <dsp:spPr>
        <a:xfrm>
          <a:off x="2620677" y="1370"/>
          <a:ext cx="849234" cy="849234"/>
        </a:xfrm>
        <a:prstGeom prst="ellipse">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B7A2953-F523-45FB-B0BF-637725E63020}">
      <dsp:nvSpPr>
        <dsp:cNvPr id="0" name=""/>
        <dsp:cNvSpPr/>
      </dsp:nvSpPr>
      <dsp:spPr>
        <a:xfrm>
          <a:off x="2801661" y="182354"/>
          <a:ext cx="487265" cy="487265"/>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D50BC285-9FEC-4168-91A0-DA3D4441BA10}">
      <dsp:nvSpPr>
        <dsp:cNvPr id="0" name=""/>
        <dsp:cNvSpPr/>
      </dsp:nvSpPr>
      <dsp:spPr>
        <a:xfrm>
          <a:off x="2349200" y="1115120"/>
          <a:ext cx="1392187" cy="5568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defRPr cap="all"/>
          </a:pPr>
          <a:r>
            <a:rPr lang="en-US" sz="1100" kern="1200" dirty="0"/>
            <a:t>•Earlier COVID screening</a:t>
          </a:r>
        </a:p>
      </dsp:txBody>
      <dsp:txXfrm>
        <a:off x="2349200" y="1115120"/>
        <a:ext cx="1392187" cy="556875"/>
      </dsp:txXfrm>
    </dsp:sp>
    <dsp:sp modelId="{6F7D4767-E451-4F7B-8D34-5653F4AE6510}">
      <dsp:nvSpPr>
        <dsp:cNvPr id="0" name=""/>
        <dsp:cNvSpPr/>
      </dsp:nvSpPr>
      <dsp:spPr>
        <a:xfrm>
          <a:off x="4256497" y="1370"/>
          <a:ext cx="849234" cy="849234"/>
        </a:xfrm>
        <a:prstGeom prst="ellipse">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1AE345F-6F1E-4E27-BF45-8C1904B82315}">
      <dsp:nvSpPr>
        <dsp:cNvPr id="0" name=""/>
        <dsp:cNvSpPr/>
      </dsp:nvSpPr>
      <dsp:spPr>
        <a:xfrm>
          <a:off x="4437482" y="182354"/>
          <a:ext cx="487265" cy="487265"/>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9C1D89C5-3B5D-4674-996C-737D8B48A2F7}">
      <dsp:nvSpPr>
        <dsp:cNvPr id="0" name=""/>
        <dsp:cNvSpPr/>
      </dsp:nvSpPr>
      <dsp:spPr>
        <a:xfrm>
          <a:off x="3985021" y="1115120"/>
          <a:ext cx="1392187" cy="5568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defRPr cap="all"/>
          </a:pPr>
          <a:r>
            <a:rPr lang="en-US" sz="1100" kern="1200" dirty="0"/>
            <a:t>Reduced unnecessary ER visits</a:t>
          </a:r>
        </a:p>
      </dsp:txBody>
      <dsp:txXfrm>
        <a:off x="3985021" y="1115120"/>
        <a:ext cx="1392187" cy="556875"/>
      </dsp:txXfrm>
    </dsp:sp>
    <dsp:sp modelId="{CC334E9C-67AD-48F3-8CD2-5A4A317CFD1E}">
      <dsp:nvSpPr>
        <dsp:cNvPr id="0" name=""/>
        <dsp:cNvSpPr/>
      </dsp:nvSpPr>
      <dsp:spPr>
        <a:xfrm>
          <a:off x="5892318" y="1370"/>
          <a:ext cx="849234" cy="849234"/>
        </a:xfrm>
        <a:prstGeom prst="ellipse">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E0AF8D2-8956-4C88-9BB6-B5005586F613}">
      <dsp:nvSpPr>
        <dsp:cNvPr id="0" name=""/>
        <dsp:cNvSpPr/>
      </dsp:nvSpPr>
      <dsp:spPr>
        <a:xfrm>
          <a:off x="6073302" y="182354"/>
          <a:ext cx="487265" cy="487265"/>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CA38042B-A656-4BE4-A778-76C9A431347D}">
      <dsp:nvSpPr>
        <dsp:cNvPr id="0" name=""/>
        <dsp:cNvSpPr/>
      </dsp:nvSpPr>
      <dsp:spPr>
        <a:xfrm>
          <a:off x="5620841" y="1115120"/>
          <a:ext cx="1392187" cy="5568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defRPr cap="all"/>
          </a:pPr>
          <a:r>
            <a:rPr lang="en-US" sz="1100" kern="1200" dirty="0"/>
            <a:t>Improved testing decisions</a:t>
          </a:r>
        </a:p>
      </dsp:txBody>
      <dsp:txXfrm>
        <a:off x="5620841" y="1115120"/>
        <a:ext cx="1392187" cy="556875"/>
      </dsp:txXfrm>
    </dsp:sp>
    <dsp:sp modelId="{ADBE97C7-F4AA-4FF4-8252-46947DD3051C}">
      <dsp:nvSpPr>
        <dsp:cNvPr id="0" name=""/>
        <dsp:cNvSpPr/>
      </dsp:nvSpPr>
      <dsp:spPr>
        <a:xfrm>
          <a:off x="7528138" y="1370"/>
          <a:ext cx="849234" cy="849234"/>
        </a:xfrm>
        <a:prstGeom prst="ellipse">
          <a:avLst/>
        </a:prstGeom>
        <a:solidFill>
          <a:schemeClr val="accent6">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0DD6B0B-ADB4-4B21-853A-429505EE14F8}">
      <dsp:nvSpPr>
        <dsp:cNvPr id="0" name=""/>
        <dsp:cNvSpPr/>
      </dsp:nvSpPr>
      <dsp:spPr>
        <a:xfrm>
          <a:off x="7709122" y="182354"/>
          <a:ext cx="487265" cy="487265"/>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B7B647C1-F636-4D42-9E48-6E416C2D49FF}">
      <dsp:nvSpPr>
        <dsp:cNvPr id="0" name=""/>
        <dsp:cNvSpPr/>
      </dsp:nvSpPr>
      <dsp:spPr>
        <a:xfrm>
          <a:off x="7256661" y="1115120"/>
          <a:ext cx="1392187" cy="5568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defRPr cap="all"/>
          </a:pPr>
          <a:r>
            <a:rPr lang="en-US" sz="1100" kern="1200" dirty="0"/>
            <a:t>Better pre-clinical triage</a:t>
          </a:r>
        </a:p>
      </dsp:txBody>
      <dsp:txXfrm>
        <a:off x="7256661" y="1115120"/>
        <a:ext cx="1392187" cy="556875"/>
      </dsp:txXfrm>
    </dsp:sp>
    <dsp:sp modelId="{7D7F406E-E092-4571-B8F9-701ABCB69AD3}">
      <dsp:nvSpPr>
        <dsp:cNvPr id="0" name=""/>
        <dsp:cNvSpPr/>
      </dsp:nvSpPr>
      <dsp:spPr>
        <a:xfrm>
          <a:off x="3438587" y="2020041"/>
          <a:ext cx="849234" cy="849234"/>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60C75DB-4FE6-4204-B99C-9FAB556B7C1E}">
      <dsp:nvSpPr>
        <dsp:cNvPr id="0" name=""/>
        <dsp:cNvSpPr/>
      </dsp:nvSpPr>
      <dsp:spPr>
        <a:xfrm>
          <a:off x="3619572" y="2201026"/>
          <a:ext cx="487265" cy="487265"/>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9FA4F229-A4A0-49BE-9340-343B3669EA17}">
      <dsp:nvSpPr>
        <dsp:cNvPr id="0" name=""/>
        <dsp:cNvSpPr/>
      </dsp:nvSpPr>
      <dsp:spPr>
        <a:xfrm>
          <a:off x="3167111" y="3133791"/>
          <a:ext cx="1392187" cy="5568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defRPr cap="all"/>
          </a:pPr>
          <a:r>
            <a:rPr lang="en-US" sz="1100" kern="1200" dirty="0"/>
            <a:t>Transparent AI recommendations</a:t>
          </a:r>
        </a:p>
      </dsp:txBody>
      <dsp:txXfrm>
        <a:off x="3167111" y="3133791"/>
        <a:ext cx="1392187" cy="556875"/>
      </dsp:txXfrm>
    </dsp:sp>
    <dsp:sp modelId="{8B42048B-2E19-49E7-9909-52564ED15EFA}">
      <dsp:nvSpPr>
        <dsp:cNvPr id="0" name=""/>
        <dsp:cNvSpPr/>
      </dsp:nvSpPr>
      <dsp:spPr>
        <a:xfrm>
          <a:off x="5074407" y="2020041"/>
          <a:ext cx="849234" cy="849234"/>
        </a:xfrm>
        <a:prstGeom prst="ellipse">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5AA28D6-3941-4F74-B448-7BFFFF5CBDF2}">
      <dsp:nvSpPr>
        <dsp:cNvPr id="0" name=""/>
        <dsp:cNvSpPr/>
      </dsp:nvSpPr>
      <dsp:spPr>
        <a:xfrm>
          <a:off x="5255392" y="2201026"/>
          <a:ext cx="487265" cy="487265"/>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33ABB82B-84DD-47B6-AE5E-2BF5A589B3F4}">
      <dsp:nvSpPr>
        <dsp:cNvPr id="0" name=""/>
        <dsp:cNvSpPr/>
      </dsp:nvSpPr>
      <dsp:spPr>
        <a:xfrm>
          <a:off x="4802931" y="3133791"/>
          <a:ext cx="1392187" cy="5568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defRPr cap="all"/>
          </a:pPr>
          <a:r>
            <a:rPr lang="en-US" sz="1100" kern="1200" dirty="0"/>
            <a:t>Supports telehealth screening</a:t>
          </a:r>
        </a:p>
      </dsp:txBody>
      <dsp:txXfrm>
        <a:off x="4802931" y="3133791"/>
        <a:ext cx="1392187" cy="556875"/>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1A2027C-0134-A446-BDAD-20EBED93FB4E}">
      <dsp:nvSpPr>
        <dsp:cNvPr id="0" name=""/>
        <dsp:cNvSpPr/>
      </dsp:nvSpPr>
      <dsp:spPr>
        <a:xfrm>
          <a:off x="1116608" y="1023"/>
          <a:ext cx="2952640" cy="1771584"/>
        </a:xfrm>
        <a:prstGeom prst="rect">
          <a:avLst/>
        </a:prstGeom>
        <a:solidFill>
          <a:schemeClr val="accent4">
            <a:hueOff val="0"/>
            <a:satOff val="0"/>
            <a:lumOff val="0"/>
            <a:alphaOff val="0"/>
          </a:schemeClr>
        </a:solidFill>
        <a:ln w="31750" cap="flat"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a:t>This project showed that AI can help estimate COVID risk using only symptoms and health information available at home.</a:t>
          </a:r>
        </a:p>
      </dsp:txBody>
      <dsp:txXfrm>
        <a:off x="1116608" y="1023"/>
        <a:ext cx="2952640" cy="1771584"/>
      </dsp:txXfrm>
    </dsp:sp>
    <dsp:sp modelId="{19D93C4B-F2A7-3D49-9BCA-2E3B72137BDD}">
      <dsp:nvSpPr>
        <dsp:cNvPr id="0" name=""/>
        <dsp:cNvSpPr/>
      </dsp:nvSpPr>
      <dsp:spPr>
        <a:xfrm>
          <a:off x="4364513" y="1023"/>
          <a:ext cx="2952640" cy="1771584"/>
        </a:xfrm>
        <a:prstGeom prst="rect">
          <a:avLst/>
        </a:prstGeom>
        <a:solidFill>
          <a:schemeClr val="accent4">
            <a:hueOff val="0"/>
            <a:satOff val="0"/>
            <a:lumOff val="0"/>
            <a:alphaOff val="0"/>
          </a:schemeClr>
        </a:solidFill>
        <a:ln w="31750" cap="flat"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The tool worked especially well for: </a:t>
          </a:r>
        </a:p>
        <a:p>
          <a:pPr marL="0" lvl="0" indent="0" algn="ctr" defTabSz="755650">
            <a:lnSpc>
              <a:spcPct val="90000"/>
            </a:lnSpc>
            <a:spcBef>
              <a:spcPct val="0"/>
            </a:spcBef>
            <a:spcAft>
              <a:spcPct val="35000"/>
            </a:spcAft>
            <a:buNone/>
          </a:pPr>
          <a:r>
            <a:rPr lang="en-US" sz="1700" kern="1200" dirty="0"/>
            <a:t>*identifying low-risk individuals</a:t>
          </a:r>
        </a:p>
        <a:p>
          <a:pPr marL="0" lvl="0" indent="0" algn="ctr" defTabSz="755650">
            <a:lnSpc>
              <a:spcPct val="90000"/>
            </a:lnSpc>
            <a:spcBef>
              <a:spcPct val="0"/>
            </a:spcBef>
            <a:spcAft>
              <a:spcPct val="35000"/>
            </a:spcAft>
            <a:buNone/>
          </a:pPr>
          <a:r>
            <a:rPr lang="en-US" sz="1700" kern="1200" dirty="0"/>
            <a:t>*encouraging early testing</a:t>
          </a:r>
        </a:p>
        <a:p>
          <a:pPr marL="0" lvl="0" indent="0" algn="ctr" defTabSz="755650">
            <a:lnSpc>
              <a:spcPct val="90000"/>
            </a:lnSpc>
            <a:spcBef>
              <a:spcPct val="0"/>
            </a:spcBef>
            <a:spcAft>
              <a:spcPct val="35000"/>
            </a:spcAft>
            <a:buNone/>
          </a:pPr>
          <a:r>
            <a:rPr lang="en-US" sz="1700" kern="1200" dirty="0"/>
            <a:t>*helping people decide when to see medial care </a:t>
          </a:r>
        </a:p>
      </dsp:txBody>
      <dsp:txXfrm>
        <a:off x="4364513" y="1023"/>
        <a:ext cx="2952640" cy="1771584"/>
      </dsp:txXfrm>
    </dsp:sp>
    <dsp:sp modelId="{222D1EF5-6762-5B41-AFE1-2CAE24BB6C6A}">
      <dsp:nvSpPr>
        <dsp:cNvPr id="0" name=""/>
        <dsp:cNvSpPr/>
      </dsp:nvSpPr>
      <dsp:spPr>
        <a:xfrm>
          <a:off x="2740560" y="2067871"/>
          <a:ext cx="2952640" cy="1771584"/>
        </a:xfrm>
        <a:prstGeom prst="rect">
          <a:avLst/>
        </a:prstGeom>
        <a:solidFill>
          <a:schemeClr val="accent4">
            <a:hueOff val="0"/>
            <a:satOff val="0"/>
            <a:lumOff val="0"/>
            <a:alphaOff val="0"/>
          </a:schemeClr>
        </a:solidFill>
        <a:ln w="31750" cap="flat"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a:t>Although it cannot replace professional testing or doctors, it demonstrates how machine learning can support early health decision-making during infectious disease outbreaks.</a:t>
          </a:r>
        </a:p>
      </dsp:txBody>
      <dsp:txXfrm>
        <a:off x="2740560" y="2067871"/>
        <a:ext cx="2952640" cy="1771584"/>
      </dsp:txXfrm>
    </dsp:sp>
  </dsp:spTree>
</dsp:drawing>
</file>

<file path=ppt/diagrams/layout1.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layout2.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18/5/layout/IconCircleLabelList">
  <dgm:title val="Icon Circle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layout5.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323088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Welcome to my final project presentation on COVID-19 prediction using DEMI methodology.</a:t>
            </a:r>
          </a:p>
          <a:p>
            <a:endParaRPr dirty="0"/>
          </a:p>
          <a:p>
            <a:r>
              <a:rPr dirty="0"/>
              <a:t>This project focused on estimating COVID-19 infection probability using only symptoms and information available at home before clinical evaluation.</a:t>
            </a:r>
          </a:p>
          <a:p>
            <a:endParaRPr dirty="0"/>
          </a:p>
          <a:p>
            <a:r>
              <a:rPr dirty="0"/>
              <a:t>The analysis used the MIT COVID-CARE Phase II dataset and combined DEMI methodology with repeated LASSO regressions to model symptom progression, direct effects, total effects, and final probabilities.</a:t>
            </a:r>
          </a:p>
          <a:p>
            <a:endParaRPr dirty="0"/>
          </a:p>
          <a:p>
            <a:r>
              <a:rPr dirty="0"/>
              <a:t>The project also evaluated symptom relationships such as fever, chills, fatigue, cough, and loss of taste or smell to determine how symptoms influenced COVID-19 positivity.</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primary goal of this project was to estimate COVID-19 infection probability before clinical evaluation.</a:t>
            </a:r>
          </a:p>
          <a:p>
            <a:endParaRPr/>
          </a:p>
          <a:p>
            <a:r>
              <a:t>The system focused entirely on symptoms and risk factors observable at home, allowing prediction prior to laboratory testing or physician evaluation.</a:t>
            </a:r>
          </a:p>
          <a:p>
            <a:endParaRPr/>
          </a:p>
          <a:p>
            <a:r>
              <a:t>DEMI methodology was selected because it models temporal order, causal relationships, direct effects, and total effects rather than functioning as a black-box prediction model.</a:t>
            </a:r>
          </a:p>
          <a:p>
            <a:endParaRPr/>
          </a:p>
          <a:p>
            <a:r>
              <a:t>This improves interpretability and allows symptom progression to be understood clinically.</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project used the MIT COVID-CARE Phase II dataset collected in 2021.</a:t>
            </a:r>
          </a:p>
          <a:p>
            <a:endParaRPr/>
          </a:p>
          <a:p>
            <a:r>
              <a:t>The dataset contained 822 participant records across 472 variables including symptoms, demographics, vaccination status, exposure history, and PCR-confirmed COVID-19 results.</a:t>
            </a:r>
          </a:p>
          <a:p>
            <a:endParaRPr/>
          </a:p>
          <a:p>
            <a:r>
              <a:t>Among the participants, 559 individuals had PCR-confirmed testing available, including 58 positive cases and 501 negative cases.</a:t>
            </a:r>
          </a:p>
          <a:p>
            <a:endParaRPr/>
          </a:p>
          <a:p>
            <a:r>
              <a:t>This produced a baseline COVID positivity rate of approximately 10.4 percent.</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70377843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dirty="0"/>
              <a:t>The DEMI network modeled symptom progression in clinical order.</a:t>
            </a:r>
            <a:r>
              <a:rPr lang="en-US" dirty="0"/>
              <a:t> The first step in DEMI methodology was establishing the temporal order of variables. Variables were arranged according to the expected clinical progression of COVID-19. Demographic variables and baseline risk factors occurred first, followed by exposure history, early systemic symptoms, respiratory symptoms, neurological symptoms, and final PCR-confirmed COVID-19 positivity.</a:t>
            </a:r>
          </a:p>
          <a:p>
            <a:endParaRPr dirty="0"/>
          </a:p>
          <a:p>
            <a:endParaRPr dirty="0"/>
          </a:p>
          <a:p>
            <a:r>
              <a:rPr dirty="0"/>
              <a:t>The progression generally began with exposure history followed by fatigue and systemic symptoms.</a:t>
            </a:r>
          </a:p>
          <a:p>
            <a:endParaRPr dirty="0"/>
          </a:p>
          <a:p>
            <a:r>
              <a:rPr dirty="0"/>
              <a:t>Fever and chills often occurred before respiratory symptoms including cough and sore throat.</a:t>
            </a:r>
          </a:p>
          <a:p>
            <a:endParaRPr dirty="0"/>
          </a:p>
          <a:p>
            <a:r>
              <a:rPr dirty="0"/>
              <a:t>Loss of taste and smell emerged as highly specific predictors before PCR-confirmed positivity.</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a:prstGeom prst="rect">
            <a:avLst/>
          </a:prstGeom>
          <a:noFill/>
          <a:ln w="12700">
            <a:solidFill>
              <a:prstClr val="black"/>
            </a:solidFill>
          </a:ln>
        </p:spPr>
      </p:sp>
      <p:sp>
        <p:nvSpPr>
          <p:cNvPr id="3" name="Notes Placeholder 2"/>
          <p:cNvSpPr>
            <a:spLocks noGrp="1"/>
          </p:cNvSpPr>
          <p:nvPr>
            <p:ph type="body" idx="1"/>
          </p:nvPr>
        </p:nvSpPr>
        <p:spPr>
          <a:xfrm>
            <a:off x="685800" y="4400550"/>
            <a:ext cx="5486400" cy="3600450"/>
          </a:xfrm>
          <a:prstGeom prst="rect">
            <a:avLst/>
          </a:prstGeom>
        </p:spPr>
        <p:txBody>
          <a:bodyPr/>
          <a:lstStyle/>
          <a:p>
            <a:pPr>
              <a:buFont typeface="Arial" panose="020B0604020202020204" pitchFamily="34" charset="0"/>
              <a:buChar char="•"/>
            </a:pPr>
            <a:r>
              <a:rPr lang="en-US" dirty="0"/>
              <a:t>Left → right represents temporal progression. </a:t>
            </a:r>
          </a:p>
          <a:p>
            <a:pPr>
              <a:buFont typeface="Arial" panose="020B0604020202020204" pitchFamily="34" charset="0"/>
              <a:buChar char="•"/>
            </a:pPr>
            <a:r>
              <a:rPr lang="en-US" dirty="0"/>
              <a:t>Tier 1 contains baseline risk variables. </a:t>
            </a:r>
          </a:p>
          <a:p>
            <a:pPr>
              <a:buFont typeface="Arial" panose="020B0604020202020204" pitchFamily="34" charset="0"/>
              <a:buChar char="•"/>
            </a:pPr>
            <a:r>
              <a:rPr lang="en-US" dirty="0"/>
              <a:t>Tier 2 contains exposure history. </a:t>
            </a:r>
          </a:p>
          <a:p>
            <a:pPr>
              <a:buFont typeface="Arial" panose="020B0604020202020204" pitchFamily="34" charset="0"/>
              <a:buChar char="•"/>
            </a:pPr>
            <a:r>
              <a:rPr lang="en-US" dirty="0"/>
              <a:t>Tier 3 contains early systemic symptoms. </a:t>
            </a:r>
          </a:p>
          <a:p>
            <a:pPr>
              <a:buFont typeface="Arial" panose="020B0604020202020204" pitchFamily="34" charset="0"/>
              <a:buChar char="•"/>
            </a:pPr>
            <a:r>
              <a:rPr lang="en-US" dirty="0"/>
              <a:t>Tier 4 contains respiratory/GI symptoms. </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Tier 5 </a:t>
            </a:r>
            <a:r>
              <a:rPr lang="en-US" dirty="0" err="1"/>
              <a:t>containshighlighted</a:t>
            </a:r>
            <a:r>
              <a:rPr lang="en-US" dirty="0"/>
              <a:t> nodes represent the Markov blanket/direct predictors retained after repeated LASSO regressions.</a:t>
            </a:r>
          </a:p>
          <a:p>
            <a:pPr>
              <a:buFont typeface="Arial" panose="020B0604020202020204" pitchFamily="34" charset="0"/>
              <a:buChar char="•"/>
            </a:pPr>
            <a:r>
              <a:rPr lang="en-US" dirty="0"/>
              <a:t> neurological symptoms and final COVID positivity. </a:t>
            </a:r>
          </a:p>
          <a:p>
            <a:pPr>
              <a:buFont typeface="Arial" panose="020B0604020202020204" pitchFamily="34" charset="0"/>
              <a:buChar char="•"/>
            </a:pPr>
            <a:r>
              <a:rPr lang="en-US" dirty="0"/>
              <a:t>The highlighted nodes represent the Markov blanket/direct predictors retained after repeated LASSO regressions.</a:t>
            </a:r>
          </a:p>
        </p:txBody>
      </p:sp>
    </p:spTree>
    <p:extLst>
      <p:ext uri="{BB962C8B-B14F-4D97-AF65-F5344CB8AC3E}">
        <p14:creationId xmlns:p14="http://schemas.microsoft.com/office/powerpoint/2010/main" val="66652918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sz="1200" b="0" i="1" kern="1200" dirty="0">
                <a:solidFill>
                  <a:schemeClr val="tx1"/>
                </a:solidFill>
                <a:effectLst/>
                <a:latin typeface="+mn-lt"/>
                <a:ea typeface="+mn-ea"/>
                <a:cs typeface="+mn-cs"/>
              </a:rPr>
              <a:t>To achieve this, we utilized the DEMI method. Unlike deep learning, which is a "black box," DEMI is transparent. We first ensure Temporal Order—meaning the data we use wasn't influenced by the test result itself. Then, we calculate the 'Total Effect' or Likelihood Ratio for every symptom. Finally, we combine these LRs using Bayes' Theorem to arrive at a final probability. This approach allows a doctor to see exactly why the AI reached its conclusion.</a:t>
            </a:r>
            <a:endParaRPr dirty="0"/>
          </a:p>
          <a:p>
            <a:r>
              <a:rPr dirty="0"/>
              <a:t>First, variables were organized into temporal order beginning with demographics and exposure history followed by symptoms and PCR positivity.</a:t>
            </a:r>
          </a:p>
          <a:p>
            <a:endParaRPr dirty="0"/>
          </a:p>
          <a:p>
            <a:r>
              <a:rPr dirty="0"/>
              <a:t>Second, total effects between symptoms and COVID positivity were calculated.</a:t>
            </a:r>
          </a:p>
          <a:p>
            <a:endParaRPr dirty="0"/>
          </a:p>
          <a:p>
            <a:r>
              <a:rPr dirty="0"/>
              <a:t>Third, repeated LASSO regressions identified direct predictors while removing weak coefficients.</a:t>
            </a:r>
          </a:p>
          <a:p>
            <a:endParaRPr dirty="0"/>
          </a:p>
          <a:p>
            <a:r>
              <a:rPr dirty="0"/>
              <a:t>Finally, the knowledgebase was used to estimate final COVID-19 probability.</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Repeated LASSO regressions were performed across temporally ordered variables.</a:t>
            </a:r>
          </a:p>
          <a:p>
            <a:endParaRPr/>
          </a:p>
          <a:p>
            <a:r>
              <a:t>Weak coefficients less than or equal to ±0.05 were removed from the final network structure.</a:t>
            </a:r>
          </a:p>
          <a:p>
            <a:endParaRPr/>
          </a:p>
          <a:p>
            <a:r>
              <a:t>Models with McFadden R-square values below 0.10 were excluded.</a:t>
            </a:r>
          </a:p>
          <a:p>
            <a:endParaRPr/>
          </a:p>
          <a:p>
            <a:r>
              <a:t>This reduced overfitting and retained only clinically meaningful relationships.</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The baseline COVID positivity rate in the dataset was approximately 10.4 percent.</a:t>
            </a:r>
          </a:p>
          <a:p>
            <a:endParaRPr dirty="0"/>
          </a:p>
          <a:p>
            <a:r>
              <a:rPr dirty="0"/>
              <a:t>Loss of taste and smell emerged as the strongest direct predictors of PCR-confirmed positivity.</a:t>
            </a:r>
          </a:p>
          <a:p>
            <a:endParaRPr dirty="0"/>
          </a:p>
          <a:p>
            <a:r>
              <a:rPr dirty="0"/>
              <a:t>Fever and chills demonstrated strong total effects within the network.</a:t>
            </a:r>
          </a:p>
          <a:p>
            <a:endParaRPr dirty="0"/>
          </a:p>
          <a:p>
            <a:r>
              <a:rPr dirty="0"/>
              <a:t>The DEMI model also demonstrated strong ability to identify low-risk individuals using symptom combinations.</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Several limitations existed within the project.</a:t>
            </a:r>
          </a:p>
          <a:p>
            <a:endParaRPr/>
          </a:p>
          <a:p>
            <a:r>
              <a:t>The dataset included only 58 PCR-positive cases which limited model generalizability.</a:t>
            </a:r>
          </a:p>
          <a:p>
            <a:endParaRPr/>
          </a:p>
          <a:p>
            <a:r>
              <a:t>Symptoms were self-reported and therefore subject to reporting bias.</a:t>
            </a:r>
          </a:p>
          <a:p>
            <a:endParaRPr/>
          </a:p>
          <a:p>
            <a:r>
              <a:t>In addition, the dataset was collected before later variants such as Omicron, which may demonstrate different symptom profiles.</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 conclusion, DEMI methodology provided a clinically useful framework for estimating COVID-19 probability using symptom progression and causal relationships.</a:t>
            </a:r>
          </a:p>
          <a:p>
            <a:endParaRPr/>
          </a:p>
          <a:p>
            <a:r>
              <a:t>The project demonstrated that symptom networks and probabilistic modeling can support early healthcare decision-making before clinical evaluation.</a:t>
            </a:r>
          </a:p>
          <a:p>
            <a:endParaRPr/>
          </a:p>
          <a:p>
            <a:r>
              <a:t>Although the system cannot replace PCR testing or physician diagnosis, it improves interpretability and supports pre-clinical screening decisions.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102240" y="2386744"/>
            <a:ext cx="6939520" cy="1645920"/>
          </a:xfrm>
          <a:solidFill>
            <a:srgbClr val="FFFFFF"/>
          </a:solidFill>
          <a:ln w="38100">
            <a:solidFill>
              <a:srgbClr val="404040"/>
            </a:solidFill>
          </a:ln>
        </p:spPr>
        <p:txBody>
          <a:bodyPr lIns="274320" rIns="274320" anchor="ctr" anchorCtr="1">
            <a:normAutofit/>
          </a:bodyPr>
          <a:lstStyle>
            <a:lvl1pPr algn="ctr">
              <a:defRPr sz="3500">
                <a:solidFill>
                  <a:srgbClr val="262626"/>
                </a:solidFill>
              </a:defRPr>
            </a:lvl1pPr>
          </a:lstStyle>
          <a:p>
            <a:r>
              <a:rPr lang="en-US"/>
              <a:t>Click to edit Master title style</a:t>
            </a:r>
            <a:endParaRPr lang="en-US" dirty="0"/>
          </a:p>
        </p:txBody>
      </p:sp>
      <p:sp>
        <p:nvSpPr>
          <p:cNvPr id="3" name="Subtitle 2"/>
          <p:cNvSpPr>
            <a:spLocks noGrp="1"/>
          </p:cNvSpPr>
          <p:nvPr>
            <p:ph type="subTitle" idx="1"/>
          </p:nvPr>
        </p:nvSpPr>
        <p:spPr>
          <a:xfrm>
            <a:off x="2021396" y="4352544"/>
            <a:ext cx="5101209" cy="1239894"/>
          </a:xfrm>
          <a:noFill/>
        </p:spPr>
        <p:txBody>
          <a:bodyPr>
            <a:normAutofit/>
          </a:bodyPr>
          <a:lstStyle>
            <a:lvl1pPr marL="0" indent="0" algn="ctr">
              <a:buNone/>
              <a:defRPr sz="1900">
                <a:solidFill>
                  <a:schemeClr val="tx1">
                    <a:lumMod val="75000"/>
                    <a:lumOff val="25000"/>
                  </a:schemeClr>
                </a:solidFill>
              </a:defRPr>
            </a:lvl1pPr>
            <a:lvl2pPr marL="457200" indent="0" algn="ctr">
              <a:buNone/>
              <a:defRPr sz="19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5/8/26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702538190"/>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5/8/26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2067392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106424" y="2386744"/>
            <a:ext cx="6940296" cy="1645920"/>
          </a:xfrm>
          <a:solidFill>
            <a:srgbClr val="FFFFFF"/>
          </a:solidFill>
          <a:ln w="38100">
            <a:solidFill>
              <a:srgbClr val="404040"/>
            </a:solidFill>
          </a:ln>
        </p:spPr>
        <p:txBody>
          <a:bodyPr lIns="274320" rIns="274320" anchor="ctr" anchorCtr="1">
            <a:normAutofit/>
          </a:bodyPr>
          <a:lstStyle>
            <a:lvl1pPr>
              <a:defRPr sz="3500">
                <a:solidFill>
                  <a:srgbClr val="262626"/>
                </a:solidFill>
              </a:defRPr>
            </a:lvl1pPr>
          </a:lstStyle>
          <a:p>
            <a:r>
              <a:rPr lang="en-US"/>
              <a:t>Click to edit Master title style</a:t>
            </a:r>
            <a:endParaRPr lang="en-US" dirty="0"/>
          </a:p>
        </p:txBody>
      </p:sp>
      <p:sp>
        <p:nvSpPr>
          <p:cNvPr id="3" name="Text Placeholder 2"/>
          <p:cNvSpPr>
            <a:spLocks noGrp="1"/>
          </p:cNvSpPr>
          <p:nvPr>
            <p:ph type="body" idx="1"/>
          </p:nvPr>
        </p:nvSpPr>
        <p:spPr>
          <a:xfrm>
            <a:off x="2021396" y="4352465"/>
            <a:ext cx="5101209" cy="1265082"/>
          </a:xfrm>
        </p:spPr>
        <p:txBody>
          <a:bodyPr anchor="t" anchorCtr="1">
            <a:normAutofit/>
          </a:bodyPr>
          <a:lstStyle>
            <a:lvl1pPr marL="0" indent="0">
              <a:buNone/>
              <a:defRPr sz="1900">
                <a:solidFill>
                  <a:schemeClr val="tx1"/>
                </a:solidFill>
              </a:defRPr>
            </a:lvl1pPr>
            <a:lvl2pPr marL="457200" indent="0">
              <a:buNone/>
              <a:defRPr sz="19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7" name="Date Placeholder 6"/>
          <p:cNvSpPr>
            <a:spLocks noGrp="1"/>
          </p:cNvSpPr>
          <p:nvPr>
            <p:ph type="dt" sz="half" idx="10"/>
          </p:nvPr>
        </p:nvSpPr>
        <p:spPr/>
        <p:txBody>
          <a:bodyPr/>
          <a:lstStyle/>
          <a:p>
            <a:fld id="{5BCAD085-E8A6-8845-BD4E-CB4CCA059FC4}" type="datetimeFigureOut">
              <a:rPr lang="en-US" smtClean="0"/>
              <a:t>5/8/26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54445071"/>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02239" y="2638044"/>
            <a:ext cx="3288023" cy="31019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753737" y="2638044"/>
            <a:ext cx="3290516" cy="31019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p:cNvSpPr>
            <a:spLocks noGrp="1"/>
          </p:cNvSpPr>
          <p:nvPr>
            <p:ph type="dt" sz="half" idx="10"/>
          </p:nvPr>
        </p:nvSpPr>
        <p:spPr/>
        <p:txBody>
          <a:bodyPr/>
          <a:lstStyle/>
          <a:p>
            <a:fld id="{5BCAD085-E8A6-8845-BD4E-CB4CCA059FC4}" type="datetimeFigureOut">
              <a:rPr lang="en-US" smtClean="0"/>
              <a:t>5/8/26</a:t>
            </a:fld>
            <a:endParaRPr lang="en-US"/>
          </a:p>
        </p:txBody>
      </p:sp>
      <p:sp>
        <p:nvSpPr>
          <p:cNvPr id="9" name="Footer Placeholder 8"/>
          <p:cNvSpPr>
            <a:spLocks noGrp="1"/>
          </p:cNvSpPr>
          <p:nvPr>
            <p:ph type="ftr" sz="quarter" idx="11"/>
          </p:nvPr>
        </p:nvSpPr>
        <p:spPr/>
        <p:txBody>
          <a:bodyPr/>
          <a:lstStyle/>
          <a:p>
            <a:endParaRPr lang="en-US"/>
          </a:p>
        </p:txBody>
      </p:sp>
      <p:sp>
        <p:nvSpPr>
          <p:cNvPr id="10" name="Slide Number Placeholder 9"/>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467095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102239" y="2313434"/>
            <a:ext cx="3288024" cy="704087"/>
          </a:xfrm>
        </p:spPr>
        <p:txBody>
          <a:bodyPr anchor="b" anchorCtr="1">
            <a:normAutofit/>
          </a:bodyPr>
          <a:lstStyle>
            <a:lvl1pPr marL="0" indent="0" algn="ctr">
              <a:buNone/>
              <a:defRPr sz="1900" b="0" cap="all" spc="100" baseline="0">
                <a:solidFill>
                  <a:schemeClr val="tx2"/>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02239" y="3143250"/>
            <a:ext cx="3288024" cy="25967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Content Placeholder 5"/>
          <p:cNvSpPr>
            <a:spLocks noGrp="1"/>
          </p:cNvSpPr>
          <p:nvPr>
            <p:ph sz="quarter" idx="4"/>
          </p:nvPr>
        </p:nvSpPr>
        <p:spPr>
          <a:xfrm>
            <a:off x="4753737" y="3143250"/>
            <a:ext cx="3290516" cy="2596776"/>
          </a:xfr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4"/>
          <p:cNvSpPr>
            <a:spLocks noGrp="1"/>
          </p:cNvSpPr>
          <p:nvPr>
            <p:ph type="body" sz="quarter" idx="13"/>
          </p:nvPr>
        </p:nvSpPr>
        <p:spPr>
          <a:xfrm>
            <a:off x="4753737" y="2313434"/>
            <a:ext cx="3290516" cy="704087"/>
          </a:xfrm>
        </p:spPr>
        <p:txBody>
          <a:bodyPr anchor="b" anchorCtr="1">
            <a:normAutofit/>
          </a:bodyPr>
          <a:lstStyle>
            <a:lvl1pPr marL="0" indent="0" algn="ctr">
              <a:buNone/>
              <a:defRPr sz="1900" b="0" cap="all" spc="100" baseline="0">
                <a:solidFill>
                  <a:schemeClr val="tx2"/>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7" name="Date Placeholder 6"/>
          <p:cNvSpPr>
            <a:spLocks noGrp="1"/>
          </p:cNvSpPr>
          <p:nvPr>
            <p:ph type="dt" sz="half" idx="10"/>
          </p:nvPr>
        </p:nvSpPr>
        <p:spPr/>
        <p:txBody>
          <a:bodyPr/>
          <a:lstStyle/>
          <a:p>
            <a:fld id="{5BCAD085-E8A6-8845-BD4E-CB4CCA059FC4}" type="datetimeFigureOut">
              <a:rPr lang="en-US" smtClean="0"/>
              <a:t>5/8/26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
        <p:nvSpPr>
          <p:cNvPr id="10" name="Title 9"/>
          <p:cNvSpPr>
            <a:spLocks noGrp="1"/>
          </p:cNvSpPr>
          <p:nvPr>
            <p:ph type="title"/>
          </p:nvPr>
        </p:nvSpPr>
        <p:spPr/>
        <p:txBody>
          <a:bodyPr/>
          <a:lstStyle/>
          <a:p>
            <a:r>
              <a:rPr lang="en-US"/>
              <a:t>Click to edit Master title style</a:t>
            </a:r>
            <a:endParaRPr lang="en-US" dirty="0"/>
          </a:p>
        </p:txBody>
      </p:sp>
    </p:spTree>
    <p:extLst>
      <p:ext uri="{BB962C8B-B14F-4D97-AF65-F5344CB8AC3E}">
        <p14:creationId xmlns:p14="http://schemas.microsoft.com/office/powerpoint/2010/main" val="265885438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BCAD085-E8A6-8845-BD4E-CB4CCA059FC4}" type="datetimeFigureOut">
              <a:rPr lang="en-US" smtClean="0"/>
              <a:t>5/8/26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181825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5/8/26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995357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6" name="Rectangle 25"/>
          <p:cNvSpPr/>
          <p:nvPr/>
        </p:nvSpPr>
        <p:spPr>
          <a:xfrm>
            <a:off x="0" y="0"/>
            <a:ext cx="4572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40703" y="2243829"/>
            <a:ext cx="3290594" cy="1141497"/>
          </a:xfrm>
          <a:solidFill>
            <a:srgbClr val="FFFFFF"/>
          </a:solidFill>
          <a:ln>
            <a:solidFill>
              <a:srgbClr val="404040"/>
            </a:solidFill>
          </a:ln>
        </p:spPr>
        <p:txBody>
          <a:bodyPr anchor="ctr" anchorCtr="1">
            <a:normAutofit/>
          </a:bodyPr>
          <a:lstStyle>
            <a:lvl1pPr>
              <a:defRPr sz="2100">
                <a:solidFill>
                  <a:srgbClr val="262626"/>
                </a:solidFill>
              </a:defRPr>
            </a:lvl1pPr>
          </a:lstStyle>
          <a:p>
            <a:r>
              <a:rPr lang="en-US"/>
              <a:t>Click to edit Master title style</a:t>
            </a:r>
            <a:endParaRPr lang="en-US" dirty="0"/>
          </a:p>
        </p:txBody>
      </p:sp>
      <p:sp>
        <p:nvSpPr>
          <p:cNvPr id="3" name="Content Placeholder 2"/>
          <p:cNvSpPr>
            <a:spLocks noGrp="1"/>
          </p:cNvSpPr>
          <p:nvPr>
            <p:ph idx="1"/>
          </p:nvPr>
        </p:nvSpPr>
        <p:spPr>
          <a:xfrm>
            <a:off x="5052060" y="804672"/>
            <a:ext cx="3611880" cy="5248656"/>
          </a:xfrm>
        </p:spPr>
        <p:txBody>
          <a:bodyPr>
            <a:normAutofit/>
          </a:bodyPr>
          <a:lstStyle>
            <a:lvl1pPr>
              <a:defRPr sz="1900">
                <a:solidFill>
                  <a:schemeClr val="tx1"/>
                </a:solidFill>
              </a:defRPr>
            </a:lvl1pPr>
            <a:lvl2pPr>
              <a:defRPr sz="1600">
                <a:solidFill>
                  <a:schemeClr val="tx1"/>
                </a:solidFill>
              </a:defRPr>
            </a:lvl2pPr>
            <a:lvl3pPr>
              <a:defRPr sz="1600">
                <a:solidFill>
                  <a:schemeClr val="tx1"/>
                </a:solidFill>
              </a:defRPr>
            </a:lvl3pPr>
            <a:lvl4pPr>
              <a:defRPr sz="1600">
                <a:solidFill>
                  <a:schemeClr val="tx1"/>
                </a:solidFill>
              </a:defRPr>
            </a:lvl4pPr>
            <a:lvl5pPr>
              <a:defRPr sz="1600">
                <a:solidFill>
                  <a:schemeClr val="tx1"/>
                </a:solidFill>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62965" y="3549918"/>
            <a:ext cx="2846070" cy="2194036"/>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Date Placeholder 8"/>
          <p:cNvSpPr>
            <a:spLocks noGrp="1"/>
          </p:cNvSpPr>
          <p:nvPr>
            <p:ph type="dt" sz="half" idx="10"/>
          </p:nvPr>
        </p:nvSpPr>
        <p:spPr/>
        <p:txBody>
          <a:bodyPr/>
          <a:lstStyle/>
          <a:p>
            <a:fld id="{5BCAD085-E8A6-8845-BD4E-CB4CCA059FC4}" type="datetimeFigureOut">
              <a:rPr lang="en-US" smtClean="0"/>
              <a:t>5/8/26</a:t>
            </a:fld>
            <a:endParaRPr lang="en-US"/>
          </a:p>
        </p:txBody>
      </p:sp>
      <p:sp>
        <p:nvSpPr>
          <p:cNvPr id="10" name="Footer Placeholder 9"/>
          <p:cNvSpPr>
            <a:spLocks noGrp="1"/>
          </p:cNvSpPr>
          <p:nvPr>
            <p:ph type="ftr" sz="quarter" idx="11"/>
          </p:nvPr>
        </p:nvSpPr>
        <p:spPr>
          <a:xfrm>
            <a:off x="640703" y="6236208"/>
            <a:ext cx="3806398" cy="320040"/>
          </a:xfrm>
        </p:spPr>
        <p:txBody>
          <a:bodyPr>
            <a:normAutofit/>
          </a:bodyPr>
          <a:lstStyle>
            <a:lvl1pPr>
              <a:defRPr>
                <a:solidFill>
                  <a:srgbClr val="FFFFFF">
                    <a:alpha val="70000"/>
                  </a:srgbClr>
                </a:solidFill>
              </a:defRPr>
            </a:lvl1pPr>
          </a:lstStyle>
          <a:p>
            <a:endParaRPr lang="en-US"/>
          </a:p>
        </p:txBody>
      </p:sp>
      <p:sp>
        <p:nvSpPr>
          <p:cNvPr id="11" name="Slide Number Placeholder 10"/>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09122541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1" name="Rectangle 10"/>
          <p:cNvSpPr/>
          <p:nvPr/>
        </p:nvSpPr>
        <p:spPr>
          <a:xfrm>
            <a:off x="0" y="0"/>
            <a:ext cx="4572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40080" y="2243828"/>
            <a:ext cx="3291840" cy="1143000"/>
          </a:xfrm>
          <a:solidFill>
            <a:srgbClr val="FFFFFF"/>
          </a:solidFill>
          <a:ln>
            <a:solidFill>
              <a:srgbClr val="262626"/>
            </a:solidFill>
          </a:ln>
        </p:spPr>
        <p:txBody>
          <a:bodyPr anchor="ctr" anchorCtr="1">
            <a:noAutofit/>
          </a:bodyPr>
          <a:lstStyle>
            <a:lvl1pPr>
              <a:defRPr sz="2100">
                <a:solidFill>
                  <a:srgbClr val="262626"/>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4572000" y="0"/>
            <a:ext cx="4576573" cy="6858000"/>
          </a:xfrm>
          <a:solidFill>
            <a:schemeClr val="bg1"/>
          </a:solidFill>
        </p:spPr>
        <p:txBody>
          <a:bodyPr anchor="t"/>
          <a:lstStyle>
            <a:lvl1pPr marL="0" indent="0">
              <a:buNone/>
              <a:defRPr sz="3200">
                <a:solidFill>
                  <a:schemeClr val="tx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62965" y="3549919"/>
            <a:ext cx="2846070" cy="2194037"/>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8" name="Date Placeholder 7"/>
          <p:cNvSpPr>
            <a:spLocks noGrp="1"/>
          </p:cNvSpPr>
          <p:nvPr>
            <p:ph type="dt" sz="half" idx="10"/>
          </p:nvPr>
        </p:nvSpPr>
        <p:spPr/>
        <p:txBody>
          <a:bodyPr/>
          <a:lstStyle>
            <a:lvl1pPr>
              <a:defRPr>
                <a:solidFill>
                  <a:srgbClr val="FFFFFF"/>
                </a:solidFill>
                <a:effectLst>
                  <a:outerShdw blurRad="50800" dist="38100" dir="2700000" algn="tl" rotWithShape="0">
                    <a:prstClr val="black">
                      <a:alpha val="43000"/>
                    </a:prstClr>
                  </a:outerShdw>
                </a:effectLst>
              </a:defRPr>
            </a:lvl1pPr>
          </a:lstStyle>
          <a:p>
            <a:fld id="{5BCAD085-E8A6-8845-BD4E-CB4CCA059FC4}" type="datetimeFigureOut">
              <a:rPr lang="en-US" smtClean="0"/>
              <a:t>5/8/26</a:t>
            </a:fld>
            <a:endParaRPr lang="en-US"/>
          </a:p>
        </p:txBody>
      </p:sp>
      <p:sp>
        <p:nvSpPr>
          <p:cNvPr id="9" name="Footer Placeholder 8"/>
          <p:cNvSpPr>
            <a:spLocks noGrp="1"/>
          </p:cNvSpPr>
          <p:nvPr>
            <p:ph type="ftr" sz="quarter" idx="11"/>
          </p:nvPr>
        </p:nvSpPr>
        <p:spPr>
          <a:xfrm>
            <a:off x="640080" y="6236208"/>
            <a:ext cx="3803904" cy="320040"/>
          </a:xfrm>
        </p:spPr>
        <p:txBody>
          <a:bodyPr>
            <a:normAutofit/>
          </a:bodyPr>
          <a:lstStyle>
            <a:lvl1pPr>
              <a:defRPr>
                <a:solidFill>
                  <a:srgbClr val="FFFFFF">
                    <a:alpha val="70000"/>
                  </a:srgbClr>
                </a:solidFill>
              </a:defRPr>
            </a:lvl1pPr>
          </a:lstStyle>
          <a:p>
            <a:endParaRPr lang="en-US" dirty="0"/>
          </a:p>
        </p:txBody>
      </p:sp>
      <p:sp>
        <p:nvSpPr>
          <p:cNvPr id="10" name="Slide Number Placeholder 9"/>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4379570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5/8/26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8063647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489834" y="937260"/>
            <a:ext cx="1053966" cy="498348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606046" y="937260"/>
            <a:ext cx="4716174" cy="498348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5/8/26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0100563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606045" y="964692"/>
            <a:ext cx="5937755" cy="1188720"/>
          </a:xfrm>
          <a:prstGeom prst="rect">
            <a:avLst/>
          </a:prstGeom>
          <a:solidFill>
            <a:schemeClr val="bg1"/>
          </a:solidFill>
          <a:ln w="31750" cap="sq">
            <a:solidFill>
              <a:schemeClr val="tx1">
                <a:lumMod val="75000"/>
                <a:lumOff val="25000"/>
              </a:schemeClr>
            </a:solidFill>
            <a:miter lim="800000"/>
          </a:ln>
        </p:spPr>
        <p:txBody>
          <a:bodyPr vert="horz" lIns="182880" tIns="182880" rIns="182880" bIns="18288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606045" y="2638045"/>
            <a:ext cx="5937755" cy="310198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978943" y="6238816"/>
            <a:ext cx="2065310" cy="323968"/>
          </a:xfrm>
          <a:prstGeom prst="rect">
            <a:avLst/>
          </a:prstGeom>
        </p:spPr>
        <p:txBody>
          <a:bodyPr vert="horz" lIns="91440" tIns="45720" rIns="91440" bIns="45720" rtlCol="0" anchor="ctr"/>
          <a:lstStyle>
            <a:lvl1pPr algn="r">
              <a:defRPr sz="1000">
                <a:solidFill>
                  <a:schemeClr val="tx1">
                    <a:alpha val="70000"/>
                  </a:schemeClr>
                </a:solidFill>
              </a:defRPr>
            </a:lvl1pPr>
          </a:lstStyle>
          <a:p>
            <a:fld id="{5BCAD085-E8A6-8845-BD4E-CB4CCA059FC4}" type="datetimeFigureOut">
              <a:rPr lang="en-US" smtClean="0"/>
              <a:t>5/8/26</a:t>
            </a:fld>
            <a:endParaRPr lang="en-US"/>
          </a:p>
        </p:txBody>
      </p:sp>
      <p:sp>
        <p:nvSpPr>
          <p:cNvPr id="5" name="Footer Placeholder 4"/>
          <p:cNvSpPr>
            <a:spLocks noGrp="1"/>
          </p:cNvSpPr>
          <p:nvPr>
            <p:ph type="ftr" sz="quarter" idx="3"/>
          </p:nvPr>
        </p:nvSpPr>
        <p:spPr>
          <a:xfrm>
            <a:off x="1102239" y="6236208"/>
            <a:ext cx="4556664" cy="320040"/>
          </a:xfrm>
          <a:prstGeom prst="rect">
            <a:avLst/>
          </a:prstGeom>
        </p:spPr>
        <p:txBody>
          <a:bodyPr vert="horz" lIns="91440" tIns="45720" rIns="91440" bIns="45720" rtlCol="0" anchor="ctr"/>
          <a:lstStyle>
            <a:lvl1pPr algn="l">
              <a:defRPr sz="1000">
                <a:solidFill>
                  <a:schemeClr val="tx1">
                    <a:alpha val="70000"/>
                  </a:schemeClr>
                </a:solidFill>
              </a:defRPr>
            </a:lvl1pPr>
          </a:lstStyle>
          <a:p>
            <a:endParaRPr lang="en-US"/>
          </a:p>
        </p:txBody>
      </p:sp>
      <p:sp>
        <p:nvSpPr>
          <p:cNvPr id="6" name="Slide Number Placeholder 5"/>
          <p:cNvSpPr>
            <a:spLocks noGrp="1"/>
          </p:cNvSpPr>
          <p:nvPr>
            <p:ph type="sldNum" sz="quarter" idx="4"/>
          </p:nvPr>
        </p:nvSpPr>
        <p:spPr>
          <a:xfrm>
            <a:off x="8240112" y="6217920"/>
            <a:ext cx="365760" cy="365760"/>
          </a:xfrm>
          <a:prstGeom prst="ellipse">
            <a:avLst/>
          </a:prstGeom>
          <a:solidFill>
            <a:srgbClr val="1D1D1D">
              <a:alpha val="69804"/>
            </a:srgbClr>
          </a:solidFill>
        </p:spPr>
        <p:txBody>
          <a:bodyPr vert="horz" lIns="18288" tIns="45720" rIns="18288" bIns="45720" rtlCol="0" anchor="ctr">
            <a:noAutofit/>
          </a:bodyPr>
          <a:lstStyle>
            <a:lvl1pPr algn="ctr">
              <a:defRPr sz="1100" spc="0" baseline="0">
                <a:solidFill>
                  <a:srgbClr val="FFFFFF"/>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741771136"/>
      </p:ext>
    </p:extLst>
  </p:cSld>
  <p:clrMap bg1="lt1" tx1="dk1" bg2="lt2" tx2="dk2" accent1="accent1" accent2="accent2" accent3="accent3" accent4="accent4" accent5="accent5" accent6="accent6" hlink="hlink" folHlink="folHlink"/>
  <p:sldLayoutIdLst>
    <p:sldLayoutId id="2147483934" r:id="rId1"/>
    <p:sldLayoutId id="2147483935" r:id="rId2"/>
    <p:sldLayoutId id="2147483936" r:id="rId3"/>
    <p:sldLayoutId id="2147483937" r:id="rId4"/>
    <p:sldLayoutId id="2147483938" r:id="rId5"/>
    <p:sldLayoutId id="2147483939" r:id="rId6"/>
    <p:sldLayoutId id="2147483940" r:id="rId7"/>
    <p:sldLayoutId id="2147483941" r:id="rId8"/>
    <p:sldLayoutId id="2147483942" r:id="rId9"/>
    <p:sldLayoutId id="2147483943" r:id="rId10"/>
    <p:sldLayoutId id="2147483944" r:id="rId11"/>
  </p:sldLayoutIdLst>
  <p:txStyles>
    <p:titleStyle>
      <a:lvl1pPr algn="ctr" defTabSz="914400" rtl="0" eaLnBrk="1" latinLnBrk="0" hangingPunct="1">
        <a:lnSpc>
          <a:spcPct val="90000"/>
        </a:lnSpc>
        <a:spcBef>
          <a:spcPct val="0"/>
        </a:spcBef>
        <a:buNone/>
        <a:defRPr sz="2600" kern="1200" cap="all" spc="200" baseline="0">
          <a:solidFill>
            <a:schemeClr val="tx1">
              <a:lumMod val="85000"/>
              <a:lumOff val="15000"/>
            </a:schemeClr>
          </a:solidFill>
          <a:latin typeface="+mj-lt"/>
          <a:ea typeface="+mj-ea"/>
          <a:cs typeface="+mj-cs"/>
        </a:defRPr>
      </a:lvl1pPr>
    </p:titleStyle>
    <p:body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800" kern="1200">
          <a:solidFill>
            <a:schemeClr val="tx1">
              <a:lumMod val="85000"/>
              <a:lumOff val="15000"/>
            </a:schemeClr>
          </a:solidFill>
          <a:latin typeface="+mn-lt"/>
          <a:ea typeface="+mn-ea"/>
          <a:cs typeface="+mn-cs"/>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5pPr>
      <a:lvl6pPr marL="13144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59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28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5.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36440F8D-CBA8-EABC-DF82-94ADD6571D91}"/>
              </a:ext>
            </a:extLst>
          </p:cNvPr>
          <p:cNvSpPr>
            <a:spLocks noGrp="1"/>
          </p:cNvSpPr>
          <p:nvPr>
            <p:ph type="title"/>
          </p:nvPr>
        </p:nvSpPr>
        <p:spPr>
          <a:xfrm>
            <a:off x="1479045" y="2362200"/>
            <a:ext cx="5937755" cy="1543812"/>
          </a:xfrm>
        </p:spPr>
        <p:txBody>
          <a:bodyPr>
            <a:noAutofit/>
          </a:bodyPr>
          <a:lstStyle/>
          <a:p>
            <a:r>
              <a:rPr lang="en-US" sz="3200" dirty="0"/>
              <a:t>At-home COVID-19 Prediction using Demi methodology</a:t>
            </a:r>
          </a:p>
        </p:txBody>
      </p:sp>
      <p:sp>
        <p:nvSpPr>
          <p:cNvPr id="6" name="TextBox 5">
            <a:extLst>
              <a:ext uri="{FF2B5EF4-FFF2-40B4-BE49-F238E27FC236}">
                <a16:creationId xmlns:a16="http://schemas.microsoft.com/office/drawing/2014/main" id="{93E71334-C663-C4FC-4D30-68C0F279DB52}"/>
              </a:ext>
            </a:extLst>
          </p:cNvPr>
          <p:cNvSpPr txBox="1"/>
          <p:nvPr/>
        </p:nvSpPr>
        <p:spPr>
          <a:xfrm>
            <a:off x="7121494" y="5429597"/>
            <a:ext cx="1926233" cy="1323439"/>
          </a:xfrm>
          <a:prstGeom prst="rect">
            <a:avLst/>
          </a:prstGeom>
          <a:noFill/>
        </p:spPr>
        <p:txBody>
          <a:bodyPr wrap="none" rtlCol="0">
            <a:spAutoFit/>
          </a:bodyPr>
          <a:lstStyle/>
          <a:p>
            <a:r>
              <a:rPr lang="en-US" sz="2000" dirty="0"/>
              <a:t>Abigail Morton</a:t>
            </a:r>
          </a:p>
          <a:p>
            <a:r>
              <a:rPr lang="en-US" sz="2000" dirty="0"/>
              <a:t>Dr. Abdul Hafeez</a:t>
            </a:r>
          </a:p>
          <a:p>
            <a:r>
              <a:rPr lang="en-US" sz="2000" dirty="0"/>
              <a:t>HI 823</a:t>
            </a:r>
          </a:p>
          <a:p>
            <a:r>
              <a:rPr lang="en-US" sz="2000" dirty="0"/>
              <a:t>Spring 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a:t>Core question</a:t>
            </a:r>
            <a:endParaRPr sz="3200" dirty="0"/>
          </a:p>
        </p:txBody>
      </p:sp>
      <p:sp>
        <p:nvSpPr>
          <p:cNvPr id="3" name="Content Placeholder 2"/>
          <p:cNvSpPr>
            <a:spLocks noGrp="1"/>
          </p:cNvSpPr>
          <p:nvPr>
            <p:ph idx="1"/>
          </p:nvPr>
        </p:nvSpPr>
        <p:spPr/>
        <p:txBody>
          <a:bodyPr>
            <a:normAutofit/>
          </a:bodyPr>
          <a:lstStyle/>
          <a:p>
            <a:pPr marL="0" indent="0" algn="ctr">
              <a:buNone/>
            </a:pPr>
            <a:r>
              <a:rPr lang="en-US" sz="3200" dirty="0"/>
              <a:t>Can we screen for COVID-19 before clinical contact?</a:t>
            </a:r>
            <a:endParaRPr sz="3200" dirty="0"/>
          </a:p>
        </p:txBody>
      </p:sp>
      <p:graphicFrame>
        <p:nvGraphicFramePr>
          <p:cNvPr id="8" name="TextBox 3">
            <a:extLst>
              <a:ext uri="{FF2B5EF4-FFF2-40B4-BE49-F238E27FC236}">
                <a16:creationId xmlns:a16="http://schemas.microsoft.com/office/drawing/2014/main" id="{5F73B143-3B4F-B985-C806-AC2C495E2676}"/>
              </a:ext>
            </a:extLst>
          </p:cNvPr>
          <p:cNvGraphicFramePr/>
          <p:nvPr>
            <p:extLst>
              <p:ext uri="{D42A27DB-BD31-4B8C-83A1-F6EECF244321}">
                <p14:modId xmlns:p14="http://schemas.microsoft.com/office/powerpoint/2010/main" val="3684540173"/>
              </p:ext>
            </p:extLst>
          </p:nvPr>
        </p:nvGraphicFramePr>
        <p:xfrm>
          <a:off x="393700" y="3916337"/>
          <a:ext cx="8077200" cy="230832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03504" y="964692"/>
            <a:ext cx="2300202" cy="1188720"/>
          </a:xfrm>
        </p:spPr>
        <p:txBody>
          <a:bodyPr vert="horz" lIns="182880" tIns="182880" rIns="182880" bIns="182880" rtlCol="0" anchor="ctr">
            <a:normAutofit fontScale="90000"/>
          </a:bodyPr>
          <a:lstStyle/>
          <a:p>
            <a:r>
              <a:rPr lang="en-US" sz="3600" dirty="0"/>
              <a:t>Dataset</a:t>
            </a:r>
          </a:p>
        </p:txBody>
      </p:sp>
      <p:sp>
        <p:nvSpPr>
          <p:cNvPr id="7" name="TextBox 6">
            <a:extLst>
              <a:ext uri="{FF2B5EF4-FFF2-40B4-BE49-F238E27FC236}">
                <a16:creationId xmlns:a16="http://schemas.microsoft.com/office/drawing/2014/main" id="{2C573C46-B870-F7E3-C5AB-38C7DC439BFD}"/>
              </a:ext>
            </a:extLst>
          </p:cNvPr>
          <p:cNvSpPr txBox="1"/>
          <p:nvPr/>
        </p:nvSpPr>
        <p:spPr>
          <a:xfrm>
            <a:off x="602433" y="2638044"/>
            <a:ext cx="2297823" cy="3263206"/>
          </a:xfrm>
          <a:prstGeom prst="rect">
            <a:avLst/>
          </a:prstGeom>
        </p:spPr>
        <p:txBody>
          <a:bodyPr vert="horz" lIns="91440" tIns="45720" rIns="91440" bIns="45720" rtlCol="0">
            <a:normAutofit/>
          </a:bodyPr>
          <a:lstStyle/>
          <a:p>
            <a:pPr defTabSz="914400">
              <a:spcBef>
                <a:spcPts val="1000"/>
              </a:spcBef>
              <a:buClr>
                <a:schemeClr val="accent2"/>
              </a:buClr>
            </a:pPr>
            <a:r>
              <a:rPr lang="en-US" sz="2400" dirty="0">
                <a:solidFill>
                  <a:schemeClr val="tx1">
                    <a:lumMod val="85000"/>
                    <a:lumOff val="15000"/>
                  </a:schemeClr>
                </a:solidFill>
              </a:rPr>
              <a:t>MIT COVID-CASE Phase II Dataset</a:t>
            </a:r>
          </a:p>
          <a:p>
            <a:pPr indent="-228600" defTabSz="914400">
              <a:spcBef>
                <a:spcPts val="1000"/>
              </a:spcBef>
              <a:buClr>
                <a:schemeClr val="accent2"/>
              </a:buClr>
              <a:buFont typeface="Arial" panose="020B0604020202020204" pitchFamily="34" charset="0"/>
              <a:buChar char="•"/>
            </a:pPr>
            <a:endParaRPr lang="en-US" sz="2400" dirty="0">
              <a:solidFill>
                <a:schemeClr val="tx1">
                  <a:lumMod val="85000"/>
                  <a:lumOff val="15000"/>
                </a:schemeClr>
              </a:solidFill>
            </a:endParaRPr>
          </a:p>
        </p:txBody>
      </p:sp>
      <p:graphicFrame>
        <p:nvGraphicFramePr>
          <p:cNvPr id="4" name="Table 3">
            <a:extLst>
              <a:ext uri="{FF2B5EF4-FFF2-40B4-BE49-F238E27FC236}">
                <a16:creationId xmlns:a16="http://schemas.microsoft.com/office/drawing/2014/main" id="{D1355EF0-9675-290A-B373-D6AD945F9A57}"/>
              </a:ext>
            </a:extLst>
          </p:cNvPr>
          <p:cNvGraphicFramePr>
            <a:graphicFrameLocks noGrp="1"/>
          </p:cNvGraphicFramePr>
          <p:nvPr>
            <p:extLst>
              <p:ext uri="{D42A27DB-BD31-4B8C-83A1-F6EECF244321}">
                <p14:modId xmlns:p14="http://schemas.microsoft.com/office/powerpoint/2010/main" val="1006560073"/>
              </p:ext>
            </p:extLst>
          </p:nvPr>
        </p:nvGraphicFramePr>
        <p:xfrm>
          <a:off x="3617524" y="1712762"/>
          <a:ext cx="4670299" cy="3679767"/>
        </p:xfrm>
        <a:graphic>
          <a:graphicData uri="http://schemas.openxmlformats.org/drawingml/2006/table">
            <a:tbl>
              <a:tblPr firstRow="1" bandRow="1">
                <a:noFill/>
                <a:tableStyleId>{9D7B26C5-4107-4FEC-AEDC-1716B250A1EF}</a:tableStyleId>
              </a:tblPr>
              <a:tblGrid>
                <a:gridCol w="3483102">
                  <a:extLst>
                    <a:ext uri="{9D8B030D-6E8A-4147-A177-3AD203B41FA5}">
                      <a16:colId xmlns:a16="http://schemas.microsoft.com/office/drawing/2014/main" val="3101154567"/>
                    </a:ext>
                  </a:extLst>
                </a:gridCol>
                <a:gridCol w="1187197">
                  <a:extLst>
                    <a:ext uri="{9D8B030D-6E8A-4147-A177-3AD203B41FA5}">
                      <a16:colId xmlns:a16="http://schemas.microsoft.com/office/drawing/2014/main" val="3726487733"/>
                    </a:ext>
                  </a:extLst>
                </a:gridCol>
              </a:tblGrid>
              <a:tr h="547305">
                <a:tc>
                  <a:txBody>
                    <a:bodyPr/>
                    <a:lstStyle/>
                    <a:p>
                      <a:pPr>
                        <a:buNone/>
                      </a:pPr>
                      <a:r>
                        <a:rPr lang="en-US" sz="1800" b="1" cap="none" spc="30">
                          <a:solidFill>
                            <a:schemeClr val="tx1"/>
                          </a:solidFill>
                        </a:rPr>
                        <a:t>Category</a:t>
                      </a:r>
                    </a:p>
                  </a:txBody>
                  <a:tcPr marL="0" marR="9768" marT="29148" marB="218609" anchor="ctr">
                    <a:lnL w="12700" cmpd="sng">
                      <a:noFill/>
                      <a:prstDash val="solid"/>
                    </a:lnL>
                    <a:lnR w="12700" cmpd="sng">
                      <a:noFill/>
                      <a:prstDash val="solid"/>
                    </a:lnR>
                    <a:lnT w="19050" cap="flat" cmpd="sng" algn="ctr">
                      <a:solidFill>
                        <a:schemeClr val="accent1"/>
                      </a:solidFill>
                      <a:prstDash val="solid"/>
                    </a:lnT>
                    <a:lnB w="12700" cmpd="sng">
                      <a:noFill/>
                      <a:prstDash val="solid"/>
                    </a:lnB>
                    <a:noFill/>
                  </a:tcPr>
                </a:tc>
                <a:tc>
                  <a:txBody>
                    <a:bodyPr/>
                    <a:lstStyle/>
                    <a:p>
                      <a:pPr>
                        <a:buNone/>
                      </a:pPr>
                      <a:r>
                        <a:rPr lang="en-US" sz="1800" b="1" cap="none" spc="30" dirty="0">
                          <a:solidFill>
                            <a:schemeClr val="tx1"/>
                          </a:solidFill>
                        </a:rPr>
                        <a:t>Value</a:t>
                      </a:r>
                    </a:p>
                  </a:txBody>
                  <a:tcPr marL="0" marR="9768" marT="29148" marB="218609" anchor="ctr">
                    <a:lnL w="12700" cmpd="sng">
                      <a:noFill/>
                      <a:prstDash val="solid"/>
                    </a:lnL>
                    <a:lnR w="12700" cmpd="sng">
                      <a:noFill/>
                      <a:prstDash val="solid"/>
                    </a:lnR>
                    <a:lnT w="19050" cap="flat" cmpd="sng" algn="ctr">
                      <a:solidFill>
                        <a:schemeClr val="accent1"/>
                      </a:solidFill>
                      <a:prstDash val="solid"/>
                    </a:lnT>
                    <a:lnB w="12700" cmpd="sng">
                      <a:noFill/>
                      <a:prstDash val="solid"/>
                    </a:lnB>
                    <a:noFill/>
                  </a:tcPr>
                </a:tc>
                <a:extLst>
                  <a:ext uri="{0D108BD9-81ED-4DB2-BD59-A6C34878D82A}">
                    <a16:rowId xmlns:a16="http://schemas.microsoft.com/office/drawing/2014/main" val="659379773"/>
                  </a:ext>
                </a:extLst>
              </a:tr>
              <a:tr h="482186">
                <a:tc>
                  <a:txBody>
                    <a:bodyPr/>
                    <a:lstStyle/>
                    <a:p>
                      <a:pPr>
                        <a:buNone/>
                      </a:pPr>
                      <a:r>
                        <a:rPr lang="en-US" sz="1800" cap="none" spc="0">
                          <a:solidFill>
                            <a:schemeClr val="tx1"/>
                          </a:solidFill>
                        </a:rPr>
                        <a:t>Total participant records</a:t>
                      </a:r>
                    </a:p>
                  </a:txBody>
                  <a:tcPr marL="0" marR="141519" marT="29148" marB="218609" anchor="ctr">
                    <a:lnL w="12700" cmpd="sng">
                      <a:noFill/>
                      <a:prstDash val="solid"/>
                    </a:lnL>
                    <a:lnR w="12700" cmpd="sng">
                      <a:noFill/>
                      <a:prstDash val="solid"/>
                    </a:lnR>
                    <a:lnT w="12700" cmpd="sng">
                      <a:noFill/>
                      <a:prstDash val="solid"/>
                    </a:lnT>
                    <a:lnB w="9525" cap="flat" cmpd="sng" algn="ctr">
                      <a:solidFill>
                        <a:schemeClr val="accent1"/>
                      </a:solidFill>
                      <a:prstDash val="solid"/>
                    </a:lnB>
                    <a:noFill/>
                  </a:tcPr>
                </a:tc>
                <a:tc>
                  <a:txBody>
                    <a:bodyPr/>
                    <a:lstStyle/>
                    <a:p>
                      <a:pPr>
                        <a:buNone/>
                      </a:pPr>
                      <a:r>
                        <a:rPr lang="en-US" sz="1800" cap="none" spc="0">
                          <a:solidFill>
                            <a:schemeClr val="tx1"/>
                          </a:solidFill>
                        </a:rPr>
                        <a:t>822</a:t>
                      </a:r>
                    </a:p>
                  </a:txBody>
                  <a:tcPr marL="0" marR="141519" marT="29148" marB="218609" anchor="ctr">
                    <a:lnL w="12700" cmpd="sng">
                      <a:noFill/>
                      <a:prstDash val="solid"/>
                    </a:lnL>
                    <a:lnR w="12700" cmpd="sng">
                      <a:noFill/>
                      <a:prstDash val="solid"/>
                    </a:lnR>
                    <a:lnT w="12700" cmpd="sng">
                      <a:noFill/>
                      <a:prstDash val="solid"/>
                    </a:lnT>
                    <a:lnB w="9525" cap="flat" cmpd="sng" algn="ctr">
                      <a:solidFill>
                        <a:schemeClr val="accent1"/>
                      </a:solidFill>
                      <a:prstDash val="solid"/>
                    </a:lnB>
                    <a:noFill/>
                  </a:tcPr>
                </a:tc>
                <a:extLst>
                  <a:ext uri="{0D108BD9-81ED-4DB2-BD59-A6C34878D82A}">
                    <a16:rowId xmlns:a16="http://schemas.microsoft.com/office/drawing/2014/main" val="776541265"/>
                  </a:ext>
                </a:extLst>
              </a:tr>
              <a:tr h="482186">
                <a:tc>
                  <a:txBody>
                    <a:bodyPr/>
                    <a:lstStyle/>
                    <a:p>
                      <a:pPr>
                        <a:buNone/>
                      </a:pPr>
                      <a:r>
                        <a:rPr lang="en-US" sz="1800" cap="none" spc="0">
                          <a:solidFill>
                            <a:schemeClr val="tx1"/>
                          </a:solidFill>
                        </a:rPr>
                        <a:t>PCR-confirmed results</a:t>
                      </a:r>
                    </a:p>
                  </a:txBody>
                  <a:tcPr marL="48839" marR="141519" marT="29148" marB="218609" anchor="ctr">
                    <a:lnL w="12700" cmpd="sng">
                      <a:noFill/>
                      <a:prstDash val="solid"/>
                    </a:lnL>
                    <a:lnR w="12700" cmpd="sng">
                      <a:noFill/>
                      <a:prstDash val="solid"/>
                    </a:lnR>
                    <a:lnT w="9525" cap="flat" cmpd="sng" algn="ctr">
                      <a:solidFill>
                        <a:schemeClr val="accent1"/>
                      </a:solidFill>
                      <a:prstDash val="solid"/>
                    </a:lnT>
                    <a:lnB w="12700" cmpd="sng">
                      <a:noFill/>
                      <a:prstDash val="solid"/>
                    </a:lnB>
                    <a:solidFill>
                      <a:schemeClr val="accent1">
                        <a:lumMod val="20000"/>
                        <a:lumOff val="80000"/>
                      </a:schemeClr>
                    </a:solidFill>
                  </a:tcPr>
                </a:tc>
                <a:tc>
                  <a:txBody>
                    <a:bodyPr/>
                    <a:lstStyle/>
                    <a:p>
                      <a:pPr>
                        <a:buNone/>
                      </a:pPr>
                      <a:r>
                        <a:rPr lang="en-US" sz="1800" cap="none" spc="0">
                          <a:solidFill>
                            <a:schemeClr val="tx1"/>
                          </a:solidFill>
                        </a:rPr>
                        <a:t>559</a:t>
                      </a:r>
                    </a:p>
                  </a:txBody>
                  <a:tcPr marL="48839" marR="141519" marT="29148" marB="218609" anchor="ctr">
                    <a:lnL w="12700" cmpd="sng">
                      <a:noFill/>
                      <a:prstDash val="solid"/>
                    </a:lnL>
                    <a:lnR w="12700" cmpd="sng">
                      <a:noFill/>
                      <a:prstDash val="solid"/>
                    </a:lnR>
                    <a:lnT w="9525" cap="flat" cmpd="sng" algn="ctr">
                      <a:solidFill>
                        <a:schemeClr val="accent1"/>
                      </a:solidFill>
                      <a:prstDash val="solid"/>
                    </a:lnT>
                    <a:lnB w="12700" cmpd="sng">
                      <a:noFill/>
                      <a:prstDash val="solid"/>
                    </a:lnB>
                    <a:solidFill>
                      <a:schemeClr val="accent1">
                        <a:lumMod val="20000"/>
                        <a:lumOff val="80000"/>
                      </a:schemeClr>
                    </a:solidFill>
                  </a:tcPr>
                </a:tc>
                <a:extLst>
                  <a:ext uri="{0D108BD9-81ED-4DB2-BD59-A6C34878D82A}">
                    <a16:rowId xmlns:a16="http://schemas.microsoft.com/office/drawing/2014/main" val="1190706121"/>
                  </a:ext>
                </a:extLst>
              </a:tr>
              <a:tr h="482186">
                <a:tc>
                  <a:txBody>
                    <a:bodyPr/>
                    <a:lstStyle/>
                    <a:p>
                      <a:pPr>
                        <a:buNone/>
                      </a:pPr>
                      <a:r>
                        <a:rPr lang="en-US" sz="1800" cap="none" spc="0">
                          <a:solidFill>
                            <a:schemeClr val="tx1"/>
                          </a:solidFill>
                        </a:rPr>
                        <a:t>COVID-positive cases</a:t>
                      </a:r>
                    </a:p>
                  </a:txBody>
                  <a:tcPr marL="0" marR="141519" marT="29148" marB="218609" anchor="ctr">
                    <a:lnL w="12700" cmpd="sng">
                      <a:noFill/>
                      <a:prstDash val="solid"/>
                    </a:lnL>
                    <a:lnR w="12700" cmpd="sng">
                      <a:noFill/>
                      <a:prstDash val="solid"/>
                    </a:lnR>
                    <a:lnT w="12700" cmpd="sng">
                      <a:noFill/>
                      <a:prstDash val="solid"/>
                    </a:lnT>
                    <a:lnB w="9525" cap="flat" cmpd="sng" algn="ctr">
                      <a:solidFill>
                        <a:schemeClr val="accent1"/>
                      </a:solidFill>
                      <a:prstDash val="solid"/>
                    </a:lnB>
                    <a:noFill/>
                  </a:tcPr>
                </a:tc>
                <a:tc>
                  <a:txBody>
                    <a:bodyPr/>
                    <a:lstStyle/>
                    <a:p>
                      <a:pPr>
                        <a:buNone/>
                      </a:pPr>
                      <a:r>
                        <a:rPr lang="en-US" sz="1800" cap="none" spc="0">
                          <a:solidFill>
                            <a:schemeClr val="tx1"/>
                          </a:solidFill>
                        </a:rPr>
                        <a:t>58</a:t>
                      </a:r>
                    </a:p>
                  </a:txBody>
                  <a:tcPr marL="0" marR="141519" marT="29148" marB="218609" anchor="ctr">
                    <a:lnL w="12700" cmpd="sng">
                      <a:noFill/>
                      <a:prstDash val="solid"/>
                    </a:lnL>
                    <a:lnR w="12700" cmpd="sng">
                      <a:noFill/>
                      <a:prstDash val="solid"/>
                    </a:lnR>
                    <a:lnT w="12700" cmpd="sng">
                      <a:noFill/>
                      <a:prstDash val="solid"/>
                    </a:lnT>
                    <a:lnB w="9525" cap="flat" cmpd="sng" algn="ctr">
                      <a:solidFill>
                        <a:schemeClr val="accent1"/>
                      </a:solidFill>
                      <a:prstDash val="solid"/>
                    </a:lnB>
                    <a:noFill/>
                  </a:tcPr>
                </a:tc>
                <a:extLst>
                  <a:ext uri="{0D108BD9-81ED-4DB2-BD59-A6C34878D82A}">
                    <a16:rowId xmlns:a16="http://schemas.microsoft.com/office/drawing/2014/main" val="2293394938"/>
                  </a:ext>
                </a:extLst>
              </a:tr>
              <a:tr h="482186">
                <a:tc>
                  <a:txBody>
                    <a:bodyPr/>
                    <a:lstStyle/>
                    <a:p>
                      <a:pPr>
                        <a:buNone/>
                      </a:pPr>
                      <a:r>
                        <a:rPr lang="en-US" sz="1800" cap="none" spc="0">
                          <a:solidFill>
                            <a:schemeClr val="tx1"/>
                          </a:solidFill>
                        </a:rPr>
                        <a:t>COVID-negative cases</a:t>
                      </a:r>
                    </a:p>
                  </a:txBody>
                  <a:tcPr marL="48839" marR="141519" marT="29148" marB="218609" anchor="ctr">
                    <a:lnL w="12700" cmpd="sng">
                      <a:noFill/>
                      <a:prstDash val="solid"/>
                    </a:lnL>
                    <a:lnR w="12700" cmpd="sng">
                      <a:noFill/>
                      <a:prstDash val="solid"/>
                    </a:lnR>
                    <a:lnT w="9525" cap="flat" cmpd="sng" algn="ctr">
                      <a:solidFill>
                        <a:schemeClr val="accent1"/>
                      </a:solidFill>
                      <a:prstDash val="solid"/>
                    </a:lnT>
                    <a:lnB w="12700" cmpd="sng">
                      <a:noFill/>
                      <a:prstDash val="solid"/>
                    </a:lnB>
                    <a:solidFill>
                      <a:schemeClr val="accent1">
                        <a:lumMod val="20000"/>
                        <a:lumOff val="80000"/>
                      </a:schemeClr>
                    </a:solidFill>
                  </a:tcPr>
                </a:tc>
                <a:tc>
                  <a:txBody>
                    <a:bodyPr/>
                    <a:lstStyle/>
                    <a:p>
                      <a:pPr>
                        <a:buNone/>
                      </a:pPr>
                      <a:r>
                        <a:rPr lang="en-US" sz="1800" cap="none" spc="0">
                          <a:solidFill>
                            <a:schemeClr val="tx1"/>
                          </a:solidFill>
                        </a:rPr>
                        <a:t>501</a:t>
                      </a:r>
                    </a:p>
                  </a:txBody>
                  <a:tcPr marL="48839" marR="141519" marT="29148" marB="218609" anchor="ctr">
                    <a:lnL w="12700" cmpd="sng">
                      <a:noFill/>
                      <a:prstDash val="solid"/>
                    </a:lnL>
                    <a:lnR w="12700" cmpd="sng">
                      <a:noFill/>
                      <a:prstDash val="solid"/>
                    </a:lnR>
                    <a:lnT w="9525" cap="flat" cmpd="sng" algn="ctr">
                      <a:solidFill>
                        <a:schemeClr val="accent1"/>
                      </a:solidFill>
                      <a:prstDash val="solid"/>
                    </a:lnT>
                    <a:lnB w="12700" cmpd="sng">
                      <a:noFill/>
                      <a:prstDash val="solid"/>
                    </a:lnB>
                    <a:solidFill>
                      <a:schemeClr val="accent1">
                        <a:lumMod val="20000"/>
                        <a:lumOff val="80000"/>
                      </a:schemeClr>
                    </a:solidFill>
                  </a:tcPr>
                </a:tc>
                <a:extLst>
                  <a:ext uri="{0D108BD9-81ED-4DB2-BD59-A6C34878D82A}">
                    <a16:rowId xmlns:a16="http://schemas.microsoft.com/office/drawing/2014/main" val="190340065"/>
                  </a:ext>
                </a:extLst>
              </a:tr>
              <a:tr h="482186">
                <a:tc>
                  <a:txBody>
                    <a:bodyPr/>
                    <a:lstStyle/>
                    <a:p>
                      <a:pPr>
                        <a:buNone/>
                      </a:pPr>
                      <a:r>
                        <a:rPr lang="en-US" sz="1800" cap="none" spc="0">
                          <a:solidFill>
                            <a:schemeClr val="tx1"/>
                          </a:solidFill>
                        </a:rPr>
                        <a:t>Total variables collected</a:t>
                      </a:r>
                    </a:p>
                  </a:txBody>
                  <a:tcPr marL="0" marR="141519" marT="29148" marB="218609" anchor="ctr">
                    <a:lnL w="12700" cmpd="sng">
                      <a:noFill/>
                      <a:prstDash val="solid"/>
                    </a:lnL>
                    <a:lnR w="12700" cmpd="sng">
                      <a:noFill/>
                      <a:prstDash val="solid"/>
                    </a:lnR>
                    <a:lnT w="12700" cmpd="sng">
                      <a:noFill/>
                      <a:prstDash val="solid"/>
                    </a:lnT>
                    <a:lnB w="9525" cap="flat" cmpd="sng" algn="ctr">
                      <a:solidFill>
                        <a:schemeClr val="accent1"/>
                      </a:solidFill>
                      <a:prstDash val="solid"/>
                    </a:lnB>
                    <a:noFill/>
                  </a:tcPr>
                </a:tc>
                <a:tc>
                  <a:txBody>
                    <a:bodyPr/>
                    <a:lstStyle/>
                    <a:p>
                      <a:pPr>
                        <a:buNone/>
                      </a:pPr>
                      <a:r>
                        <a:rPr lang="en-US" sz="1800" cap="none" spc="0">
                          <a:solidFill>
                            <a:schemeClr val="tx1"/>
                          </a:solidFill>
                        </a:rPr>
                        <a:t>472</a:t>
                      </a:r>
                    </a:p>
                  </a:txBody>
                  <a:tcPr marL="0" marR="141519" marT="29148" marB="218609" anchor="ctr">
                    <a:lnL w="12700" cmpd="sng">
                      <a:noFill/>
                      <a:prstDash val="solid"/>
                    </a:lnL>
                    <a:lnR w="12700" cmpd="sng">
                      <a:noFill/>
                      <a:prstDash val="solid"/>
                    </a:lnR>
                    <a:lnT w="12700" cmpd="sng">
                      <a:noFill/>
                      <a:prstDash val="solid"/>
                    </a:lnT>
                    <a:lnB w="9525" cap="flat" cmpd="sng" algn="ctr">
                      <a:solidFill>
                        <a:schemeClr val="accent1"/>
                      </a:solidFill>
                      <a:prstDash val="solid"/>
                    </a:lnB>
                    <a:noFill/>
                  </a:tcPr>
                </a:tc>
                <a:extLst>
                  <a:ext uri="{0D108BD9-81ED-4DB2-BD59-A6C34878D82A}">
                    <a16:rowId xmlns:a16="http://schemas.microsoft.com/office/drawing/2014/main" val="1761020446"/>
                  </a:ext>
                </a:extLst>
              </a:tr>
              <a:tr h="482186">
                <a:tc>
                  <a:txBody>
                    <a:bodyPr/>
                    <a:lstStyle/>
                    <a:p>
                      <a:pPr>
                        <a:buNone/>
                      </a:pPr>
                      <a:r>
                        <a:rPr lang="en-US" sz="1800" cap="none" spc="0">
                          <a:solidFill>
                            <a:schemeClr val="tx1"/>
                          </a:solidFill>
                        </a:rPr>
                        <a:t>Home symptoms/features used</a:t>
                      </a:r>
                    </a:p>
                  </a:txBody>
                  <a:tcPr marL="48839" marR="141519" marT="29148" marB="218609" anchor="ctr">
                    <a:lnL w="12700" cmpd="sng">
                      <a:noFill/>
                      <a:prstDash val="solid"/>
                    </a:lnL>
                    <a:lnR w="12700" cmpd="sng">
                      <a:noFill/>
                      <a:prstDash val="solid"/>
                    </a:lnR>
                    <a:lnT w="9525" cap="flat" cmpd="sng" algn="ctr">
                      <a:solidFill>
                        <a:schemeClr val="accent1"/>
                      </a:solidFill>
                      <a:prstDash val="solid"/>
                    </a:lnT>
                    <a:lnB w="12700" cmpd="sng">
                      <a:noFill/>
                      <a:prstDash val="solid"/>
                    </a:lnB>
                    <a:solidFill>
                      <a:schemeClr val="accent1">
                        <a:lumMod val="20000"/>
                        <a:lumOff val="80000"/>
                      </a:schemeClr>
                    </a:solidFill>
                  </a:tcPr>
                </a:tc>
                <a:tc>
                  <a:txBody>
                    <a:bodyPr/>
                    <a:lstStyle/>
                    <a:p>
                      <a:pPr>
                        <a:buNone/>
                      </a:pPr>
                      <a:r>
                        <a:rPr lang="en-US" sz="1800" cap="none" spc="0" dirty="0">
                          <a:solidFill>
                            <a:schemeClr val="tx1"/>
                          </a:solidFill>
                        </a:rPr>
                        <a:t>68</a:t>
                      </a:r>
                    </a:p>
                  </a:txBody>
                  <a:tcPr marL="48839" marR="141519" marT="29148" marB="218609" anchor="ctr">
                    <a:lnL w="12700" cmpd="sng">
                      <a:noFill/>
                      <a:prstDash val="solid"/>
                    </a:lnL>
                    <a:lnR w="12700" cmpd="sng">
                      <a:noFill/>
                      <a:prstDash val="solid"/>
                    </a:lnR>
                    <a:lnT w="9525" cap="flat" cmpd="sng" algn="ctr">
                      <a:solidFill>
                        <a:schemeClr val="accent1"/>
                      </a:solidFill>
                      <a:prstDash val="solid"/>
                    </a:lnT>
                    <a:lnB w="12700" cmpd="sng">
                      <a:noFill/>
                      <a:prstDash val="solid"/>
                    </a:lnB>
                    <a:solidFill>
                      <a:schemeClr val="accent1">
                        <a:lumMod val="20000"/>
                        <a:lumOff val="80000"/>
                      </a:schemeClr>
                    </a:solidFill>
                  </a:tcPr>
                </a:tc>
                <a:extLst>
                  <a:ext uri="{0D108BD9-81ED-4DB2-BD59-A6C34878D82A}">
                    <a16:rowId xmlns:a16="http://schemas.microsoft.com/office/drawing/2014/main" val="42257874"/>
                  </a:ext>
                </a:extLst>
              </a:tr>
            </a:tbl>
          </a:graphicData>
        </a:graphic>
      </p:graphicFrame>
      <p:sp>
        <p:nvSpPr>
          <p:cNvPr id="10" name="TextBox 9">
            <a:extLst>
              <a:ext uri="{FF2B5EF4-FFF2-40B4-BE49-F238E27FC236}">
                <a16:creationId xmlns:a16="http://schemas.microsoft.com/office/drawing/2014/main" id="{79D02E3C-0A2B-A782-B222-23DDA43C4925}"/>
              </a:ext>
            </a:extLst>
          </p:cNvPr>
          <p:cNvSpPr txBox="1"/>
          <p:nvPr/>
        </p:nvSpPr>
        <p:spPr>
          <a:xfrm>
            <a:off x="984739" y="5556738"/>
            <a:ext cx="7819833" cy="1200329"/>
          </a:xfrm>
          <a:prstGeom prst="rect">
            <a:avLst/>
          </a:prstGeom>
          <a:noFill/>
        </p:spPr>
        <p:txBody>
          <a:bodyPr wrap="none" rtlCol="0">
            <a:spAutoFit/>
          </a:bodyPr>
          <a:lstStyle/>
          <a:p>
            <a:r>
              <a:rPr lang="en-US" dirty="0"/>
              <a:t>The files that were used:</a:t>
            </a:r>
          </a:p>
          <a:p>
            <a:r>
              <a:rPr lang="en-US" dirty="0"/>
              <a:t>1. COVIDCARE_FORSUBMISSION_MIT_CLEANED_Phase_II_2021-12-03.csv</a:t>
            </a:r>
          </a:p>
          <a:p>
            <a:r>
              <a:rPr lang="en-US" dirty="0"/>
              <a:t>2. COVIDCARE_DEMI_knowledgebase_v4.csv</a:t>
            </a:r>
          </a:p>
          <a:p>
            <a:r>
              <a:rPr lang="en-US" dirty="0"/>
              <a:t>3. </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0BF82D-DBB6-CEB4-3AB8-58468F8F9DD3}"/>
              </a:ext>
            </a:extLst>
          </p:cNvPr>
          <p:cNvSpPr>
            <a:spLocks noGrp="1"/>
          </p:cNvSpPr>
          <p:nvPr>
            <p:ph type="title"/>
          </p:nvPr>
        </p:nvSpPr>
        <p:spPr>
          <a:xfrm>
            <a:off x="602432" y="540335"/>
            <a:ext cx="4743291" cy="1499479"/>
          </a:xfrm>
        </p:spPr>
        <p:txBody>
          <a:bodyPr vert="horz" lIns="182880" tIns="182880" rIns="182880" bIns="182880" rtlCol="0" anchor="ctr">
            <a:noAutofit/>
          </a:bodyPr>
          <a:lstStyle/>
          <a:p>
            <a:r>
              <a:rPr lang="en-US" sz="2800" dirty="0"/>
              <a:t>Study design and methodology</a:t>
            </a:r>
          </a:p>
        </p:txBody>
      </p:sp>
      <p:sp>
        <p:nvSpPr>
          <p:cNvPr id="6" name="TextBox 5">
            <a:extLst>
              <a:ext uri="{FF2B5EF4-FFF2-40B4-BE49-F238E27FC236}">
                <a16:creationId xmlns:a16="http://schemas.microsoft.com/office/drawing/2014/main" id="{4424B3DE-AAF6-6215-2511-1CBA9E53C210}"/>
              </a:ext>
            </a:extLst>
          </p:cNvPr>
          <p:cNvSpPr txBox="1"/>
          <p:nvPr/>
        </p:nvSpPr>
        <p:spPr>
          <a:xfrm>
            <a:off x="602432" y="2982352"/>
            <a:ext cx="3561605" cy="2841674"/>
          </a:xfrm>
          <a:prstGeom prst="rect">
            <a:avLst/>
          </a:prstGeom>
        </p:spPr>
        <p:txBody>
          <a:bodyPr vert="horz" lIns="91440" tIns="45720" rIns="91440" bIns="45720" rtlCol="0">
            <a:normAutofit fontScale="62500" lnSpcReduction="20000"/>
          </a:bodyPr>
          <a:lstStyle/>
          <a:p>
            <a:pPr defTabSz="914400">
              <a:spcBef>
                <a:spcPts val="1000"/>
              </a:spcBef>
              <a:buClr>
                <a:schemeClr val="accent2"/>
              </a:buClr>
            </a:pPr>
            <a:r>
              <a:rPr lang="en-US" sz="2400" dirty="0">
                <a:solidFill>
                  <a:schemeClr val="tx1">
                    <a:lumMod val="85000"/>
                    <a:lumOff val="15000"/>
                  </a:schemeClr>
                </a:solidFill>
              </a:rPr>
              <a:t>System works in 6 steps.</a:t>
            </a:r>
          </a:p>
          <a:p>
            <a:pPr defTabSz="914400">
              <a:spcBef>
                <a:spcPts val="1000"/>
              </a:spcBef>
              <a:buClr>
                <a:schemeClr val="accent2"/>
              </a:buClr>
            </a:pPr>
            <a:endParaRPr lang="en-US" sz="2400" dirty="0">
              <a:solidFill>
                <a:schemeClr val="tx1">
                  <a:lumMod val="85000"/>
                  <a:lumOff val="15000"/>
                </a:schemeClr>
              </a:solidFill>
            </a:endParaRPr>
          </a:p>
          <a:p>
            <a:pPr defTabSz="914400">
              <a:spcBef>
                <a:spcPts val="1000"/>
              </a:spcBef>
              <a:buClr>
                <a:schemeClr val="accent2"/>
              </a:buClr>
            </a:pPr>
            <a:r>
              <a:rPr lang="en-US" sz="2400" dirty="0">
                <a:solidFill>
                  <a:schemeClr val="tx1">
                    <a:lumMod val="85000"/>
                    <a:lumOff val="15000"/>
                  </a:schemeClr>
                </a:solidFill>
              </a:rPr>
              <a:t>Advantages of DEMI methodology</a:t>
            </a:r>
          </a:p>
          <a:p>
            <a:pPr defTabSz="914400">
              <a:spcBef>
                <a:spcPts val="1000"/>
              </a:spcBef>
              <a:buClr>
                <a:schemeClr val="accent2"/>
              </a:buClr>
            </a:pPr>
            <a:r>
              <a:rPr lang="en-US" sz="2400" dirty="0">
                <a:solidFill>
                  <a:schemeClr val="tx1">
                    <a:lumMod val="85000"/>
                    <a:lumOff val="15000"/>
                  </a:schemeClr>
                </a:solidFill>
              </a:rPr>
              <a:t>• Transparent probability calculations</a:t>
            </a:r>
          </a:p>
          <a:p>
            <a:pPr defTabSz="914400">
              <a:spcBef>
                <a:spcPts val="1000"/>
              </a:spcBef>
              <a:buClr>
                <a:schemeClr val="accent2"/>
              </a:buClr>
            </a:pPr>
            <a:r>
              <a:rPr lang="en-US" sz="2400" dirty="0">
                <a:solidFill>
                  <a:schemeClr val="tx1">
                    <a:lumMod val="85000"/>
                    <a:lumOff val="15000"/>
                  </a:schemeClr>
                </a:solidFill>
              </a:rPr>
              <a:t>• Maintains temporal ordering</a:t>
            </a:r>
          </a:p>
          <a:p>
            <a:pPr defTabSz="914400">
              <a:spcBef>
                <a:spcPts val="1000"/>
              </a:spcBef>
              <a:buClr>
                <a:schemeClr val="accent2"/>
              </a:buClr>
            </a:pPr>
            <a:r>
              <a:rPr lang="en-US" sz="2400" dirty="0">
                <a:solidFill>
                  <a:schemeClr val="tx1">
                    <a:lumMod val="85000"/>
                    <a:lumOff val="15000"/>
                  </a:schemeClr>
                </a:solidFill>
              </a:rPr>
              <a:t>• Supports causal reasoning</a:t>
            </a:r>
          </a:p>
          <a:p>
            <a:pPr defTabSz="914400">
              <a:spcBef>
                <a:spcPts val="1000"/>
              </a:spcBef>
              <a:buClr>
                <a:schemeClr val="accent2"/>
              </a:buClr>
            </a:pPr>
            <a:r>
              <a:rPr lang="en-US" sz="2400" dirty="0">
                <a:solidFill>
                  <a:schemeClr val="tx1">
                    <a:lumMod val="85000"/>
                    <a:lumOff val="15000"/>
                  </a:schemeClr>
                </a:solidFill>
              </a:rPr>
              <a:t>• Allows symptom progression analysis</a:t>
            </a:r>
          </a:p>
          <a:p>
            <a:pPr defTabSz="914400">
              <a:spcBef>
                <a:spcPts val="1000"/>
              </a:spcBef>
              <a:buClr>
                <a:schemeClr val="accent2"/>
              </a:buClr>
            </a:pPr>
            <a:r>
              <a:rPr lang="en-US" sz="2400" dirty="0">
                <a:solidFill>
                  <a:schemeClr val="tx1">
                    <a:lumMod val="85000"/>
                    <a:lumOff val="15000"/>
                  </a:schemeClr>
                </a:solidFill>
              </a:rPr>
              <a:t>• Clinically interpretable</a:t>
            </a:r>
          </a:p>
          <a:p>
            <a:pPr defTabSz="914400">
              <a:spcBef>
                <a:spcPts val="1000"/>
              </a:spcBef>
              <a:buClr>
                <a:schemeClr val="accent2"/>
              </a:buClr>
            </a:pPr>
            <a:r>
              <a:rPr lang="en-US" sz="2400" dirty="0">
                <a:solidFill>
                  <a:schemeClr val="tx1">
                    <a:lumMod val="85000"/>
                    <a:lumOff val="15000"/>
                  </a:schemeClr>
                </a:solidFill>
              </a:rPr>
              <a:t>• Supports healthcare decision-making</a:t>
            </a:r>
          </a:p>
        </p:txBody>
      </p:sp>
      <p:graphicFrame>
        <p:nvGraphicFramePr>
          <p:cNvPr id="7" name="Diagram 6">
            <a:extLst>
              <a:ext uri="{FF2B5EF4-FFF2-40B4-BE49-F238E27FC236}">
                <a16:creationId xmlns:a16="http://schemas.microsoft.com/office/drawing/2014/main" id="{6A1617AA-6DF5-EEB5-80A0-9645712E69FF}"/>
              </a:ext>
            </a:extLst>
          </p:cNvPr>
          <p:cNvGraphicFramePr/>
          <p:nvPr>
            <p:extLst>
              <p:ext uri="{D42A27DB-BD31-4B8C-83A1-F6EECF244321}">
                <p14:modId xmlns:p14="http://schemas.microsoft.com/office/powerpoint/2010/main" val="1007785799"/>
              </p:ext>
            </p:extLst>
          </p:nvPr>
        </p:nvGraphicFramePr>
        <p:xfrm>
          <a:off x="3437205" y="2409873"/>
          <a:ext cx="6096000" cy="4064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2538644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3" name="Diagram 12">
            <a:extLst>
              <a:ext uri="{FF2B5EF4-FFF2-40B4-BE49-F238E27FC236}">
                <a16:creationId xmlns:a16="http://schemas.microsoft.com/office/drawing/2014/main" id="{CF9B3842-283A-FE5F-0CE7-2F35CA0AF823}"/>
              </a:ext>
            </a:extLst>
          </p:cNvPr>
          <p:cNvGraphicFramePr/>
          <p:nvPr>
            <p:extLst>
              <p:ext uri="{D42A27DB-BD31-4B8C-83A1-F6EECF244321}">
                <p14:modId xmlns:p14="http://schemas.microsoft.com/office/powerpoint/2010/main" val="2976885932"/>
              </p:ext>
            </p:extLst>
          </p:nvPr>
        </p:nvGraphicFramePr>
        <p:xfrm>
          <a:off x="-12700" y="2339984"/>
          <a:ext cx="9156700" cy="605377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 name="Title 1"/>
          <p:cNvSpPr>
            <a:spLocks noGrp="1"/>
          </p:cNvSpPr>
          <p:nvPr>
            <p:ph type="title"/>
          </p:nvPr>
        </p:nvSpPr>
        <p:spPr>
          <a:xfrm>
            <a:off x="1603122" y="950626"/>
            <a:ext cx="5937755" cy="1188720"/>
          </a:xfrm>
        </p:spPr>
        <p:txBody>
          <a:bodyPr/>
          <a:lstStyle/>
          <a:p>
            <a:r>
              <a:rPr lang="en-US" dirty="0"/>
              <a:t>Temporal ordering</a:t>
            </a:r>
            <a:endParaRPr dirty="0"/>
          </a:p>
        </p:txBody>
      </p:sp>
      <p:sp>
        <p:nvSpPr>
          <p:cNvPr id="4" name="TextBox 3">
            <a:extLst>
              <a:ext uri="{FF2B5EF4-FFF2-40B4-BE49-F238E27FC236}">
                <a16:creationId xmlns:a16="http://schemas.microsoft.com/office/drawing/2014/main" id="{E0479170-EB8F-13B0-F210-F7B0E27D9527}"/>
              </a:ext>
            </a:extLst>
          </p:cNvPr>
          <p:cNvSpPr txBox="1"/>
          <p:nvPr/>
        </p:nvSpPr>
        <p:spPr>
          <a:xfrm>
            <a:off x="997751" y="6483920"/>
            <a:ext cx="7148495" cy="369332"/>
          </a:xfrm>
          <a:prstGeom prst="rect">
            <a:avLst/>
          </a:prstGeom>
          <a:noFill/>
        </p:spPr>
        <p:txBody>
          <a:bodyPr wrap="none" rtlCol="0">
            <a:spAutoFit/>
          </a:bodyPr>
          <a:lstStyle/>
          <a:p>
            <a:r>
              <a:rPr lang="en-US" dirty="0"/>
              <a:t>Moves left to right so that earlier events can not be caused by later events</a:t>
            </a:r>
          </a:p>
        </p:txBody>
      </p:sp>
      <p:sp>
        <p:nvSpPr>
          <p:cNvPr id="6" name="Content Placeholder 2">
            <a:extLst>
              <a:ext uri="{FF2B5EF4-FFF2-40B4-BE49-F238E27FC236}">
                <a16:creationId xmlns:a16="http://schemas.microsoft.com/office/drawing/2014/main" id="{70A35851-6505-795D-F438-0CF7CD17EAE0}"/>
              </a:ext>
            </a:extLst>
          </p:cNvPr>
          <p:cNvSpPr>
            <a:spLocks noGrp="1"/>
          </p:cNvSpPr>
          <p:nvPr>
            <p:ph idx="1"/>
          </p:nvPr>
        </p:nvSpPr>
        <p:spPr>
          <a:xfrm>
            <a:off x="1603122" y="2339984"/>
            <a:ext cx="6947112" cy="3101983"/>
          </a:xfrm>
        </p:spPr>
        <p:txBody>
          <a:bodyPr>
            <a:normAutofit/>
          </a:bodyPr>
          <a:lstStyle/>
          <a:p>
            <a:pPr marL="0" indent="0">
              <a:buNone/>
            </a:pPr>
            <a:r>
              <a:rPr lang="en-US" dirty="0"/>
              <a:t>Rules Applied</a:t>
            </a:r>
          </a:p>
          <a:p>
            <a:pPr marL="342900" indent="-342900">
              <a:buAutoNum type="arabicPeriod"/>
            </a:pPr>
            <a:r>
              <a:rPr lang="en-US" dirty="0"/>
              <a:t>Same-tier pairs relationship is symmetric</a:t>
            </a:r>
          </a:p>
          <a:p>
            <a:pPr marL="342900" indent="-342900">
              <a:buAutoNum type="arabicPeriod"/>
            </a:pPr>
            <a:r>
              <a:rPr lang="en-US" dirty="0"/>
              <a:t>Zero co-occurrences-counts set from marginals</a:t>
            </a:r>
          </a:p>
          <a:p>
            <a:pPr marL="342900" indent="-342900">
              <a:buAutoNum type="arabicPeriod"/>
            </a:pPr>
            <a:r>
              <a:rPr lang="en-US" dirty="0"/>
              <a:t>Cross-tier lower tier always comes before higher tier</a:t>
            </a:r>
          </a:p>
        </p:txBody>
      </p:sp>
    </p:spTree>
    <p:extLst>
      <p:ext uri="{BB962C8B-B14F-4D97-AF65-F5344CB8AC3E}">
        <p14:creationId xmlns:p14="http://schemas.microsoft.com/office/powerpoint/2010/main" val="19814611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Pairwise associations results</a:t>
            </a:r>
            <a:endParaRPr dirty="0"/>
          </a:p>
        </p:txBody>
      </p:sp>
      <p:pic>
        <p:nvPicPr>
          <p:cNvPr id="7" name="Picture 6">
            <a:extLst>
              <a:ext uri="{FF2B5EF4-FFF2-40B4-BE49-F238E27FC236}">
                <a16:creationId xmlns:a16="http://schemas.microsoft.com/office/drawing/2014/main" id="{2009FDF7-81F2-E082-6775-E5138999766C}"/>
              </a:ext>
            </a:extLst>
          </p:cNvPr>
          <p:cNvPicPr>
            <a:picLocks noChangeAspect="1"/>
          </p:cNvPicPr>
          <p:nvPr/>
        </p:nvPicPr>
        <p:blipFill>
          <a:blip r:embed="rId3"/>
          <a:stretch>
            <a:fillRect/>
          </a:stretch>
        </p:blipFill>
        <p:spPr>
          <a:xfrm>
            <a:off x="2763372" y="3334825"/>
            <a:ext cx="6341715" cy="3523175"/>
          </a:xfrm>
          <a:prstGeom prst="rect">
            <a:avLst/>
          </a:prstGeom>
        </p:spPr>
      </p:pic>
      <p:graphicFrame>
        <p:nvGraphicFramePr>
          <p:cNvPr id="10" name="Table 9">
            <a:extLst>
              <a:ext uri="{FF2B5EF4-FFF2-40B4-BE49-F238E27FC236}">
                <a16:creationId xmlns:a16="http://schemas.microsoft.com/office/drawing/2014/main" id="{6D9027EC-370E-AC1D-C874-C55563B5F150}"/>
              </a:ext>
            </a:extLst>
          </p:cNvPr>
          <p:cNvGraphicFramePr>
            <a:graphicFrameLocks noGrp="1"/>
          </p:cNvGraphicFramePr>
          <p:nvPr>
            <p:extLst>
              <p:ext uri="{D42A27DB-BD31-4B8C-83A1-F6EECF244321}">
                <p14:modId xmlns:p14="http://schemas.microsoft.com/office/powerpoint/2010/main" val="2154282878"/>
              </p:ext>
            </p:extLst>
          </p:nvPr>
        </p:nvGraphicFramePr>
        <p:xfrm>
          <a:off x="38913" y="2767390"/>
          <a:ext cx="3134264" cy="2834640"/>
        </p:xfrm>
        <a:graphic>
          <a:graphicData uri="http://schemas.openxmlformats.org/drawingml/2006/table">
            <a:tbl>
              <a:tblPr/>
              <a:tblGrid>
                <a:gridCol w="1567132">
                  <a:extLst>
                    <a:ext uri="{9D8B030D-6E8A-4147-A177-3AD203B41FA5}">
                      <a16:colId xmlns:a16="http://schemas.microsoft.com/office/drawing/2014/main" val="3839126887"/>
                    </a:ext>
                  </a:extLst>
                </a:gridCol>
                <a:gridCol w="1567132">
                  <a:extLst>
                    <a:ext uri="{9D8B030D-6E8A-4147-A177-3AD203B41FA5}">
                      <a16:colId xmlns:a16="http://schemas.microsoft.com/office/drawing/2014/main" val="1481135582"/>
                    </a:ext>
                  </a:extLst>
                </a:gridCol>
              </a:tblGrid>
              <a:tr h="0">
                <a:tc>
                  <a:txBody>
                    <a:bodyPr/>
                    <a:lstStyle/>
                    <a:p>
                      <a:pPr>
                        <a:buNone/>
                      </a:pPr>
                      <a:r>
                        <a:rPr lang="en-US"/>
                        <a:t>Symptom</a:t>
                      </a:r>
                    </a:p>
                  </a:txBody>
                  <a:tcPr anchor="ctr">
                    <a:lnL>
                      <a:noFill/>
                    </a:lnL>
                    <a:lnR>
                      <a:noFill/>
                    </a:lnR>
                    <a:lnT>
                      <a:noFill/>
                    </a:lnT>
                    <a:lnB>
                      <a:noFill/>
                    </a:lnB>
                    <a:noFill/>
                  </a:tcPr>
                </a:tc>
                <a:tc>
                  <a:txBody>
                    <a:bodyPr/>
                    <a:lstStyle/>
                    <a:p>
                      <a:pPr>
                        <a:buNone/>
                      </a:pPr>
                      <a:r>
                        <a:rPr lang="en-US"/>
                        <a:t>Correlation with COVID</a:t>
                      </a:r>
                    </a:p>
                  </a:txBody>
                  <a:tcPr anchor="ctr">
                    <a:lnL>
                      <a:noFill/>
                    </a:lnL>
                    <a:lnR>
                      <a:noFill/>
                    </a:lnR>
                    <a:lnT>
                      <a:noFill/>
                    </a:lnT>
                    <a:lnB>
                      <a:noFill/>
                    </a:lnB>
                    <a:noFill/>
                  </a:tcPr>
                </a:tc>
                <a:extLst>
                  <a:ext uri="{0D108BD9-81ED-4DB2-BD59-A6C34878D82A}">
                    <a16:rowId xmlns:a16="http://schemas.microsoft.com/office/drawing/2014/main" val="2070847005"/>
                  </a:ext>
                </a:extLst>
              </a:tr>
              <a:tr h="0">
                <a:tc>
                  <a:txBody>
                    <a:bodyPr/>
                    <a:lstStyle/>
                    <a:p>
                      <a:pPr>
                        <a:buNone/>
                      </a:pPr>
                      <a:r>
                        <a:rPr lang="en-US" dirty="0"/>
                        <a:t>Fatigue</a:t>
                      </a:r>
                    </a:p>
                  </a:txBody>
                  <a:tcPr anchor="ctr">
                    <a:lnL>
                      <a:noFill/>
                    </a:lnL>
                    <a:lnR>
                      <a:noFill/>
                    </a:lnR>
                    <a:lnT>
                      <a:noFill/>
                    </a:lnT>
                    <a:lnB>
                      <a:noFill/>
                    </a:lnB>
                    <a:noFill/>
                  </a:tcPr>
                </a:tc>
                <a:tc>
                  <a:txBody>
                    <a:bodyPr/>
                    <a:lstStyle/>
                    <a:p>
                      <a:pPr>
                        <a:buNone/>
                      </a:pPr>
                      <a:r>
                        <a:rPr lang="en-US"/>
                        <a:t>0.4316</a:t>
                      </a:r>
                    </a:p>
                  </a:txBody>
                  <a:tcPr anchor="ctr">
                    <a:lnL>
                      <a:noFill/>
                    </a:lnL>
                    <a:lnR>
                      <a:noFill/>
                    </a:lnR>
                    <a:lnT>
                      <a:noFill/>
                    </a:lnT>
                    <a:lnB>
                      <a:noFill/>
                    </a:lnB>
                    <a:noFill/>
                  </a:tcPr>
                </a:tc>
                <a:extLst>
                  <a:ext uri="{0D108BD9-81ED-4DB2-BD59-A6C34878D82A}">
                    <a16:rowId xmlns:a16="http://schemas.microsoft.com/office/drawing/2014/main" val="676379115"/>
                  </a:ext>
                </a:extLst>
              </a:tr>
              <a:tr h="0">
                <a:tc>
                  <a:txBody>
                    <a:bodyPr/>
                    <a:lstStyle/>
                    <a:p>
                      <a:pPr>
                        <a:buNone/>
                      </a:pPr>
                      <a:r>
                        <a:rPr lang="en-US"/>
                        <a:t>Headaches</a:t>
                      </a:r>
                    </a:p>
                  </a:txBody>
                  <a:tcPr anchor="ctr">
                    <a:lnL>
                      <a:noFill/>
                    </a:lnL>
                    <a:lnR>
                      <a:noFill/>
                    </a:lnR>
                    <a:lnT>
                      <a:noFill/>
                    </a:lnT>
                    <a:lnB>
                      <a:noFill/>
                    </a:lnB>
                    <a:noFill/>
                  </a:tcPr>
                </a:tc>
                <a:tc>
                  <a:txBody>
                    <a:bodyPr/>
                    <a:lstStyle/>
                    <a:p>
                      <a:pPr>
                        <a:buNone/>
                      </a:pPr>
                      <a:r>
                        <a:rPr lang="en-US"/>
                        <a:t>0.4289</a:t>
                      </a:r>
                    </a:p>
                  </a:txBody>
                  <a:tcPr anchor="ctr">
                    <a:lnL>
                      <a:noFill/>
                    </a:lnL>
                    <a:lnR>
                      <a:noFill/>
                    </a:lnR>
                    <a:lnT>
                      <a:noFill/>
                    </a:lnT>
                    <a:lnB>
                      <a:noFill/>
                    </a:lnB>
                    <a:noFill/>
                  </a:tcPr>
                </a:tc>
                <a:extLst>
                  <a:ext uri="{0D108BD9-81ED-4DB2-BD59-A6C34878D82A}">
                    <a16:rowId xmlns:a16="http://schemas.microsoft.com/office/drawing/2014/main" val="1059651138"/>
                  </a:ext>
                </a:extLst>
              </a:tr>
              <a:tr h="0">
                <a:tc>
                  <a:txBody>
                    <a:bodyPr/>
                    <a:lstStyle/>
                    <a:p>
                      <a:pPr>
                        <a:buNone/>
                      </a:pPr>
                      <a:r>
                        <a:rPr lang="en-US"/>
                        <a:t>Loss of smell</a:t>
                      </a:r>
                    </a:p>
                  </a:txBody>
                  <a:tcPr anchor="ctr">
                    <a:lnL>
                      <a:noFill/>
                    </a:lnL>
                    <a:lnR>
                      <a:noFill/>
                    </a:lnR>
                    <a:lnT>
                      <a:noFill/>
                    </a:lnT>
                    <a:lnB>
                      <a:noFill/>
                    </a:lnB>
                    <a:noFill/>
                  </a:tcPr>
                </a:tc>
                <a:tc>
                  <a:txBody>
                    <a:bodyPr/>
                    <a:lstStyle/>
                    <a:p>
                      <a:pPr>
                        <a:buNone/>
                      </a:pPr>
                      <a:r>
                        <a:rPr lang="en-US"/>
                        <a:t>0.3956</a:t>
                      </a:r>
                    </a:p>
                  </a:txBody>
                  <a:tcPr anchor="ctr">
                    <a:lnL>
                      <a:noFill/>
                    </a:lnL>
                    <a:lnR>
                      <a:noFill/>
                    </a:lnR>
                    <a:lnT>
                      <a:noFill/>
                    </a:lnT>
                    <a:lnB>
                      <a:noFill/>
                    </a:lnB>
                    <a:noFill/>
                  </a:tcPr>
                </a:tc>
                <a:extLst>
                  <a:ext uri="{0D108BD9-81ED-4DB2-BD59-A6C34878D82A}">
                    <a16:rowId xmlns:a16="http://schemas.microsoft.com/office/drawing/2014/main" val="2795972292"/>
                  </a:ext>
                </a:extLst>
              </a:tr>
              <a:tr h="0">
                <a:tc>
                  <a:txBody>
                    <a:bodyPr/>
                    <a:lstStyle/>
                    <a:p>
                      <a:pPr>
                        <a:buNone/>
                      </a:pPr>
                      <a:r>
                        <a:rPr lang="en-US"/>
                        <a:t>Muscle aches</a:t>
                      </a:r>
                    </a:p>
                  </a:txBody>
                  <a:tcPr anchor="ctr">
                    <a:lnL>
                      <a:noFill/>
                    </a:lnL>
                    <a:lnR>
                      <a:noFill/>
                    </a:lnR>
                    <a:lnT>
                      <a:noFill/>
                    </a:lnT>
                    <a:lnB>
                      <a:noFill/>
                    </a:lnB>
                    <a:noFill/>
                  </a:tcPr>
                </a:tc>
                <a:tc>
                  <a:txBody>
                    <a:bodyPr/>
                    <a:lstStyle/>
                    <a:p>
                      <a:pPr>
                        <a:buNone/>
                      </a:pPr>
                      <a:r>
                        <a:rPr lang="en-US"/>
                        <a:t>0.3894</a:t>
                      </a:r>
                    </a:p>
                  </a:txBody>
                  <a:tcPr anchor="ctr">
                    <a:lnL>
                      <a:noFill/>
                    </a:lnL>
                    <a:lnR>
                      <a:noFill/>
                    </a:lnR>
                    <a:lnT>
                      <a:noFill/>
                    </a:lnT>
                    <a:lnB>
                      <a:noFill/>
                    </a:lnB>
                    <a:noFill/>
                  </a:tcPr>
                </a:tc>
                <a:extLst>
                  <a:ext uri="{0D108BD9-81ED-4DB2-BD59-A6C34878D82A}">
                    <a16:rowId xmlns:a16="http://schemas.microsoft.com/office/drawing/2014/main" val="2049847491"/>
                  </a:ext>
                </a:extLst>
              </a:tr>
              <a:tr h="0">
                <a:tc>
                  <a:txBody>
                    <a:bodyPr/>
                    <a:lstStyle/>
                    <a:p>
                      <a:pPr>
                        <a:buNone/>
                      </a:pPr>
                      <a:r>
                        <a:rPr lang="en-US"/>
                        <a:t>Chills</a:t>
                      </a:r>
                    </a:p>
                  </a:txBody>
                  <a:tcPr anchor="ctr">
                    <a:lnL>
                      <a:noFill/>
                    </a:lnL>
                    <a:lnR>
                      <a:noFill/>
                    </a:lnR>
                    <a:lnT>
                      <a:noFill/>
                    </a:lnT>
                    <a:lnB>
                      <a:noFill/>
                    </a:lnB>
                    <a:noFill/>
                  </a:tcPr>
                </a:tc>
                <a:tc>
                  <a:txBody>
                    <a:bodyPr/>
                    <a:lstStyle/>
                    <a:p>
                      <a:pPr>
                        <a:buNone/>
                      </a:pPr>
                      <a:r>
                        <a:rPr lang="en-US"/>
                        <a:t>0.3839</a:t>
                      </a:r>
                    </a:p>
                  </a:txBody>
                  <a:tcPr anchor="ctr">
                    <a:lnL>
                      <a:noFill/>
                    </a:lnL>
                    <a:lnR>
                      <a:noFill/>
                    </a:lnR>
                    <a:lnT>
                      <a:noFill/>
                    </a:lnT>
                    <a:lnB>
                      <a:noFill/>
                    </a:lnB>
                    <a:noFill/>
                  </a:tcPr>
                </a:tc>
                <a:extLst>
                  <a:ext uri="{0D108BD9-81ED-4DB2-BD59-A6C34878D82A}">
                    <a16:rowId xmlns:a16="http://schemas.microsoft.com/office/drawing/2014/main" val="3675293395"/>
                  </a:ext>
                </a:extLst>
              </a:tr>
              <a:tr h="0">
                <a:tc>
                  <a:txBody>
                    <a:bodyPr/>
                    <a:lstStyle/>
                    <a:p>
                      <a:pPr>
                        <a:buNone/>
                      </a:pPr>
                      <a:r>
                        <a:rPr lang="en-US"/>
                        <a:t>Fever</a:t>
                      </a:r>
                    </a:p>
                  </a:txBody>
                  <a:tcPr anchor="ctr">
                    <a:lnL>
                      <a:noFill/>
                    </a:lnL>
                    <a:lnR>
                      <a:noFill/>
                    </a:lnR>
                    <a:lnT>
                      <a:noFill/>
                    </a:lnT>
                    <a:lnB>
                      <a:noFill/>
                    </a:lnB>
                    <a:noFill/>
                  </a:tcPr>
                </a:tc>
                <a:tc>
                  <a:txBody>
                    <a:bodyPr/>
                    <a:lstStyle/>
                    <a:p>
                      <a:pPr>
                        <a:buNone/>
                      </a:pPr>
                      <a:r>
                        <a:rPr lang="en-US" dirty="0"/>
                        <a:t>0.3319</a:t>
                      </a:r>
                    </a:p>
                  </a:txBody>
                  <a:tcPr anchor="ctr">
                    <a:lnL>
                      <a:noFill/>
                    </a:lnL>
                    <a:lnR>
                      <a:noFill/>
                    </a:lnR>
                    <a:lnT>
                      <a:noFill/>
                    </a:lnT>
                    <a:lnB>
                      <a:noFill/>
                    </a:lnB>
                    <a:noFill/>
                  </a:tcPr>
                </a:tc>
                <a:extLst>
                  <a:ext uri="{0D108BD9-81ED-4DB2-BD59-A6C34878D82A}">
                    <a16:rowId xmlns:a16="http://schemas.microsoft.com/office/drawing/2014/main" val="862170706"/>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7738C6-A2AC-8036-FA3B-BDB67E3FADFA}"/>
              </a:ext>
            </a:extLst>
          </p:cNvPr>
          <p:cNvSpPr>
            <a:spLocks noGrp="1"/>
          </p:cNvSpPr>
          <p:nvPr>
            <p:ph type="title"/>
          </p:nvPr>
        </p:nvSpPr>
        <p:spPr/>
        <p:txBody>
          <a:bodyPr/>
          <a:lstStyle/>
          <a:p>
            <a:r>
              <a:rPr lang="en-US" dirty="0"/>
              <a:t>Lasso regression</a:t>
            </a:r>
          </a:p>
        </p:txBody>
      </p:sp>
      <p:sp>
        <p:nvSpPr>
          <p:cNvPr id="6" name="TextBox 5">
            <a:extLst>
              <a:ext uri="{FF2B5EF4-FFF2-40B4-BE49-F238E27FC236}">
                <a16:creationId xmlns:a16="http://schemas.microsoft.com/office/drawing/2014/main" id="{B36411E2-1D8B-A1A0-9A6E-FFD4CB995F00}"/>
              </a:ext>
            </a:extLst>
          </p:cNvPr>
          <p:cNvSpPr txBox="1"/>
          <p:nvPr/>
        </p:nvSpPr>
        <p:spPr>
          <a:xfrm>
            <a:off x="0" y="2585212"/>
            <a:ext cx="9575800" cy="3416320"/>
          </a:xfrm>
          <a:prstGeom prst="rect">
            <a:avLst/>
          </a:prstGeom>
          <a:noFill/>
        </p:spPr>
        <p:txBody>
          <a:bodyPr wrap="square" rtlCol="0">
            <a:spAutoFit/>
          </a:bodyPr>
          <a:lstStyle/>
          <a:p>
            <a:r>
              <a:rPr lang="en-US" dirty="0"/>
              <a:t>Repeated LASSO regressions were performed across temporally ordered variables.</a:t>
            </a:r>
          </a:p>
          <a:p>
            <a:r>
              <a:rPr lang="en-US" dirty="0"/>
              <a:t>LASSO regression was selected because it reduces overfitting, removes weak predictors, and identifies the strongest direct effects.</a:t>
            </a:r>
          </a:p>
          <a:p>
            <a:endParaRPr lang="en-US" dirty="0"/>
          </a:p>
          <a:p>
            <a:r>
              <a:rPr lang="en-US" dirty="0"/>
              <a:t>Variables were only regressed on earlier variables within the temporal sequence.</a:t>
            </a:r>
          </a:p>
          <a:p>
            <a:r>
              <a:rPr lang="en-US" dirty="0"/>
              <a:t>Weak coefficients less than or equal to ±0.05 were removed.</a:t>
            </a:r>
          </a:p>
          <a:p>
            <a:r>
              <a:rPr lang="en-US" dirty="0"/>
              <a:t>Models with McFadden R-square values below 0.10 were excluded.</a:t>
            </a:r>
          </a:p>
          <a:p>
            <a:endParaRPr lang="en-US" dirty="0"/>
          </a:p>
          <a:p>
            <a:r>
              <a:rPr lang="en-US" dirty="0"/>
              <a:t>The strongest retained direct predictors included:</a:t>
            </a:r>
          </a:p>
          <a:p>
            <a:r>
              <a:rPr lang="en-US" dirty="0"/>
              <a:t>known exposure, headaches, loss of smell, fatigue, cough, and chills.</a:t>
            </a:r>
          </a:p>
          <a:p>
            <a:r>
              <a:rPr lang="en-US" dirty="0"/>
              <a:t>This simplified the network while preserving clinically meaningful relationships.</a:t>
            </a:r>
          </a:p>
          <a:p>
            <a:endParaRPr lang="en-US" dirty="0"/>
          </a:p>
        </p:txBody>
      </p:sp>
    </p:spTree>
    <p:extLst>
      <p:ext uri="{BB962C8B-B14F-4D97-AF65-F5344CB8AC3E}">
        <p14:creationId xmlns:p14="http://schemas.microsoft.com/office/powerpoint/2010/main" val="325438867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CD3244-BD6B-50E7-4535-70EABF40C9B0}"/>
              </a:ext>
            </a:extLst>
          </p:cNvPr>
          <p:cNvSpPr>
            <a:spLocks noGrp="1"/>
          </p:cNvSpPr>
          <p:nvPr>
            <p:ph type="title"/>
          </p:nvPr>
        </p:nvSpPr>
        <p:spPr>
          <a:xfrm>
            <a:off x="603504" y="964692"/>
            <a:ext cx="2300202" cy="1188720"/>
          </a:xfrm>
        </p:spPr>
        <p:txBody>
          <a:bodyPr vert="horz" lIns="182880" tIns="182880" rIns="182880" bIns="182880" rtlCol="0" anchor="ctr">
            <a:normAutofit/>
          </a:bodyPr>
          <a:lstStyle/>
          <a:p>
            <a:r>
              <a:rPr lang="en-US" sz="2000"/>
              <a:t>Markov blanket network</a:t>
            </a:r>
          </a:p>
        </p:txBody>
      </p:sp>
      <p:sp>
        <p:nvSpPr>
          <p:cNvPr id="5" name="TextBox 4">
            <a:extLst>
              <a:ext uri="{FF2B5EF4-FFF2-40B4-BE49-F238E27FC236}">
                <a16:creationId xmlns:a16="http://schemas.microsoft.com/office/drawing/2014/main" id="{F1A1D519-F7F8-C51E-16D0-4CCEE42D599D}"/>
              </a:ext>
            </a:extLst>
          </p:cNvPr>
          <p:cNvSpPr txBox="1"/>
          <p:nvPr/>
        </p:nvSpPr>
        <p:spPr>
          <a:xfrm>
            <a:off x="49940" y="2630102"/>
            <a:ext cx="3320696" cy="3263206"/>
          </a:xfrm>
          <a:prstGeom prst="rect">
            <a:avLst/>
          </a:prstGeom>
        </p:spPr>
        <p:txBody>
          <a:bodyPr vert="horz" lIns="91440" tIns="45720" rIns="91440" bIns="45720" rtlCol="0">
            <a:normAutofit/>
          </a:bodyPr>
          <a:lstStyle/>
          <a:p>
            <a:pPr defTabSz="914400">
              <a:spcBef>
                <a:spcPts val="1000"/>
              </a:spcBef>
              <a:buClr>
                <a:schemeClr val="accent2"/>
              </a:buClr>
            </a:pPr>
            <a:r>
              <a:rPr lang="en-US" dirty="0">
                <a:solidFill>
                  <a:schemeClr val="tx1">
                    <a:lumMod val="85000"/>
                    <a:lumOff val="15000"/>
                  </a:schemeClr>
                </a:solidFill>
              </a:rPr>
              <a:t>Markov blanket is the smallest set of variables that directly predicts a target variable while making all other variables conditionally independent.</a:t>
            </a:r>
          </a:p>
          <a:p>
            <a:pPr indent="-228600" defTabSz="914400">
              <a:spcBef>
                <a:spcPts val="1000"/>
              </a:spcBef>
              <a:buClr>
                <a:schemeClr val="accent2"/>
              </a:buClr>
              <a:buFont typeface="Arial" panose="020B0604020202020204" pitchFamily="34" charset="0"/>
              <a:buChar char="•"/>
            </a:pPr>
            <a:r>
              <a:rPr lang="en-US" dirty="0">
                <a:solidFill>
                  <a:schemeClr val="tx1">
                    <a:lumMod val="85000"/>
                    <a:lumOff val="15000"/>
                  </a:schemeClr>
                </a:solidFill>
              </a:rPr>
              <a:t>In this project, the Markov blanket identifies the strongest direct predictors of PCR-confirmed COVID-19 positivity.</a:t>
            </a:r>
          </a:p>
        </p:txBody>
      </p:sp>
      <p:sp>
        <p:nvSpPr>
          <p:cNvPr id="16" name="Rectangle 15">
            <a:extLst>
              <a:ext uri="{FF2B5EF4-FFF2-40B4-BE49-F238E27FC236}">
                <a16:creationId xmlns:a16="http://schemas.microsoft.com/office/drawing/2014/main" id="{B9A6A8C2-8B3A-4AD3-AFCC-F1D3F1F02D3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370636" y="964692"/>
            <a:ext cx="5164074" cy="4936558"/>
          </a:xfrm>
          <a:prstGeom prst="rect">
            <a:avLst/>
          </a:prstGeom>
          <a:noFill/>
          <a:ln w="31750" cap="sq">
            <a:solidFill>
              <a:srgbClr val="FFFFFF"/>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Rectangle 17">
            <a:extLst>
              <a:ext uri="{FF2B5EF4-FFF2-40B4-BE49-F238E27FC236}">
                <a16:creationId xmlns:a16="http://schemas.microsoft.com/office/drawing/2014/main" id="{CDF64937-39B5-4AB3-A2EF-EA689BA6087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93351" y="1128683"/>
            <a:ext cx="4918644" cy="4608576"/>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1" name="Table 10">
            <a:extLst>
              <a:ext uri="{FF2B5EF4-FFF2-40B4-BE49-F238E27FC236}">
                <a16:creationId xmlns:a16="http://schemas.microsoft.com/office/drawing/2014/main" id="{5A51D39B-B559-5CC2-26D4-9FA41181B2CA}"/>
              </a:ext>
            </a:extLst>
          </p:cNvPr>
          <p:cNvGraphicFramePr>
            <a:graphicFrameLocks noGrp="1"/>
          </p:cNvGraphicFramePr>
          <p:nvPr>
            <p:extLst>
              <p:ext uri="{D42A27DB-BD31-4B8C-83A1-F6EECF244321}">
                <p14:modId xmlns:p14="http://schemas.microsoft.com/office/powerpoint/2010/main" val="1027310730"/>
              </p:ext>
            </p:extLst>
          </p:nvPr>
        </p:nvGraphicFramePr>
        <p:xfrm>
          <a:off x="3617524" y="1548823"/>
          <a:ext cx="4872444" cy="3768302"/>
        </p:xfrm>
        <a:graphic>
          <a:graphicData uri="http://schemas.openxmlformats.org/drawingml/2006/table">
            <a:tbl>
              <a:tblPr firstRow="1" bandRow="1">
                <a:solidFill>
                  <a:schemeClr val="tx1">
                    <a:lumMod val="65000"/>
                    <a:lumOff val="35000"/>
                  </a:schemeClr>
                </a:solidFill>
              </a:tblPr>
              <a:tblGrid>
                <a:gridCol w="717318">
                  <a:extLst>
                    <a:ext uri="{9D8B030D-6E8A-4147-A177-3AD203B41FA5}">
                      <a16:colId xmlns:a16="http://schemas.microsoft.com/office/drawing/2014/main" val="3441751717"/>
                    </a:ext>
                  </a:extLst>
                </a:gridCol>
                <a:gridCol w="1258873">
                  <a:extLst>
                    <a:ext uri="{9D8B030D-6E8A-4147-A177-3AD203B41FA5}">
                      <a16:colId xmlns:a16="http://schemas.microsoft.com/office/drawing/2014/main" val="3468080465"/>
                    </a:ext>
                  </a:extLst>
                </a:gridCol>
                <a:gridCol w="1132763">
                  <a:extLst>
                    <a:ext uri="{9D8B030D-6E8A-4147-A177-3AD203B41FA5}">
                      <a16:colId xmlns:a16="http://schemas.microsoft.com/office/drawing/2014/main" val="1700595811"/>
                    </a:ext>
                  </a:extLst>
                </a:gridCol>
                <a:gridCol w="1549776">
                  <a:extLst>
                    <a:ext uri="{9D8B030D-6E8A-4147-A177-3AD203B41FA5}">
                      <a16:colId xmlns:a16="http://schemas.microsoft.com/office/drawing/2014/main" val="2990976916"/>
                    </a:ext>
                  </a:extLst>
                </a:gridCol>
                <a:gridCol w="213714">
                  <a:extLst>
                    <a:ext uri="{9D8B030D-6E8A-4147-A177-3AD203B41FA5}">
                      <a16:colId xmlns:a16="http://schemas.microsoft.com/office/drawing/2014/main" val="207945865"/>
                    </a:ext>
                  </a:extLst>
                </a:gridCol>
              </a:tblGrid>
              <a:tr h="338966">
                <a:tc>
                  <a:txBody>
                    <a:bodyPr/>
                    <a:lstStyle/>
                    <a:p>
                      <a:pPr algn="l" fontAlgn="b">
                        <a:buNone/>
                      </a:pPr>
                      <a:r>
                        <a:rPr lang="en-US" sz="800" b="1" i="0" u="none" strike="noStrike" cap="all" spc="60">
                          <a:solidFill>
                            <a:schemeClr val="tx1"/>
                          </a:solidFill>
                          <a:effectLst/>
                          <a:latin typeface="Aptos Narrow" panose="020B0004020202020204" pitchFamily="34" charset="0"/>
                        </a:rPr>
                        <a:t>feature</a:t>
                      </a:r>
                    </a:p>
                  </a:txBody>
                  <a:tcPr marL="94157" marR="94157" marT="94157" marB="94157" anchor="b">
                    <a:lnL w="12700" cmpd="sng">
                      <a:noFill/>
                    </a:lnL>
                    <a:lnR w="12700" cmpd="sng">
                      <a:noFill/>
                    </a:lnR>
                    <a:lnT w="12700" cmpd="sng">
                      <a:noFill/>
                    </a:lnT>
                    <a:lnB w="38100" cmpd="sng">
                      <a:noFill/>
                    </a:lnB>
                    <a:noFill/>
                  </a:tcPr>
                </a:tc>
                <a:tc>
                  <a:txBody>
                    <a:bodyPr/>
                    <a:lstStyle/>
                    <a:p>
                      <a:pPr algn="l" fontAlgn="b">
                        <a:buNone/>
                      </a:pPr>
                      <a:r>
                        <a:rPr lang="en-US" sz="800" b="1" i="0" u="none" strike="noStrike" cap="all" spc="60">
                          <a:solidFill>
                            <a:schemeClr val="tx1"/>
                          </a:solidFill>
                          <a:effectLst/>
                          <a:latin typeface="Aptos Narrow" panose="020B0004020202020204" pitchFamily="34" charset="0"/>
                        </a:rPr>
                        <a:t>lasso_coefficient</a:t>
                      </a:r>
                    </a:p>
                  </a:txBody>
                  <a:tcPr marL="94157" marR="94157" marT="94157" marB="94157" anchor="b">
                    <a:lnL w="12700" cmpd="sng">
                      <a:noFill/>
                    </a:lnL>
                    <a:lnR w="12700" cmpd="sng">
                      <a:noFill/>
                    </a:lnR>
                    <a:lnT w="12700" cmpd="sng">
                      <a:noFill/>
                    </a:lnT>
                    <a:lnB w="38100" cmpd="sng">
                      <a:noFill/>
                    </a:lnB>
                    <a:noFill/>
                  </a:tcPr>
                </a:tc>
                <a:tc>
                  <a:txBody>
                    <a:bodyPr/>
                    <a:lstStyle/>
                    <a:p>
                      <a:pPr algn="l" fontAlgn="b">
                        <a:buNone/>
                      </a:pPr>
                      <a:r>
                        <a:rPr lang="en-US" sz="800" b="1" i="0" u="none" strike="noStrike" cap="all" spc="60">
                          <a:solidFill>
                            <a:schemeClr val="tx1"/>
                          </a:solidFill>
                          <a:effectLst/>
                          <a:latin typeface="Aptos Narrow" panose="020B0004020202020204" pitchFamily="34" charset="0"/>
                        </a:rPr>
                        <a:t>abs_coefficient</a:t>
                      </a:r>
                    </a:p>
                  </a:txBody>
                  <a:tcPr marL="94157" marR="94157" marT="94157" marB="94157" anchor="b">
                    <a:lnL w="12700" cmpd="sng">
                      <a:noFill/>
                    </a:lnL>
                    <a:lnR w="12700" cmpd="sng">
                      <a:noFill/>
                    </a:lnR>
                    <a:lnT w="12700" cmpd="sng">
                      <a:noFill/>
                    </a:lnT>
                    <a:lnB w="38100" cmpd="sng">
                      <a:noFill/>
                    </a:lnB>
                    <a:noFill/>
                  </a:tcPr>
                </a:tc>
                <a:tc>
                  <a:txBody>
                    <a:bodyPr/>
                    <a:lstStyle/>
                    <a:p>
                      <a:pPr algn="l" fontAlgn="b">
                        <a:buNone/>
                      </a:pPr>
                      <a:r>
                        <a:rPr lang="en-US" sz="800" b="1" i="0" u="none" strike="noStrike" cap="all" spc="60">
                          <a:solidFill>
                            <a:schemeClr val="tx1"/>
                          </a:solidFill>
                          <a:effectLst/>
                          <a:latin typeface="Aptos Narrow" panose="020B0004020202020204" pitchFamily="34" charset="0"/>
                        </a:rPr>
                        <a:t>relationship_to_target</a:t>
                      </a:r>
                    </a:p>
                  </a:txBody>
                  <a:tcPr marL="94157" marR="94157" marT="94157" marB="94157" anchor="b">
                    <a:lnL w="12700" cmpd="sng">
                      <a:noFill/>
                    </a:lnL>
                    <a:lnR w="12700" cmpd="sng">
                      <a:noFill/>
                    </a:lnR>
                    <a:lnT w="12700" cmpd="sng">
                      <a:noFill/>
                    </a:lnT>
                    <a:lnB w="38100" cmpd="sng">
                      <a:noFill/>
                    </a:lnB>
                    <a:noFill/>
                  </a:tcPr>
                </a:tc>
                <a:tc>
                  <a:txBody>
                    <a:bodyPr/>
                    <a:lstStyle/>
                    <a:p>
                      <a:pPr algn="l" fontAlgn="b">
                        <a:buNone/>
                      </a:pPr>
                      <a:endParaRPr lang="en-US" sz="800" b="1" i="0" u="none" strike="noStrike" cap="all" spc="60">
                        <a:solidFill>
                          <a:schemeClr val="tx1"/>
                        </a:solidFill>
                        <a:effectLst/>
                        <a:latin typeface="Aptos Narrow" panose="020B0004020202020204" pitchFamily="34" charset="0"/>
                      </a:endParaRPr>
                    </a:p>
                  </a:txBody>
                  <a:tcPr marL="94157" marR="94157" marT="94157" marB="94157" anchor="b">
                    <a:lnL w="12700" cmpd="sng">
                      <a:noFill/>
                    </a:lnL>
                    <a:lnR w="12700" cmpd="sng">
                      <a:noFill/>
                    </a:lnR>
                    <a:lnT w="12700" cmpd="sng">
                      <a:noFill/>
                    </a:lnT>
                    <a:lnB w="38100" cmpd="sng">
                      <a:noFill/>
                    </a:lnB>
                    <a:noFill/>
                  </a:tcPr>
                </a:tc>
                <a:extLst>
                  <a:ext uri="{0D108BD9-81ED-4DB2-BD59-A6C34878D82A}">
                    <a16:rowId xmlns:a16="http://schemas.microsoft.com/office/drawing/2014/main" val="4019898909"/>
                  </a:ext>
                </a:extLst>
              </a:tr>
              <a:tr h="428667">
                <a:tc>
                  <a:txBody>
                    <a:bodyPr/>
                    <a:lstStyle/>
                    <a:p>
                      <a:pPr algn="l" fontAlgn="b">
                        <a:buNone/>
                      </a:pPr>
                      <a:r>
                        <a:rPr lang="en-US" sz="1100" b="0" i="0" u="none" strike="noStrike" cap="none" spc="0">
                          <a:solidFill>
                            <a:schemeClr val="bg1"/>
                          </a:solidFill>
                          <a:effectLst/>
                          <a:latin typeface="Aptos Narrow" panose="020B0004020202020204" pitchFamily="34" charset="0"/>
                        </a:rPr>
                        <a:t>Known exposure</a:t>
                      </a:r>
                    </a:p>
                  </a:txBody>
                  <a:tcPr marL="6005" marR="6005" marT="6005" marB="62771" anchor="b">
                    <a:lnL w="12700" cmpd="sng">
                      <a:noFill/>
                      <a:prstDash val="solid"/>
                    </a:lnL>
                    <a:lnR w="12700" cmpd="sng">
                      <a:noFill/>
                      <a:prstDash val="solid"/>
                    </a:lnR>
                    <a:lnT w="38100" cmpd="sng">
                      <a:noFill/>
                    </a:lnT>
                    <a:lnB w="12700" cmpd="sng">
                      <a:noFill/>
                      <a:prstDash val="solid"/>
                    </a:lnB>
                    <a:solidFill>
                      <a:schemeClr val="tx1">
                        <a:lumMod val="65000"/>
                        <a:lumOff val="35000"/>
                      </a:schemeClr>
                    </a:solidFill>
                  </a:tcPr>
                </a:tc>
                <a:tc>
                  <a:txBody>
                    <a:bodyPr/>
                    <a:lstStyle/>
                    <a:p>
                      <a:pPr algn="r" fontAlgn="b">
                        <a:buNone/>
                      </a:pPr>
                      <a:r>
                        <a:rPr lang="en-US" sz="1100" b="0" i="0" u="none" strike="noStrike" cap="none" spc="0">
                          <a:solidFill>
                            <a:schemeClr val="bg1"/>
                          </a:solidFill>
                          <a:effectLst/>
                          <a:latin typeface="Aptos Narrow" panose="020B0004020202020204" pitchFamily="34" charset="0"/>
                        </a:rPr>
                        <a:t>-0.5472618</a:t>
                      </a:r>
                    </a:p>
                  </a:txBody>
                  <a:tcPr marL="6005" marR="6005" marT="6005" marB="62771" anchor="b">
                    <a:lnL w="12700" cmpd="sng">
                      <a:noFill/>
                      <a:prstDash val="solid"/>
                    </a:lnL>
                    <a:lnR w="12700" cmpd="sng">
                      <a:noFill/>
                      <a:prstDash val="solid"/>
                    </a:lnR>
                    <a:lnT w="38100" cmpd="sng">
                      <a:noFill/>
                    </a:lnT>
                    <a:lnB w="12700" cmpd="sng">
                      <a:noFill/>
                      <a:prstDash val="solid"/>
                    </a:lnB>
                    <a:solidFill>
                      <a:schemeClr val="tx1">
                        <a:lumMod val="65000"/>
                        <a:lumOff val="35000"/>
                      </a:schemeClr>
                    </a:solidFill>
                  </a:tcPr>
                </a:tc>
                <a:tc>
                  <a:txBody>
                    <a:bodyPr/>
                    <a:lstStyle/>
                    <a:p>
                      <a:pPr algn="r" fontAlgn="b">
                        <a:buNone/>
                      </a:pPr>
                      <a:r>
                        <a:rPr lang="en-US" sz="1100" b="0" i="0" u="none" strike="noStrike" cap="none" spc="0">
                          <a:solidFill>
                            <a:schemeClr val="bg1"/>
                          </a:solidFill>
                          <a:effectLst/>
                          <a:latin typeface="Aptos Narrow" panose="020B0004020202020204" pitchFamily="34" charset="0"/>
                        </a:rPr>
                        <a:t>0.54726179</a:t>
                      </a:r>
                    </a:p>
                  </a:txBody>
                  <a:tcPr marL="6005" marR="6005" marT="6005" marB="62771" anchor="b">
                    <a:lnL w="12700" cmpd="sng">
                      <a:noFill/>
                      <a:prstDash val="solid"/>
                    </a:lnL>
                    <a:lnR w="12700" cmpd="sng">
                      <a:noFill/>
                      <a:prstDash val="solid"/>
                    </a:lnR>
                    <a:lnT w="38100" cmpd="sng">
                      <a:noFill/>
                    </a:lnT>
                    <a:lnB w="12700" cmpd="sng">
                      <a:noFill/>
                      <a:prstDash val="solid"/>
                    </a:lnB>
                    <a:solidFill>
                      <a:schemeClr val="tx1">
                        <a:lumMod val="65000"/>
                        <a:lumOff val="35000"/>
                      </a:schemeClr>
                    </a:solidFill>
                  </a:tcPr>
                </a:tc>
                <a:tc gridSpan="2">
                  <a:txBody>
                    <a:bodyPr/>
                    <a:lstStyle/>
                    <a:p>
                      <a:pPr algn="l" fontAlgn="b">
                        <a:buNone/>
                      </a:pPr>
                      <a:r>
                        <a:rPr lang="en-US" sz="1100" b="0" i="0" u="none" strike="noStrike" cap="none" spc="0">
                          <a:solidFill>
                            <a:schemeClr val="bg1"/>
                          </a:solidFill>
                          <a:effectLst/>
                          <a:latin typeface="Aptos Narrow" panose="020B0004020202020204" pitchFamily="34" charset="0"/>
                        </a:rPr>
                        <a:t>Parent / Direct predictor of COVID Positive</a:t>
                      </a:r>
                    </a:p>
                  </a:txBody>
                  <a:tcPr marL="6005" marR="6005" marT="6005" marB="62771" anchor="b">
                    <a:lnL w="12700" cmpd="sng">
                      <a:noFill/>
                      <a:prstDash val="solid"/>
                    </a:lnL>
                    <a:lnR w="12700" cmpd="sng">
                      <a:noFill/>
                      <a:prstDash val="solid"/>
                    </a:lnR>
                    <a:lnT w="38100" cmpd="sng">
                      <a:noFill/>
                    </a:lnT>
                    <a:lnB w="12700" cmpd="sng">
                      <a:noFill/>
                      <a:prstDash val="solid"/>
                    </a:lnB>
                    <a:solidFill>
                      <a:schemeClr val="tx1">
                        <a:lumMod val="65000"/>
                        <a:lumOff val="35000"/>
                      </a:schemeClr>
                    </a:solidFill>
                  </a:tcPr>
                </a:tc>
                <a:tc hMerge="1">
                  <a:txBody>
                    <a:bodyPr/>
                    <a:lstStyle/>
                    <a:p>
                      <a:endParaRPr lang="en-US"/>
                    </a:p>
                  </a:txBody>
                  <a:tcPr/>
                </a:tc>
                <a:extLst>
                  <a:ext uri="{0D108BD9-81ED-4DB2-BD59-A6C34878D82A}">
                    <a16:rowId xmlns:a16="http://schemas.microsoft.com/office/drawing/2014/main" val="4269506663"/>
                  </a:ext>
                </a:extLst>
              </a:tr>
              <a:tr h="428667">
                <a:tc>
                  <a:txBody>
                    <a:bodyPr/>
                    <a:lstStyle/>
                    <a:p>
                      <a:pPr algn="l" fontAlgn="b">
                        <a:buNone/>
                      </a:pPr>
                      <a:r>
                        <a:rPr lang="en-US" sz="1100" b="0" i="0" u="none" strike="noStrike" cap="none" spc="0">
                          <a:solidFill>
                            <a:schemeClr val="bg1"/>
                          </a:solidFill>
                          <a:effectLst/>
                          <a:latin typeface="Aptos Narrow" panose="020B0004020202020204" pitchFamily="34" charset="0"/>
                        </a:rPr>
                        <a:t>Headaches</a:t>
                      </a:r>
                    </a:p>
                  </a:txBody>
                  <a:tcPr marL="6005" marR="6005" marT="6005" marB="62771" anchor="b">
                    <a:lnL w="12700" cmpd="sng">
                      <a:noFill/>
                      <a:prstDash val="solid"/>
                    </a:lnL>
                    <a:lnR w="12700" cmpd="sng">
                      <a:noFill/>
                      <a:prstDash val="solid"/>
                    </a:lnR>
                    <a:lnT w="12700" cmpd="sng">
                      <a:noFill/>
                      <a:prstDash val="solid"/>
                    </a:lnT>
                    <a:lnB w="12700" cmpd="sng">
                      <a:noFill/>
                      <a:prstDash val="solid"/>
                    </a:lnB>
                    <a:solidFill>
                      <a:srgbClr val="262626"/>
                    </a:solidFill>
                  </a:tcPr>
                </a:tc>
                <a:tc>
                  <a:txBody>
                    <a:bodyPr/>
                    <a:lstStyle/>
                    <a:p>
                      <a:pPr algn="r" fontAlgn="b">
                        <a:buNone/>
                      </a:pPr>
                      <a:r>
                        <a:rPr lang="en-US" sz="1100" b="0" i="0" u="none" strike="noStrike" cap="none" spc="0">
                          <a:solidFill>
                            <a:schemeClr val="bg1"/>
                          </a:solidFill>
                          <a:effectLst/>
                          <a:latin typeface="Aptos Narrow" panose="020B0004020202020204" pitchFamily="34" charset="0"/>
                        </a:rPr>
                        <a:t>0.44034864</a:t>
                      </a:r>
                    </a:p>
                  </a:txBody>
                  <a:tcPr marL="6005" marR="6005" marT="6005" marB="62771" anchor="b">
                    <a:lnL w="12700" cmpd="sng">
                      <a:noFill/>
                      <a:prstDash val="solid"/>
                    </a:lnL>
                    <a:lnR w="12700" cmpd="sng">
                      <a:noFill/>
                      <a:prstDash val="solid"/>
                    </a:lnR>
                    <a:lnT w="12700" cmpd="sng">
                      <a:noFill/>
                      <a:prstDash val="solid"/>
                    </a:lnT>
                    <a:lnB w="12700" cmpd="sng">
                      <a:noFill/>
                      <a:prstDash val="solid"/>
                    </a:lnB>
                    <a:solidFill>
                      <a:srgbClr val="262626"/>
                    </a:solidFill>
                  </a:tcPr>
                </a:tc>
                <a:tc>
                  <a:txBody>
                    <a:bodyPr/>
                    <a:lstStyle/>
                    <a:p>
                      <a:pPr algn="r" fontAlgn="b">
                        <a:buNone/>
                      </a:pPr>
                      <a:r>
                        <a:rPr lang="en-US" sz="1100" b="0" i="0" u="none" strike="noStrike" cap="none" spc="0">
                          <a:solidFill>
                            <a:schemeClr val="bg1"/>
                          </a:solidFill>
                          <a:effectLst/>
                          <a:latin typeface="Aptos Narrow" panose="020B0004020202020204" pitchFamily="34" charset="0"/>
                        </a:rPr>
                        <a:t>0.44034864</a:t>
                      </a:r>
                    </a:p>
                  </a:txBody>
                  <a:tcPr marL="6005" marR="6005" marT="6005" marB="62771" anchor="b">
                    <a:lnL w="12700" cmpd="sng">
                      <a:noFill/>
                      <a:prstDash val="solid"/>
                    </a:lnL>
                    <a:lnR w="12700" cmpd="sng">
                      <a:noFill/>
                      <a:prstDash val="solid"/>
                    </a:lnR>
                    <a:lnT w="12700" cmpd="sng">
                      <a:noFill/>
                      <a:prstDash val="solid"/>
                    </a:lnT>
                    <a:lnB w="12700" cmpd="sng">
                      <a:noFill/>
                      <a:prstDash val="solid"/>
                    </a:lnB>
                    <a:solidFill>
                      <a:srgbClr val="262626"/>
                    </a:solidFill>
                  </a:tcPr>
                </a:tc>
                <a:tc gridSpan="2">
                  <a:txBody>
                    <a:bodyPr/>
                    <a:lstStyle/>
                    <a:p>
                      <a:pPr algn="l" fontAlgn="b">
                        <a:buNone/>
                      </a:pPr>
                      <a:r>
                        <a:rPr lang="en-US" sz="1100" b="0" i="0" u="none" strike="noStrike" cap="none" spc="0">
                          <a:solidFill>
                            <a:schemeClr val="bg1"/>
                          </a:solidFill>
                          <a:effectLst/>
                          <a:latin typeface="Aptos Narrow" panose="020B0004020202020204" pitchFamily="34" charset="0"/>
                        </a:rPr>
                        <a:t>Parent / Direct predictor of COVID Positive</a:t>
                      </a:r>
                    </a:p>
                  </a:txBody>
                  <a:tcPr marL="6005" marR="6005" marT="6005" marB="62771" anchor="b">
                    <a:lnL w="12700" cmpd="sng">
                      <a:noFill/>
                      <a:prstDash val="solid"/>
                    </a:lnL>
                    <a:lnR w="12700" cmpd="sng">
                      <a:noFill/>
                      <a:prstDash val="solid"/>
                    </a:lnR>
                    <a:lnT w="12700" cmpd="sng">
                      <a:noFill/>
                      <a:prstDash val="solid"/>
                    </a:lnT>
                    <a:lnB w="12700" cmpd="sng">
                      <a:noFill/>
                      <a:prstDash val="solid"/>
                    </a:lnB>
                    <a:solidFill>
                      <a:srgbClr val="262626"/>
                    </a:solidFill>
                  </a:tcPr>
                </a:tc>
                <a:tc hMerge="1">
                  <a:txBody>
                    <a:bodyPr/>
                    <a:lstStyle/>
                    <a:p>
                      <a:endParaRPr lang="en-US"/>
                    </a:p>
                  </a:txBody>
                  <a:tcPr/>
                </a:tc>
                <a:extLst>
                  <a:ext uri="{0D108BD9-81ED-4DB2-BD59-A6C34878D82A}">
                    <a16:rowId xmlns:a16="http://schemas.microsoft.com/office/drawing/2014/main" val="3667992617"/>
                  </a:ext>
                </a:extLst>
              </a:tr>
              <a:tr h="428667">
                <a:tc>
                  <a:txBody>
                    <a:bodyPr/>
                    <a:lstStyle/>
                    <a:p>
                      <a:pPr algn="l" fontAlgn="b">
                        <a:buNone/>
                      </a:pPr>
                      <a:r>
                        <a:rPr lang="en-US" sz="1100" b="0" i="0" u="none" strike="noStrike" cap="none" spc="0">
                          <a:solidFill>
                            <a:schemeClr val="bg1"/>
                          </a:solidFill>
                          <a:effectLst/>
                          <a:latin typeface="Aptos Narrow" panose="020B0004020202020204" pitchFamily="34" charset="0"/>
                        </a:rPr>
                        <a:t>Age</a:t>
                      </a:r>
                    </a:p>
                  </a:txBody>
                  <a:tcPr marL="6005" marR="6005" marT="6005" marB="62771" anchor="b">
                    <a:lnL w="12700" cmpd="sng">
                      <a:noFill/>
                      <a:prstDash val="solid"/>
                    </a:lnL>
                    <a:lnR w="12700" cmpd="sng">
                      <a:noFill/>
                      <a:prstDash val="solid"/>
                    </a:lnR>
                    <a:lnT w="12700" cmpd="sng">
                      <a:noFill/>
                      <a:prstDash val="solid"/>
                    </a:lnT>
                    <a:lnB w="12700" cmpd="sng">
                      <a:noFill/>
                      <a:prstDash val="solid"/>
                    </a:lnB>
                    <a:solidFill>
                      <a:schemeClr val="tx1">
                        <a:lumMod val="65000"/>
                        <a:lumOff val="35000"/>
                      </a:schemeClr>
                    </a:solidFill>
                  </a:tcPr>
                </a:tc>
                <a:tc>
                  <a:txBody>
                    <a:bodyPr/>
                    <a:lstStyle/>
                    <a:p>
                      <a:pPr algn="r" fontAlgn="b">
                        <a:buNone/>
                      </a:pPr>
                      <a:r>
                        <a:rPr lang="en-US" sz="1100" b="0" i="0" u="none" strike="noStrike" cap="none" spc="0">
                          <a:solidFill>
                            <a:schemeClr val="bg1"/>
                          </a:solidFill>
                          <a:effectLst/>
                          <a:latin typeface="Aptos Narrow" panose="020B0004020202020204" pitchFamily="34" charset="0"/>
                        </a:rPr>
                        <a:t>0.27256057</a:t>
                      </a:r>
                    </a:p>
                  </a:txBody>
                  <a:tcPr marL="6005" marR="6005" marT="6005" marB="62771" anchor="b">
                    <a:lnL w="12700" cmpd="sng">
                      <a:noFill/>
                      <a:prstDash val="solid"/>
                    </a:lnL>
                    <a:lnR w="12700" cmpd="sng">
                      <a:noFill/>
                      <a:prstDash val="solid"/>
                    </a:lnR>
                    <a:lnT w="12700" cmpd="sng">
                      <a:noFill/>
                      <a:prstDash val="solid"/>
                    </a:lnT>
                    <a:lnB w="12700" cmpd="sng">
                      <a:noFill/>
                      <a:prstDash val="solid"/>
                    </a:lnB>
                    <a:solidFill>
                      <a:schemeClr val="tx1">
                        <a:lumMod val="65000"/>
                        <a:lumOff val="35000"/>
                      </a:schemeClr>
                    </a:solidFill>
                  </a:tcPr>
                </a:tc>
                <a:tc>
                  <a:txBody>
                    <a:bodyPr/>
                    <a:lstStyle/>
                    <a:p>
                      <a:pPr algn="r" fontAlgn="b">
                        <a:buNone/>
                      </a:pPr>
                      <a:r>
                        <a:rPr lang="en-US" sz="1100" b="0" i="0" u="none" strike="noStrike" cap="none" spc="0">
                          <a:solidFill>
                            <a:schemeClr val="bg1"/>
                          </a:solidFill>
                          <a:effectLst/>
                          <a:latin typeface="Aptos Narrow" panose="020B0004020202020204" pitchFamily="34" charset="0"/>
                        </a:rPr>
                        <a:t>0.27256057</a:t>
                      </a:r>
                    </a:p>
                  </a:txBody>
                  <a:tcPr marL="6005" marR="6005" marT="6005" marB="62771" anchor="b">
                    <a:lnL w="12700" cmpd="sng">
                      <a:noFill/>
                      <a:prstDash val="solid"/>
                    </a:lnL>
                    <a:lnR w="12700" cmpd="sng">
                      <a:noFill/>
                      <a:prstDash val="solid"/>
                    </a:lnR>
                    <a:lnT w="12700" cmpd="sng">
                      <a:noFill/>
                      <a:prstDash val="solid"/>
                    </a:lnT>
                    <a:lnB w="12700" cmpd="sng">
                      <a:noFill/>
                      <a:prstDash val="solid"/>
                    </a:lnB>
                    <a:solidFill>
                      <a:schemeClr val="tx1">
                        <a:lumMod val="65000"/>
                        <a:lumOff val="35000"/>
                      </a:schemeClr>
                    </a:solidFill>
                  </a:tcPr>
                </a:tc>
                <a:tc gridSpan="2">
                  <a:txBody>
                    <a:bodyPr/>
                    <a:lstStyle/>
                    <a:p>
                      <a:pPr algn="l" fontAlgn="b">
                        <a:buNone/>
                      </a:pPr>
                      <a:r>
                        <a:rPr lang="en-US" sz="1100" b="0" i="0" u="none" strike="noStrike" cap="none" spc="0">
                          <a:solidFill>
                            <a:schemeClr val="bg1"/>
                          </a:solidFill>
                          <a:effectLst/>
                          <a:latin typeface="Aptos Narrow" panose="020B0004020202020204" pitchFamily="34" charset="0"/>
                        </a:rPr>
                        <a:t>Parent / Direct predictor of COVID Positive</a:t>
                      </a:r>
                    </a:p>
                  </a:txBody>
                  <a:tcPr marL="6005" marR="6005" marT="6005" marB="62771" anchor="b">
                    <a:lnL w="12700" cmpd="sng">
                      <a:noFill/>
                      <a:prstDash val="solid"/>
                    </a:lnL>
                    <a:lnR w="12700" cmpd="sng">
                      <a:noFill/>
                      <a:prstDash val="solid"/>
                    </a:lnR>
                    <a:lnT w="12700" cmpd="sng">
                      <a:noFill/>
                      <a:prstDash val="solid"/>
                    </a:lnT>
                    <a:lnB w="12700" cmpd="sng">
                      <a:noFill/>
                      <a:prstDash val="solid"/>
                    </a:lnB>
                    <a:solidFill>
                      <a:schemeClr val="tx1">
                        <a:lumMod val="65000"/>
                        <a:lumOff val="35000"/>
                      </a:schemeClr>
                    </a:solidFill>
                  </a:tcPr>
                </a:tc>
                <a:tc hMerge="1">
                  <a:txBody>
                    <a:bodyPr/>
                    <a:lstStyle/>
                    <a:p>
                      <a:endParaRPr lang="en-US"/>
                    </a:p>
                  </a:txBody>
                  <a:tcPr/>
                </a:tc>
                <a:extLst>
                  <a:ext uri="{0D108BD9-81ED-4DB2-BD59-A6C34878D82A}">
                    <a16:rowId xmlns:a16="http://schemas.microsoft.com/office/drawing/2014/main" val="357694908"/>
                  </a:ext>
                </a:extLst>
              </a:tr>
              <a:tr h="428667">
                <a:tc>
                  <a:txBody>
                    <a:bodyPr/>
                    <a:lstStyle/>
                    <a:p>
                      <a:pPr algn="l" fontAlgn="b">
                        <a:buNone/>
                      </a:pPr>
                      <a:r>
                        <a:rPr lang="en-US" sz="1100" b="0" i="0" u="none" strike="noStrike" cap="none" spc="0">
                          <a:solidFill>
                            <a:schemeClr val="bg1"/>
                          </a:solidFill>
                          <a:effectLst/>
                          <a:latin typeface="Aptos Narrow" panose="020B0004020202020204" pitchFamily="34" charset="0"/>
                        </a:rPr>
                        <a:t>Loss of smell</a:t>
                      </a:r>
                    </a:p>
                  </a:txBody>
                  <a:tcPr marL="6005" marR="6005" marT="6005" marB="62771" anchor="b">
                    <a:lnL w="12700" cmpd="sng">
                      <a:noFill/>
                      <a:prstDash val="solid"/>
                    </a:lnL>
                    <a:lnR w="12700" cmpd="sng">
                      <a:noFill/>
                      <a:prstDash val="solid"/>
                    </a:lnR>
                    <a:lnT w="12700" cmpd="sng">
                      <a:noFill/>
                      <a:prstDash val="solid"/>
                    </a:lnT>
                    <a:lnB w="12700" cmpd="sng">
                      <a:noFill/>
                      <a:prstDash val="solid"/>
                    </a:lnB>
                    <a:solidFill>
                      <a:srgbClr val="262626"/>
                    </a:solidFill>
                  </a:tcPr>
                </a:tc>
                <a:tc>
                  <a:txBody>
                    <a:bodyPr/>
                    <a:lstStyle/>
                    <a:p>
                      <a:pPr algn="r" fontAlgn="b">
                        <a:buNone/>
                      </a:pPr>
                      <a:r>
                        <a:rPr lang="en-US" sz="1100" b="0" i="0" u="none" strike="noStrike" cap="none" spc="0">
                          <a:solidFill>
                            <a:schemeClr val="bg1"/>
                          </a:solidFill>
                          <a:effectLst/>
                          <a:latin typeface="Aptos Narrow" panose="020B0004020202020204" pitchFamily="34" charset="0"/>
                        </a:rPr>
                        <a:t>0.18096733</a:t>
                      </a:r>
                    </a:p>
                  </a:txBody>
                  <a:tcPr marL="6005" marR="6005" marT="6005" marB="62771" anchor="b">
                    <a:lnL w="12700" cmpd="sng">
                      <a:noFill/>
                      <a:prstDash val="solid"/>
                    </a:lnL>
                    <a:lnR w="12700" cmpd="sng">
                      <a:noFill/>
                      <a:prstDash val="solid"/>
                    </a:lnR>
                    <a:lnT w="12700" cmpd="sng">
                      <a:noFill/>
                      <a:prstDash val="solid"/>
                    </a:lnT>
                    <a:lnB w="12700" cmpd="sng">
                      <a:noFill/>
                      <a:prstDash val="solid"/>
                    </a:lnB>
                    <a:solidFill>
                      <a:srgbClr val="262626"/>
                    </a:solidFill>
                  </a:tcPr>
                </a:tc>
                <a:tc>
                  <a:txBody>
                    <a:bodyPr/>
                    <a:lstStyle/>
                    <a:p>
                      <a:pPr algn="r" fontAlgn="b">
                        <a:buNone/>
                      </a:pPr>
                      <a:r>
                        <a:rPr lang="en-US" sz="1100" b="0" i="0" u="none" strike="noStrike" cap="none" spc="0">
                          <a:solidFill>
                            <a:schemeClr val="bg1"/>
                          </a:solidFill>
                          <a:effectLst/>
                          <a:latin typeface="Aptos Narrow" panose="020B0004020202020204" pitchFamily="34" charset="0"/>
                        </a:rPr>
                        <a:t>0.18096733</a:t>
                      </a:r>
                    </a:p>
                  </a:txBody>
                  <a:tcPr marL="6005" marR="6005" marT="6005" marB="62771" anchor="b">
                    <a:lnL w="12700" cmpd="sng">
                      <a:noFill/>
                      <a:prstDash val="solid"/>
                    </a:lnL>
                    <a:lnR w="12700" cmpd="sng">
                      <a:noFill/>
                      <a:prstDash val="solid"/>
                    </a:lnR>
                    <a:lnT w="12700" cmpd="sng">
                      <a:noFill/>
                      <a:prstDash val="solid"/>
                    </a:lnT>
                    <a:lnB w="12700" cmpd="sng">
                      <a:noFill/>
                      <a:prstDash val="solid"/>
                    </a:lnB>
                    <a:solidFill>
                      <a:srgbClr val="262626"/>
                    </a:solidFill>
                  </a:tcPr>
                </a:tc>
                <a:tc gridSpan="2">
                  <a:txBody>
                    <a:bodyPr/>
                    <a:lstStyle/>
                    <a:p>
                      <a:pPr algn="l" fontAlgn="b">
                        <a:buNone/>
                      </a:pPr>
                      <a:r>
                        <a:rPr lang="en-US" sz="1100" b="0" i="0" u="none" strike="noStrike" cap="none" spc="0">
                          <a:solidFill>
                            <a:schemeClr val="bg1"/>
                          </a:solidFill>
                          <a:effectLst/>
                          <a:latin typeface="Aptos Narrow" panose="020B0004020202020204" pitchFamily="34" charset="0"/>
                        </a:rPr>
                        <a:t>Parent / Direct predictor of COVID Positive</a:t>
                      </a:r>
                    </a:p>
                  </a:txBody>
                  <a:tcPr marL="6005" marR="6005" marT="6005" marB="62771" anchor="b">
                    <a:lnL w="12700" cmpd="sng">
                      <a:noFill/>
                      <a:prstDash val="solid"/>
                    </a:lnL>
                    <a:lnR w="12700" cmpd="sng">
                      <a:noFill/>
                      <a:prstDash val="solid"/>
                    </a:lnR>
                    <a:lnT w="12700" cmpd="sng">
                      <a:noFill/>
                      <a:prstDash val="solid"/>
                    </a:lnT>
                    <a:lnB w="12700" cmpd="sng">
                      <a:noFill/>
                      <a:prstDash val="solid"/>
                    </a:lnB>
                    <a:solidFill>
                      <a:srgbClr val="262626"/>
                    </a:solidFill>
                  </a:tcPr>
                </a:tc>
                <a:tc hMerge="1">
                  <a:txBody>
                    <a:bodyPr/>
                    <a:lstStyle/>
                    <a:p>
                      <a:endParaRPr lang="en-US"/>
                    </a:p>
                  </a:txBody>
                  <a:tcPr/>
                </a:tc>
                <a:extLst>
                  <a:ext uri="{0D108BD9-81ED-4DB2-BD59-A6C34878D82A}">
                    <a16:rowId xmlns:a16="http://schemas.microsoft.com/office/drawing/2014/main" val="1014925457"/>
                  </a:ext>
                </a:extLst>
              </a:tr>
              <a:tr h="428667">
                <a:tc>
                  <a:txBody>
                    <a:bodyPr/>
                    <a:lstStyle/>
                    <a:p>
                      <a:pPr algn="l" fontAlgn="b">
                        <a:buNone/>
                      </a:pPr>
                      <a:r>
                        <a:rPr lang="en-US" sz="1100" b="0" i="0" u="none" strike="noStrike" cap="none" spc="0">
                          <a:solidFill>
                            <a:schemeClr val="bg1"/>
                          </a:solidFill>
                          <a:effectLst/>
                          <a:latin typeface="Aptos Narrow" panose="020B0004020202020204" pitchFamily="34" charset="0"/>
                        </a:rPr>
                        <a:t>Fatigue</a:t>
                      </a:r>
                    </a:p>
                  </a:txBody>
                  <a:tcPr marL="6005" marR="6005" marT="6005" marB="62771" anchor="b">
                    <a:lnL w="12700" cmpd="sng">
                      <a:noFill/>
                      <a:prstDash val="solid"/>
                    </a:lnL>
                    <a:lnR w="12700" cmpd="sng">
                      <a:noFill/>
                      <a:prstDash val="solid"/>
                    </a:lnR>
                    <a:lnT w="12700" cmpd="sng">
                      <a:noFill/>
                      <a:prstDash val="solid"/>
                    </a:lnT>
                    <a:lnB w="12700" cmpd="sng">
                      <a:noFill/>
                      <a:prstDash val="solid"/>
                    </a:lnB>
                    <a:solidFill>
                      <a:schemeClr val="tx1">
                        <a:lumMod val="65000"/>
                        <a:lumOff val="35000"/>
                      </a:schemeClr>
                    </a:solidFill>
                  </a:tcPr>
                </a:tc>
                <a:tc>
                  <a:txBody>
                    <a:bodyPr/>
                    <a:lstStyle/>
                    <a:p>
                      <a:pPr algn="r" fontAlgn="b">
                        <a:buNone/>
                      </a:pPr>
                      <a:r>
                        <a:rPr lang="en-US" sz="1100" b="0" i="0" u="none" strike="noStrike" cap="none" spc="0">
                          <a:solidFill>
                            <a:schemeClr val="bg1"/>
                          </a:solidFill>
                          <a:effectLst/>
                          <a:latin typeface="Aptos Narrow" panose="020B0004020202020204" pitchFamily="34" charset="0"/>
                        </a:rPr>
                        <a:t>0.16627041</a:t>
                      </a:r>
                    </a:p>
                  </a:txBody>
                  <a:tcPr marL="6005" marR="6005" marT="6005" marB="62771" anchor="b">
                    <a:lnL w="12700" cmpd="sng">
                      <a:noFill/>
                      <a:prstDash val="solid"/>
                    </a:lnL>
                    <a:lnR w="12700" cmpd="sng">
                      <a:noFill/>
                      <a:prstDash val="solid"/>
                    </a:lnR>
                    <a:lnT w="12700" cmpd="sng">
                      <a:noFill/>
                      <a:prstDash val="solid"/>
                    </a:lnT>
                    <a:lnB w="12700" cmpd="sng">
                      <a:noFill/>
                      <a:prstDash val="solid"/>
                    </a:lnB>
                    <a:solidFill>
                      <a:schemeClr val="tx1">
                        <a:lumMod val="65000"/>
                        <a:lumOff val="35000"/>
                      </a:schemeClr>
                    </a:solidFill>
                  </a:tcPr>
                </a:tc>
                <a:tc>
                  <a:txBody>
                    <a:bodyPr/>
                    <a:lstStyle/>
                    <a:p>
                      <a:pPr algn="r" fontAlgn="b">
                        <a:buNone/>
                      </a:pPr>
                      <a:r>
                        <a:rPr lang="en-US" sz="1100" b="0" i="0" u="none" strike="noStrike" cap="none" spc="0">
                          <a:solidFill>
                            <a:schemeClr val="bg1"/>
                          </a:solidFill>
                          <a:effectLst/>
                          <a:latin typeface="Aptos Narrow" panose="020B0004020202020204" pitchFamily="34" charset="0"/>
                        </a:rPr>
                        <a:t>0.16627041</a:t>
                      </a:r>
                    </a:p>
                  </a:txBody>
                  <a:tcPr marL="6005" marR="6005" marT="6005" marB="62771" anchor="b">
                    <a:lnL w="12700" cmpd="sng">
                      <a:noFill/>
                      <a:prstDash val="solid"/>
                    </a:lnL>
                    <a:lnR w="12700" cmpd="sng">
                      <a:noFill/>
                      <a:prstDash val="solid"/>
                    </a:lnR>
                    <a:lnT w="12700" cmpd="sng">
                      <a:noFill/>
                      <a:prstDash val="solid"/>
                    </a:lnT>
                    <a:lnB w="12700" cmpd="sng">
                      <a:noFill/>
                      <a:prstDash val="solid"/>
                    </a:lnB>
                    <a:solidFill>
                      <a:schemeClr val="tx1">
                        <a:lumMod val="65000"/>
                        <a:lumOff val="35000"/>
                      </a:schemeClr>
                    </a:solidFill>
                  </a:tcPr>
                </a:tc>
                <a:tc gridSpan="2">
                  <a:txBody>
                    <a:bodyPr/>
                    <a:lstStyle/>
                    <a:p>
                      <a:pPr algn="l" fontAlgn="b">
                        <a:buNone/>
                      </a:pPr>
                      <a:r>
                        <a:rPr lang="en-US" sz="1100" b="0" i="0" u="none" strike="noStrike" cap="none" spc="0">
                          <a:solidFill>
                            <a:schemeClr val="bg1"/>
                          </a:solidFill>
                          <a:effectLst/>
                          <a:latin typeface="Aptos Narrow" panose="020B0004020202020204" pitchFamily="34" charset="0"/>
                        </a:rPr>
                        <a:t>Parent / Direct predictor of COVID Positive</a:t>
                      </a:r>
                    </a:p>
                  </a:txBody>
                  <a:tcPr marL="6005" marR="6005" marT="6005" marB="62771" anchor="b">
                    <a:lnL w="12700" cmpd="sng">
                      <a:noFill/>
                      <a:prstDash val="solid"/>
                    </a:lnL>
                    <a:lnR w="12700" cmpd="sng">
                      <a:noFill/>
                      <a:prstDash val="solid"/>
                    </a:lnR>
                    <a:lnT w="12700" cmpd="sng">
                      <a:noFill/>
                      <a:prstDash val="solid"/>
                    </a:lnT>
                    <a:lnB w="12700" cmpd="sng">
                      <a:noFill/>
                      <a:prstDash val="solid"/>
                    </a:lnB>
                    <a:solidFill>
                      <a:schemeClr val="tx1">
                        <a:lumMod val="65000"/>
                        <a:lumOff val="35000"/>
                      </a:schemeClr>
                    </a:solidFill>
                  </a:tcPr>
                </a:tc>
                <a:tc hMerge="1">
                  <a:txBody>
                    <a:bodyPr/>
                    <a:lstStyle/>
                    <a:p>
                      <a:endParaRPr lang="en-US"/>
                    </a:p>
                  </a:txBody>
                  <a:tcPr/>
                </a:tc>
                <a:extLst>
                  <a:ext uri="{0D108BD9-81ED-4DB2-BD59-A6C34878D82A}">
                    <a16:rowId xmlns:a16="http://schemas.microsoft.com/office/drawing/2014/main" val="3428000112"/>
                  </a:ext>
                </a:extLst>
              </a:tr>
              <a:tr h="428667">
                <a:tc>
                  <a:txBody>
                    <a:bodyPr/>
                    <a:lstStyle/>
                    <a:p>
                      <a:pPr algn="l" fontAlgn="b">
                        <a:buNone/>
                      </a:pPr>
                      <a:r>
                        <a:rPr lang="en-US" sz="1100" b="0" i="0" u="none" strike="noStrike" cap="none" spc="0">
                          <a:solidFill>
                            <a:schemeClr val="bg1"/>
                          </a:solidFill>
                          <a:effectLst/>
                          <a:latin typeface="Aptos Narrow" panose="020B0004020202020204" pitchFamily="34" charset="0"/>
                        </a:rPr>
                        <a:t>Cough</a:t>
                      </a:r>
                    </a:p>
                  </a:txBody>
                  <a:tcPr marL="6005" marR="6005" marT="6005" marB="62771" anchor="b">
                    <a:lnL w="12700" cmpd="sng">
                      <a:noFill/>
                      <a:prstDash val="solid"/>
                    </a:lnL>
                    <a:lnR w="12700" cmpd="sng">
                      <a:noFill/>
                      <a:prstDash val="solid"/>
                    </a:lnR>
                    <a:lnT w="12700" cmpd="sng">
                      <a:noFill/>
                      <a:prstDash val="solid"/>
                    </a:lnT>
                    <a:lnB w="12700" cmpd="sng">
                      <a:noFill/>
                      <a:prstDash val="solid"/>
                    </a:lnB>
                    <a:solidFill>
                      <a:srgbClr val="262626"/>
                    </a:solidFill>
                  </a:tcPr>
                </a:tc>
                <a:tc>
                  <a:txBody>
                    <a:bodyPr/>
                    <a:lstStyle/>
                    <a:p>
                      <a:pPr algn="r" fontAlgn="b">
                        <a:buNone/>
                      </a:pPr>
                      <a:r>
                        <a:rPr lang="en-US" sz="1100" b="0" i="0" u="none" strike="noStrike" cap="none" spc="0">
                          <a:solidFill>
                            <a:schemeClr val="bg1"/>
                          </a:solidFill>
                          <a:effectLst/>
                          <a:latin typeface="Aptos Narrow" panose="020B0004020202020204" pitchFamily="34" charset="0"/>
                        </a:rPr>
                        <a:t>0.10501659</a:t>
                      </a:r>
                    </a:p>
                  </a:txBody>
                  <a:tcPr marL="6005" marR="6005" marT="6005" marB="62771" anchor="b">
                    <a:lnL w="12700" cmpd="sng">
                      <a:noFill/>
                      <a:prstDash val="solid"/>
                    </a:lnL>
                    <a:lnR w="12700" cmpd="sng">
                      <a:noFill/>
                      <a:prstDash val="solid"/>
                    </a:lnR>
                    <a:lnT w="12700" cmpd="sng">
                      <a:noFill/>
                      <a:prstDash val="solid"/>
                    </a:lnT>
                    <a:lnB w="12700" cmpd="sng">
                      <a:noFill/>
                      <a:prstDash val="solid"/>
                    </a:lnB>
                    <a:solidFill>
                      <a:srgbClr val="262626"/>
                    </a:solidFill>
                  </a:tcPr>
                </a:tc>
                <a:tc>
                  <a:txBody>
                    <a:bodyPr/>
                    <a:lstStyle/>
                    <a:p>
                      <a:pPr algn="r" fontAlgn="b">
                        <a:buNone/>
                      </a:pPr>
                      <a:r>
                        <a:rPr lang="en-US" sz="1100" b="0" i="0" u="none" strike="noStrike" cap="none" spc="0">
                          <a:solidFill>
                            <a:schemeClr val="bg1"/>
                          </a:solidFill>
                          <a:effectLst/>
                          <a:latin typeface="Aptos Narrow" panose="020B0004020202020204" pitchFamily="34" charset="0"/>
                        </a:rPr>
                        <a:t>0.10501659</a:t>
                      </a:r>
                    </a:p>
                  </a:txBody>
                  <a:tcPr marL="6005" marR="6005" marT="6005" marB="62771" anchor="b">
                    <a:lnL w="12700" cmpd="sng">
                      <a:noFill/>
                      <a:prstDash val="solid"/>
                    </a:lnL>
                    <a:lnR w="12700" cmpd="sng">
                      <a:noFill/>
                      <a:prstDash val="solid"/>
                    </a:lnR>
                    <a:lnT w="12700" cmpd="sng">
                      <a:noFill/>
                      <a:prstDash val="solid"/>
                    </a:lnT>
                    <a:lnB w="12700" cmpd="sng">
                      <a:noFill/>
                      <a:prstDash val="solid"/>
                    </a:lnB>
                    <a:solidFill>
                      <a:srgbClr val="262626"/>
                    </a:solidFill>
                  </a:tcPr>
                </a:tc>
                <a:tc gridSpan="2">
                  <a:txBody>
                    <a:bodyPr/>
                    <a:lstStyle/>
                    <a:p>
                      <a:pPr algn="l" fontAlgn="b">
                        <a:buNone/>
                      </a:pPr>
                      <a:r>
                        <a:rPr lang="en-US" sz="1100" b="0" i="0" u="none" strike="noStrike" cap="none" spc="0">
                          <a:solidFill>
                            <a:schemeClr val="bg1"/>
                          </a:solidFill>
                          <a:effectLst/>
                          <a:latin typeface="Aptos Narrow" panose="020B0004020202020204" pitchFamily="34" charset="0"/>
                        </a:rPr>
                        <a:t>Parent / Direct predictor of COVID Positive</a:t>
                      </a:r>
                    </a:p>
                  </a:txBody>
                  <a:tcPr marL="6005" marR="6005" marT="6005" marB="62771" anchor="b">
                    <a:lnL w="12700" cmpd="sng">
                      <a:noFill/>
                      <a:prstDash val="solid"/>
                    </a:lnL>
                    <a:lnR w="12700" cmpd="sng">
                      <a:noFill/>
                      <a:prstDash val="solid"/>
                    </a:lnR>
                    <a:lnT w="12700" cmpd="sng">
                      <a:noFill/>
                      <a:prstDash val="solid"/>
                    </a:lnT>
                    <a:lnB w="12700" cmpd="sng">
                      <a:noFill/>
                      <a:prstDash val="solid"/>
                    </a:lnB>
                    <a:solidFill>
                      <a:srgbClr val="262626"/>
                    </a:solidFill>
                  </a:tcPr>
                </a:tc>
                <a:tc hMerge="1">
                  <a:txBody>
                    <a:bodyPr/>
                    <a:lstStyle/>
                    <a:p>
                      <a:endParaRPr lang="en-US"/>
                    </a:p>
                  </a:txBody>
                  <a:tcPr/>
                </a:tc>
                <a:extLst>
                  <a:ext uri="{0D108BD9-81ED-4DB2-BD59-A6C34878D82A}">
                    <a16:rowId xmlns:a16="http://schemas.microsoft.com/office/drawing/2014/main" val="2644812595"/>
                  </a:ext>
                </a:extLst>
              </a:tr>
              <a:tr h="428667">
                <a:tc>
                  <a:txBody>
                    <a:bodyPr/>
                    <a:lstStyle/>
                    <a:p>
                      <a:pPr algn="l" fontAlgn="b">
                        <a:buNone/>
                      </a:pPr>
                      <a:r>
                        <a:rPr lang="en-US" sz="1100" b="0" i="0" u="none" strike="noStrike" cap="none" spc="0">
                          <a:solidFill>
                            <a:schemeClr val="bg1"/>
                          </a:solidFill>
                          <a:effectLst/>
                          <a:latin typeface="Aptos Narrow" panose="020B0004020202020204" pitchFamily="34" charset="0"/>
                        </a:rPr>
                        <a:t>Diabetes</a:t>
                      </a:r>
                    </a:p>
                  </a:txBody>
                  <a:tcPr marL="6005" marR="6005" marT="6005" marB="62771" anchor="b">
                    <a:lnL w="12700" cmpd="sng">
                      <a:noFill/>
                      <a:prstDash val="solid"/>
                    </a:lnL>
                    <a:lnR w="12700" cmpd="sng">
                      <a:noFill/>
                      <a:prstDash val="solid"/>
                    </a:lnR>
                    <a:lnT w="12700" cmpd="sng">
                      <a:noFill/>
                      <a:prstDash val="solid"/>
                    </a:lnT>
                    <a:lnB w="12700" cmpd="sng">
                      <a:noFill/>
                      <a:prstDash val="solid"/>
                    </a:lnB>
                    <a:solidFill>
                      <a:schemeClr val="tx1">
                        <a:lumMod val="65000"/>
                        <a:lumOff val="35000"/>
                      </a:schemeClr>
                    </a:solidFill>
                  </a:tcPr>
                </a:tc>
                <a:tc>
                  <a:txBody>
                    <a:bodyPr/>
                    <a:lstStyle/>
                    <a:p>
                      <a:pPr algn="r" fontAlgn="b">
                        <a:buNone/>
                      </a:pPr>
                      <a:r>
                        <a:rPr lang="en-US" sz="1100" b="0" i="0" u="none" strike="noStrike" cap="none" spc="0">
                          <a:solidFill>
                            <a:schemeClr val="bg1"/>
                          </a:solidFill>
                          <a:effectLst/>
                          <a:latin typeface="Aptos Narrow" panose="020B0004020202020204" pitchFamily="34" charset="0"/>
                        </a:rPr>
                        <a:t>0.07621276</a:t>
                      </a:r>
                    </a:p>
                  </a:txBody>
                  <a:tcPr marL="6005" marR="6005" marT="6005" marB="62771" anchor="b">
                    <a:lnL w="12700" cmpd="sng">
                      <a:noFill/>
                      <a:prstDash val="solid"/>
                    </a:lnL>
                    <a:lnR w="12700" cmpd="sng">
                      <a:noFill/>
                      <a:prstDash val="solid"/>
                    </a:lnR>
                    <a:lnT w="12700" cmpd="sng">
                      <a:noFill/>
                      <a:prstDash val="solid"/>
                    </a:lnT>
                    <a:lnB w="12700" cmpd="sng">
                      <a:noFill/>
                      <a:prstDash val="solid"/>
                    </a:lnB>
                    <a:solidFill>
                      <a:schemeClr val="tx1">
                        <a:lumMod val="65000"/>
                        <a:lumOff val="35000"/>
                      </a:schemeClr>
                    </a:solidFill>
                  </a:tcPr>
                </a:tc>
                <a:tc>
                  <a:txBody>
                    <a:bodyPr/>
                    <a:lstStyle/>
                    <a:p>
                      <a:pPr algn="r" fontAlgn="b">
                        <a:buNone/>
                      </a:pPr>
                      <a:r>
                        <a:rPr lang="en-US" sz="1100" b="0" i="0" u="none" strike="noStrike" cap="none" spc="0">
                          <a:solidFill>
                            <a:schemeClr val="bg1"/>
                          </a:solidFill>
                          <a:effectLst/>
                          <a:latin typeface="Aptos Narrow" panose="020B0004020202020204" pitchFamily="34" charset="0"/>
                        </a:rPr>
                        <a:t>0.07621276</a:t>
                      </a:r>
                    </a:p>
                  </a:txBody>
                  <a:tcPr marL="6005" marR="6005" marT="6005" marB="62771" anchor="b">
                    <a:lnL w="12700" cmpd="sng">
                      <a:noFill/>
                      <a:prstDash val="solid"/>
                    </a:lnL>
                    <a:lnR w="12700" cmpd="sng">
                      <a:noFill/>
                      <a:prstDash val="solid"/>
                    </a:lnR>
                    <a:lnT w="12700" cmpd="sng">
                      <a:noFill/>
                      <a:prstDash val="solid"/>
                    </a:lnT>
                    <a:lnB w="12700" cmpd="sng">
                      <a:noFill/>
                      <a:prstDash val="solid"/>
                    </a:lnB>
                    <a:solidFill>
                      <a:schemeClr val="tx1">
                        <a:lumMod val="65000"/>
                        <a:lumOff val="35000"/>
                      </a:schemeClr>
                    </a:solidFill>
                  </a:tcPr>
                </a:tc>
                <a:tc gridSpan="2">
                  <a:txBody>
                    <a:bodyPr/>
                    <a:lstStyle/>
                    <a:p>
                      <a:pPr algn="l" fontAlgn="b">
                        <a:buNone/>
                      </a:pPr>
                      <a:r>
                        <a:rPr lang="en-US" sz="1100" b="0" i="0" u="none" strike="noStrike" cap="none" spc="0">
                          <a:solidFill>
                            <a:schemeClr val="bg1"/>
                          </a:solidFill>
                          <a:effectLst/>
                          <a:latin typeface="Aptos Narrow" panose="020B0004020202020204" pitchFamily="34" charset="0"/>
                        </a:rPr>
                        <a:t>Parent / Direct predictor of COVID Positive</a:t>
                      </a:r>
                    </a:p>
                  </a:txBody>
                  <a:tcPr marL="6005" marR="6005" marT="6005" marB="62771" anchor="b">
                    <a:lnL w="12700" cmpd="sng">
                      <a:noFill/>
                      <a:prstDash val="solid"/>
                    </a:lnL>
                    <a:lnR w="12700" cmpd="sng">
                      <a:noFill/>
                      <a:prstDash val="solid"/>
                    </a:lnR>
                    <a:lnT w="12700" cmpd="sng">
                      <a:noFill/>
                      <a:prstDash val="solid"/>
                    </a:lnT>
                    <a:lnB w="12700" cmpd="sng">
                      <a:noFill/>
                      <a:prstDash val="solid"/>
                    </a:lnB>
                    <a:solidFill>
                      <a:schemeClr val="tx1">
                        <a:lumMod val="65000"/>
                        <a:lumOff val="35000"/>
                      </a:schemeClr>
                    </a:solidFill>
                  </a:tcPr>
                </a:tc>
                <a:tc hMerge="1">
                  <a:txBody>
                    <a:bodyPr/>
                    <a:lstStyle/>
                    <a:p>
                      <a:endParaRPr lang="en-US"/>
                    </a:p>
                  </a:txBody>
                  <a:tcPr/>
                </a:tc>
                <a:extLst>
                  <a:ext uri="{0D108BD9-81ED-4DB2-BD59-A6C34878D82A}">
                    <a16:rowId xmlns:a16="http://schemas.microsoft.com/office/drawing/2014/main" val="2647145870"/>
                  </a:ext>
                </a:extLst>
              </a:tr>
              <a:tr h="428667">
                <a:tc>
                  <a:txBody>
                    <a:bodyPr/>
                    <a:lstStyle/>
                    <a:p>
                      <a:pPr algn="l" fontAlgn="b">
                        <a:buNone/>
                      </a:pPr>
                      <a:r>
                        <a:rPr lang="en-US" sz="1100" b="0" i="0" u="none" strike="noStrike" cap="none" spc="0">
                          <a:solidFill>
                            <a:schemeClr val="bg1"/>
                          </a:solidFill>
                          <a:effectLst/>
                          <a:latin typeface="Aptos Narrow" panose="020B0004020202020204" pitchFamily="34" charset="0"/>
                        </a:rPr>
                        <a:t>Chills</a:t>
                      </a:r>
                    </a:p>
                  </a:txBody>
                  <a:tcPr marL="6005" marR="6005" marT="6005" marB="62771" anchor="b">
                    <a:lnL w="12700" cmpd="sng">
                      <a:noFill/>
                      <a:prstDash val="solid"/>
                    </a:lnL>
                    <a:lnR w="12700" cmpd="sng">
                      <a:noFill/>
                      <a:prstDash val="solid"/>
                    </a:lnR>
                    <a:lnT w="12700" cmpd="sng">
                      <a:noFill/>
                      <a:prstDash val="solid"/>
                    </a:lnT>
                    <a:lnB w="12700" cmpd="sng">
                      <a:noFill/>
                      <a:prstDash val="solid"/>
                    </a:lnB>
                    <a:solidFill>
                      <a:srgbClr val="262626"/>
                    </a:solidFill>
                  </a:tcPr>
                </a:tc>
                <a:tc>
                  <a:txBody>
                    <a:bodyPr/>
                    <a:lstStyle/>
                    <a:p>
                      <a:pPr algn="r" fontAlgn="b">
                        <a:buNone/>
                      </a:pPr>
                      <a:r>
                        <a:rPr lang="en-US" sz="1100" b="0" i="0" u="none" strike="noStrike" cap="none" spc="0">
                          <a:solidFill>
                            <a:schemeClr val="bg1"/>
                          </a:solidFill>
                          <a:effectLst/>
                          <a:latin typeface="Aptos Narrow" panose="020B0004020202020204" pitchFamily="34" charset="0"/>
                        </a:rPr>
                        <a:t>0.07561473</a:t>
                      </a:r>
                    </a:p>
                  </a:txBody>
                  <a:tcPr marL="6005" marR="6005" marT="6005" marB="62771" anchor="b">
                    <a:lnL w="12700" cmpd="sng">
                      <a:noFill/>
                      <a:prstDash val="solid"/>
                    </a:lnL>
                    <a:lnR w="12700" cmpd="sng">
                      <a:noFill/>
                      <a:prstDash val="solid"/>
                    </a:lnR>
                    <a:lnT w="12700" cmpd="sng">
                      <a:noFill/>
                      <a:prstDash val="solid"/>
                    </a:lnT>
                    <a:lnB w="12700" cmpd="sng">
                      <a:noFill/>
                      <a:prstDash val="solid"/>
                    </a:lnB>
                    <a:solidFill>
                      <a:srgbClr val="262626"/>
                    </a:solidFill>
                  </a:tcPr>
                </a:tc>
                <a:tc>
                  <a:txBody>
                    <a:bodyPr/>
                    <a:lstStyle/>
                    <a:p>
                      <a:pPr algn="r" fontAlgn="b">
                        <a:buNone/>
                      </a:pPr>
                      <a:r>
                        <a:rPr lang="en-US" sz="1100" b="0" i="0" u="none" strike="noStrike" cap="none" spc="0">
                          <a:solidFill>
                            <a:schemeClr val="bg1"/>
                          </a:solidFill>
                          <a:effectLst/>
                          <a:latin typeface="Aptos Narrow" panose="020B0004020202020204" pitchFamily="34" charset="0"/>
                        </a:rPr>
                        <a:t>0.07561473</a:t>
                      </a:r>
                    </a:p>
                  </a:txBody>
                  <a:tcPr marL="6005" marR="6005" marT="6005" marB="62771" anchor="b">
                    <a:lnL w="12700" cmpd="sng">
                      <a:noFill/>
                      <a:prstDash val="solid"/>
                    </a:lnL>
                    <a:lnR w="12700" cmpd="sng">
                      <a:noFill/>
                      <a:prstDash val="solid"/>
                    </a:lnR>
                    <a:lnT w="12700" cmpd="sng">
                      <a:noFill/>
                      <a:prstDash val="solid"/>
                    </a:lnT>
                    <a:lnB w="12700" cmpd="sng">
                      <a:noFill/>
                      <a:prstDash val="solid"/>
                    </a:lnB>
                    <a:solidFill>
                      <a:srgbClr val="262626"/>
                    </a:solidFill>
                  </a:tcPr>
                </a:tc>
                <a:tc gridSpan="2">
                  <a:txBody>
                    <a:bodyPr/>
                    <a:lstStyle/>
                    <a:p>
                      <a:pPr algn="l" fontAlgn="b">
                        <a:buNone/>
                      </a:pPr>
                      <a:r>
                        <a:rPr lang="en-US" sz="1100" b="0" i="0" u="none" strike="noStrike" cap="none" spc="0">
                          <a:solidFill>
                            <a:schemeClr val="bg1"/>
                          </a:solidFill>
                          <a:effectLst/>
                          <a:latin typeface="Aptos Narrow" panose="020B0004020202020204" pitchFamily="34" charset="0"/>
                        </a:rPr>
                        <a:t>Parent / Direct predictor of COVID Positive</a:t>
                      </a:r>
                    </a:p>
                  </a:txBody>
                  <a:tcPr marL="6005" marR="6005" marT="6005" marB="62771" anchor="b">
                    <a:lnL w="12700" cmpd="sng">
                      <a:noFill/>
                      <a:prstDash val="solid"/>
                    </a:lnL>
                    <a:lnR w="12700" cmpd="sng">
                      <a:noFill/>
                      <a:prstDash val="solid"/>
                    </a:lnR>
                    <a:lnT w="12700" cmpd="sng">
                      <a:noFill/>
                      <a:prstDash val="solid"/>
                    </a:lnT>
                    <a:lnB w="12700" cmpd="sng">
                      <a:noFill/>
                      <a:prstDash val="solid"/>
                    </a:lnB>
                    <a:solidFill>
                      <a:srgbClr val="262626"/>
                    </a:solidFill>
                  </a:tcPr>
                </a:tc>
                <a:tc hMerge="1">
                  <a:txBody>
                    <a:bodyPr/>
                    <a:lstStyle/>
                    <a:p>
                      <a:endParaRPr lang="en-US"/>
                    </a:p>
                  </a:txBody>
                  <a:tcPr/>
                </a:tc>
                <a:extLst>
                  <a:ext uri="{0D108BD9-81ED-4DB2-BD59-A6C34878D82A}">
                    <a16:rowId xmlns:a16="http://schemas.microsoft.com/office/drawing/2014/main" val="1137854948"/>
                  </a:ext>
                </a:extLst>
              </a:tr>
            </a:tbl>
          </a:graphicData>
        </a:graphic>
      </p:graphicFrame>
    </p:spTree>
    <p:extLst>
      <p:ext uri="{BB962C8B-B14F-4D97-AF65-F5344CB8AC3E}">
        <p14:creationId xmlns:p14="http://schemas.microsoft.com/office/powerpoint/2010/main" val="255307762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77C427-786B-97A7-A8A0-AC1AB1E7526B}"/>
              </a:ext>
            </a:extLst>
          </p:cNvPr>
          <p:cNvSpPr>
            <a:spLocks noGrp="1"/>
          </p:cNvSpPr>
          <p:nvPr>
            <p:ph type="title"/>
          </p:nvPr>
        </p:nvSpPr>
        <p:spPr>
          <a:xfrm>
            <a:off x="1562780" y="278892"/>
            <a:ext cx="5937755" cy="1188720"/>
          </a:xfrm>
        </p:spPr>
        <p:txBody>
          <a:bodyPr/>
          <a:lstStyle/>
          <a:p>
            <a:r>
              <a:rPr lang="en-US"/>
              <a:t>Network visualization</a:t>
            </a:r>
            <a:endParaRPr lang="en-US" dirty="0"/>
          </a:p>
        </p:txBody>
      </p:sp>
      <p:pic>
        <p:nvPicPr>
          <p:cNvPr id="4" name="Picture 3">
            <a:extLst>
              <a:ext uri="{FF2B5EF4-FFF2-40B4-BE49-F238E27FC236}">
                <a16:creationId xmlns:a16="http://schemas.microsoft.com/office/drawing/2014/main" id="{25FDE80E-64F9-0391-CBE2-27C126569415}"/>
              </a:ext>
            </a:extLst>
          </p:cNvPr>
          <p:cNvPicPr>
            <a:picLocks noChangeAspect="1"/>
          </p:cNvPicPr>
          <p:nvPr/>
        </p:nvPicPr>
        <p:blipFill>
          <a:blip r:embed="rId3"/>
          <a:stretch>
            <a:fillRect/>
          </a:stretch>
        </p:blipFill>
        <p:spPr>
          <a:xfrm>
            <a:off x="-80684" y="2153412"/>
            <a:ext cx="9224684" cy="4612342"/>
          </a:xfrm>
          <a:prstGeom prst="rect">
            <a:avLst/>
          </a:prstGeom>
        </p:spPr>
      </p:pic>
    </p:spTree>
    <p:extLst>
      <p:ext uri="{BB962C8B-B14F-4D97-AF65-F5344CB8AC3E}">
        <p14:creationId xmlns:p14="http://schemas.microsoft.com/office/powerpoint/2010/main" val="177222882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DEMI </a:t>
            </a:r>
            <a:r>
              <a:rPr lang="en-US" dirty="0"/>
              <a:t>Algorithm predictions</a:t>
            </a:r>
            <a:endParaRPr dirty="0"/>
          </a:p>
        </p:txBody>
      </p:sp>
      <p:graphicFrame>
        <p:nvGraphicFramePr>
          <p:cNvPr id="6" name="Table 5">
            <a:extLst>
              <a:ext uri="{FF2B5EF4-FFF2-40B4-BE49-F238E27FC236}">
                <a16:creationId xmlns:a16="http://schemas.microsoft.com/office/drawing/2014/main" id="{E034312D-F5BC-0B4A-CE5D-10956EE7EA25}"/>
              </a:ext>
            </a:extLst>
          </p:cNvPr>
          <p:cNvGraphicFramePr>
            <a:graphicFrameLocks noGrp="1"/>
          </p:cNvGraphicFramePr>
          <p:nvPr>
            <p:extLst>
              <p:ext uri="{D42A27DB-BD31-4B8C-83A1-F6EECF244321}">
                <p14:modId xmlns:p14="http://schemas.microsoft.com/office/powerpoint/2010/main" val="610100483"/>
              </p:ext>
            </p:extLst>
          </p:nvPr>
        </p:nvGraphicFramePr>
        <p:xfrm>
          <a:off x="1447800" y="4333749"/>
          <a:ext cx="6096000" cy="1833880"/>
        </p:xfrm>
        <a:graphic>
          <a:graphicData uri="http://schemas.openxmlformats.org/drawingml/2006/table">
            <a:tbl>
              <a:tblPr firstRow="1" bandRow="1">
                <a:tableStyleId>{5C22544A-7EE6-4342-B048-85BDC9FD1C3A}</a:tableStyleId>
              </a:tblPr>
              <a:tblGrid>
                <a:gridCol w="2032000">
                  <a:extLst>
                    <a:ext uri="{9D8B030D-6E8A-4147-A177-3AD203B41FA5}">
                      <a16:colId xmlns:a16="http://schemas.microsoft.com/office/drawing/2014/main" val="1460213418"/>
                    </a:ext>
                  </a:extLst>
                </a:gridCol>
                <a:gridCol w="2032000">
                  <a:extLst>
                    <a:ext uri="{9D8B030D-6E8A-4147-A177-3AD203B41FA5}">
                      <a16:colId xmlns:a16="http://schemas.microsoft.com/office/drawing/2014/main" val="1810694096"/>
                    </a:ext>
                  </a:extLst>
                </a:gridCol>
                <a:gridCol w="2032000">
                  <a:extLst>
                    <a:ext uri="{9D8B030D-6E8A-4147-A177-3AD203B41FA5}">
                      <a16:colId xmlns:a16="http://schemas.microsoft.com/office/drawing/2014/main" val="3343292070"/>
                    </a:ext>
                  </a:extLst>
                </a:gridCol>
              </a:tblGrid>
              <a:tr h="370840">
                <a:tc>
                  <a:txBody>
                    <a:bodyPr/>
                    <a:lstStyle/>
                    <a:p>
                      <a:r>
                        <a:rPr lang="en-US" dirty="0"/>
                        <a:t>Temporal Order</a:t>
                      </a:r>
                    </a:p>
                  </a:txBody>
                  <a:tcPr/>
                </a:tc>
                <a:tc>
                  <a:txBody>
                    <a:bodyPr/>
                    <a:lstStyle/>
                    <a:p>
                      <a:r>
                        <a:rPr lang="en-US" dirty="0"/>
                        <a:t>Total Effect</a:t>
                      </a:r>
                    </a:p>
                  </a:txBody>
                  <a:tcPr/>
                </a:tc>
                <a:tc>
                  <a:txBody>
                    <a:bodyPr/>
                    <a:lstStyle/>
                    <a:p>
                      <a:r>
                        <a:rPr lang="en-US" dirty="0"/>
                        <a:t>Final Probability</a:t>
                      </a:r>
                    </a:p>
                  </a:txBody>
                  <a:tcPr/>
                </a:tc>
                <a:extLst>
                  <a:ext uri="{0D108BD9-81ED-4DB2-BD59-A6C34878D82A}">
                    <a16:rowId xmlns:a16="http://schemas.microsoft.com/office/drawing/2014/main" val="3378610509"/>
                  </a:ext>
                </a:extLst>
              </a:tr>
              <a:tr h="0">
                <a:tc>
                  <a:txBody>
                    <a:bodyPr/>
                    <a:lstStyle/>
                    <a:p>
                      <a:r>
                        <a:rPr lang="en-US" dirty="0"/>
                        <a:t>Verifying that symptoms and exposure occurred strictly before the PCR test date</a:t>
                      </a:r>
                    </a:p>
                  </a:txBody>
                  <a:tcPr/>
                </a:tc>
                <a:tc>
                  <a:txBody>
                    <a:bodyPr/>
                    <a:lstStyle/>
                    <a:p>
                      <a:r>
                        <a:rPr lang="en-US" dirty="0"/>
                        <a:t>Calculating likelihood ratios (LR) to measure how each indicator shifts risk </a:t>
                      </a:r>
                    </a:p>
                  </a:txBody>
                  <a:tcPr/>
                </a:tc>
                <a:tc>
                  <a:txBody>
                    <a:bodyPr/>
                    <a:lstStyle/>
                    <a:p>
                      <a:r>
                        <a:rPr lang="en-US" dirty="0"/>
                        <a:t>Combining multiple signals using the odds-likelihood form of Bayes’ </a:t>
                      </a:r>
                      <a:r>
                        <a:rPr lang="en-US" dirty="0" err="1"/>
                        <a:t>Thereom</a:t>
                      </a:r>
                      <a:endParaRPr lang="en-US" dirty="0"/>
                    </a:p>
                  </a:txBody>
                  <a:tcPr/>
                </a:tc>
                <a:extLst>
                  <a:ext uri="{0D108BD9-81ED-4DB2-BD59-A6C34878D82A}">
                    <a16:rowId xmlns:a16="http://schemas.microsoft.com/office/drawing/2014/main" val="3926302764"/>
                  </a:ext>
                </a:extLst>
              </a:tr>
            </a:tbl>
          </a:graphicData>
        </a:graphic>
      </p:graphicFrame>
      <p:sp>
        <p:nvSpPr>
          <p:cNvPr id="7" name="TextBox 6">
            <a:extLst>
              <a:ext uri="{FF2B5EF4-FFF2-40B4-BE49-F238E27FC236}">
                <a16:creationId xmlns:a16="http://schemas.microsoft.com/office/drawing/2014/main" id="{958BD1DC-7CDA-F704-DA0C-EFBBA523E57B}"/>
              </a:ext>
            </a:extLst>
          </p:cNvPr>
          <p:cNvSpPr txBox="1"/>
          <p:nvPr/>
        </p:nvSpPr>
        <p:spPr>
          <a:xfrm>
            <a:off x="2391508" y="2799471"/>
            <a:ext cx="4932312" cy="369332"/>
          </a:xfrm>
          <a:prstGeom prst="rect">
            <a:avLst/>
          </a:prstGeom>
          <a:noFill/>
        </p:spPr>
        <p:txBody>
          <a:bodyPr wrap="none" rtlCol="0">
            <a:spAutoFit/>
          </a:bodyPr>
          <a:lstStyle/>
          <a:p>
            <a:r>
              <a:rPr lang="en-US" dirty="0"/>
              <a:t>Symptoms, covid probability and recommendations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03504" y="964692"/>
            <a:ext cx="2300202" cy="1188720"/>
          </a:xfrm>
        </p:spPr>
        <p:txBody>
          <a:bodyPr>
            <a:normAutofit/>
          </a:bodyPr>
          <a:lstStyle/>
          <a:p>
            <a:r>
              <a:rPr lang="en-US" sz="2000"/>
              <a:t>Model comparison</a:t>
            </a:r>
          </a:p>
        </p:txBody>
      </p:sp>
      <p:sp>
        <p:nvSpPr>
          <p:cNvPr id="3" name="Content Placeholder 2"/>
          <p:cNvSpPr>
            <a:spLocks noGrp="1"/>
          </p:cNvSpPr>
          <p:nvPr>
            <p:ph idx="1"/>
          </p:nvPr>
        </p:nvSpPr>
        <p:spPr>
          <a:xfrm>
            <a:off x="602433" y="2638044"/>
            <a:ext cx="2297823" cy="3263206"/>
          </a:xfrm>
        </p:spPr>
        <p:txBody>
          <a:bodyPr>
            <a:normAutofit lnSpcReduction="10000"/>
          </a:bodyPr>
          <a:lstStyle/>
          <a:p>
            <a:pPr>
              <a:lnSpc>
                <a:spcPct val="90000"/>
              </a:lnSpc>
            </a:pPr>
            <a:endParaRPr lang="en-US" sz="900" dirty="0"/>
          </a:p>
          <a:p>
            <a:r>
              <a:rPr lang="en-US" sz="900" dirty="0"/>
              <a:t>Multiple predictive models were evaluated including:</a:t>
            </a:r>
          </a:p>
          <a:p>
            <a:r>
              <a:rPr lang="en-US" sz="900" dirty="0"/>
              <a:t>Logistic Regression,</a:t>
            </a:r>
          </a:p>
          <a:p>
            <a:r>
              <a:rPr lang="en-US" sz="900" dirty="0"/>
              <a:t>Random Forest,</a:t>
            </a:r>
          </a:p>
          <a:p>
            <a:r>
              <a:rPr lang="en-US" sz="900" dirty="0"/>
              <a:t>and Gradient Boosting.</a:t>
            </a:r>
          </a:p>
          <a:p>
            <a:r>
              <a:rPr lang="en-US" sz="900" dirty="0"/>
              <a:t>Gradient Boosting achieved the highest ROC-AUC performance.</a:t>
            </a:r>
          </a:p>
          <a:p>
            <a:r>
              <a:rPr lang="en-US" sz="900" dirty="0"/>
              <a:t>However, DEMI methodology remained the primary focus because DEMI provides:</a:t>
            </a:r>
          </a:p>
          <a:p>
            <a:r>
              <a:rPr lang="en-US" sz="900" dirty="0"/>
              <a:t>causal interpretability,</a:t>
            </a:r>
          </a:p>
          <a:p>
            <a:r>
              <a:rPr lang="en-US" sz="900" dirty="0"/>
              <a:t>temporal reasoning,</a:t>
            </a:r>
          </a:p>
          <a:p>
            <a:r>
              <a:rPr lang="en-US" sz="900" dirty="0"/>
              <a:t>direct effect analysis,</a:t>
            </a:r>
          </a:p>
          <a:p>
            <a:r>
              <a:rPr lang="en-US" sz="900" dirty="0"/>
              <a:t>and symptom progression modeling.</a:t>
            </a:r>
          </a:p>
          <a:p>
            <a:pPr>
              <a:lnSpc>
                <a:spcPct val="90000"/>
              </a:lnSpc>
            </a:pPr>
            <a:endParaRPr lang="en-US" sz="900" dirty="0"/>
          </a:p>
        </p:txBody>
      </p:sp>
      <p:sp>
        <p:nvSpPr>
          <p:cNvPr id="15" name="Rectangle 14">
            <a:extLst>
              <a:ext uri="{FF2B5EF4-FFF2-40B4-BE49-F238E27FC236}">
                <a16:creationId xmlns:a16="http://schemas.microsoft.com/office/drawing/2014/main" id="{B9A6A8C2-8B3A-4AD3-AFCC-F1D3F1F02D3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370636" y="964692"/>
            <a:ext cx="5164074" cy="4936558"/>
          </a:xfrm>
          <a:prstGeom prst="rect">
            <a:avLst/>
          </a:prstGeom>
          <a:noFill/>
          <a:ln w="31750" cap="sq">
            <a:solidFill>
              <a:srgbClr val="FFFFFF"/>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Rectangle 16">
            <a:extLst>
              <a:ext uri="{FF2B5EF4-FFF2-40B4-BE49-F238E27FC236}">
                <a16:creationId xmlns:a16="http://schemas.microsoft.com/office/drawing/2014/main" id="{CDF64937-39B5-4AB3-A2EF-EA689BA6087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93351" y="1128683"/>
            <a:ext cx="4918644" cy="4608576"/>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0" name="Table 9">
            <a:extLst>
              <a:ext uri="{FF2B5EF4-FFF2-40B4-BE49-F238E27FC236}">
                <a16:creationId xmlns:a16="http://schemas.microsoft.com/office/drawing/2014/main" id="{8087F5FA-7114-6040-4FC5-D5EC88215090}"/>
              </a:ext>
            </a:extLst>
          </p:cNvPr>
          <p:cNvGraphicFramePr>
            <a:graphicFrameLocks noGrp="1"/>
          </p:cNvGraphicFramePr>
          <p:nvPr>
            <p:extLst>
              <p:ext uri="{D42A27DB-BD31-4B8C-83A1-F6EECF244321}">
                <p14:modId xmlns:p14="http://schemas.microsoft.com/office/powerpoint/2010/main" val="3891853822"/>
              </p:ext>
            </p:extLst>
          </p:nvPr>
        </p:nvGraphicFramePr>
        <p:xfrm>
          <a:off x="3617524" y="2965528"/>
          <a:ext cx="4670302" cy="934890"/>
        </p:xfrm>
        <a:graphic>
          <a:graphicData uri="http://schemas.openxmlformats.org/drawingml/2006/table">
            <a:tbl>
              <a:tblPr firstRow="1" bandRow="1">
                <a:tableStyleId>{9D7B26C5-4107-4FEC-AEDC-1716B250A1EF}</a:tableStyleId>
              </a:tblPr>
              <a:tblGrid>
                <a:gridCol w="565565">
                  <a:extLst>
                    <a:ext uri="{9D8B030D-6E8A-4147-A177-3AD203B41FA5}">
                      <a16:colId xmlns:a16="http://schemas.microsoft.com/office/drawing/2014/main" val="4294691617"/>
                    </a:ext>
                  </a:extLst>
                </a:gridCol>
                <a:gridCol w="586391">
                  <a:extLst>
                    <a:ext uri="{9D8B030D-6E8A-4147-A177-3AD203B41FA5}">
                      <a16:colId xmlns:a16="http://schemas.microsoft.com/office/drawing/2014/main" val="790125276"/>
                    </a:ext>
                  </a:extLst>
                </a:gridCol>
                <a:gridCol w="586391">
                  <a:extLst>
                    <a:ext uri="{9D8B030D-6E8A-4147-A177-3AD203B41FA5}">
                      <a16:colId xmlns:a16="http://schemas.microsoft.com/office/drawing/2014/main" val="834502181"/>
                    </a:ext>
                  </a:extLst>
                </a:gridCol>
                <a:gridCol w="586391">
                  <a:extLst>
                    <a:ext uri="{9D8B030D-6E8A-4147-A177-3AD203B41FA5}">
                      <a16:colId xmlns:a16="http://schemas.microsoft.com/office/drawing/2014/main" val="3294207430"/>
                    </a:ext>
                  </a:extLst>
                </a:gridCol>
                <a:gridCol w="586391">
                  <a:extLst>
                    <a:ext uri="{9D8B030D-6E8A-4147-A177-3AD203B41FA5}">
                      <a16:colId xmlns:a16="http://schemas.microsoft.com/office/drawing/2014/main" val="3700865893"/>
                    </a:ext>
                  </a:extLst>
                </a:gridCol>
                <a:gridCol w="586391">
                  <a:extLst>
                    <a:ext uri="{9D8B030D-6E8A-4147-A177-3AD203B41FA5}">
                      <a16:colId xmlns:a16="http://schemas.microsoft.com/office/drawing/2014/main" val="324293499"/>
                    </a:ext>
                  </a:extLst>
                </a:gridCol>
                <a:gridCol w="586391">
                  <a:extLst>
                    <a:ext uri="{9D8B030D-6E8A-4147-A177-3AD203B41FA5}">
                      <a16:colId xmlns:a16="http://schemas.microsoft.com/office/drawing/2014/main" val="3755371400"/>
                    </a:ext>
                  </a:extLst>
                </a:gridCol>
                <a:gridCol w="586391">
                  <a:extLst>
                    <a:ext uri="{9D8B030D-6E8A-4147-A177-3AD203B41FA5}">
                      <a16:colId xmlns:a16="http://schemas.microsoft.com/office/drawing/2014/main" val="3457362844"/>
                    </a:ext>
                  </a:extLst>
                </a:gridCol>
              </a:tblGrid>
              <a:tr h="146913">
                <a:tc>
                  <a:txBody>
                    <a:bodyPr/>
                    <a:lstStyle/>
                    <a:p>
                      <a:pPr algn="l" fontAlgn="b">
                        <a:buNone/>
                      </a:pPr>
                      <a:r>
                        <a:rPr lang="en-US" sz="800" b="0" u="none" strike="noStrike">
                          <a:solidFill>
                            <a:srgbClr val="000000"/>
                          </a:solidFill>
                          <a:effectLst/>
                        </a:rPr>
                        <a:t>model</a:t>
                      </a:r>
                      <a:endParaRPr lang="en-US" sz="800" b="0" i="0" u="none" strike="noStrike">
                        <a:solidFill>
                          <a:srgbClr val="000000"/>
                        </a:solidFill>
                        <a:effectLst/>
                        <a:latin typeface="Aptos Narrow" panose="020B0004020202020204" pitchFamily="34" charset="0"/>
                      </a:endParaRPr>
                    </a:p>
                  </a:txBody>
                  <a:tcPr marL="5912" marR="5912" marT="5912" marB="0" anchor="b"/>
                </a:tc>
                <a:tc>
                  <a:txBody>
                    <a:bodyPr/>
                    <a:lstStyle/>
                    <a:p>
                      <a:pPr algn="l" fontAlgn="b">
                        <a:buNone/>
                      </a:pPr>
                      <a:r>
                        <a:rPr lang="en-US" sz="800" b="0" u="none" strike="noStrike">
                          <a:solidFill>
                            <a:srgbClr val="000000"/>
                          </a:solidFill>
                          <a:effectLst/>
                        </a:rPr>
                        <a:t>roc_auc</a:t>
                      </a:r>
                      <a:endParaRPr lang="en-US" sz="800" b="0" i="0" u="none" strike="noStrike">
                        <a:solidFill>
                          <a:srgbClr val="000000"/>
                        </a:solidFill>
                        <a:effectLst/>
                        <a:latin typeface="Aptos Narrow" panose="020B0004020202020204" pitchFamily="34" charset="0"/>
                      </a:endParaRPr>
                    </a:p>
                  </a:txBody>
                  <a:tcPr marL="5912" marR="5912" marT="5912" marB="0" anchor="b"/>
                </a:tc>
                <a:tc>
                  <a:txBody>
                    <a:bodyPr/>
                    <a:lstStyle/>
                    <a:p>
                      <a:pPr algn="l" fontAlgn="b">
                        <a:buNone/>
                      </a:pPr>
                      <a:r>
                        <a:rPr lang="en-US" sz="800" b="0" u="none" strike="noStrike">
                          <a:solidFill>
                            <a:srgbClr val="000000"/>
                          </a:solidFill>
                          <a:effectLst/>
                        </a:rPr>
                        <a:t>sensitivity</a:t>
                      </a:r>
                      <a:endParaRPr lang="en-US" sz="800" b="0" i="0" u="none" strike="noStrike">
                        <a:solidFill>
                          <a:srgbClr val="000000"/>
                        </a:solidFill>
                        <a:effectLst/>
                        <a:latin typeface="Aptos Narrow" panose="020B0004020202020204" pitchFamily="34" charset="0"/>
                      </a:endParaRPr>
                    </a:p>
                  </a:txBody>
                  <a:tcPr marL="5912" marR="5912" marT="5912" marB="0" anchor="b"/>
                </a:tc>
                <a:tc>
                  <a:txBody>
                    <a:bodyPr/>
                    <a:lstStyle/>
                    <a:p>
                      <a:pPr algn="l" fontAlgn="b">
                        <a:buNone/>
                      </a:pPr>
                      <a:r>
                        <a:rPr lang="en-US" sz="800" b="0" u="none" strike="noStrike">
                          <a:solidFill>
                            <a:srgbClr val="000000"/>
                          </a:solidFill>
                          <a:effectLst/>
                        </a:rPr>
                        <a:t>specificity</a:t>
                      </a:r>
                      <a:endParaRPr lang="en-US" sz="800" b="0" i="0" u="none" strike="noStrike">
                        <a:solidFill>
                          <a:srgbClr val="000000"/>
                        </a:solidFill>
                        <a:effectLst/>
                        <a:latin typeface="Aptos Narrow" panose="020B0004020202020204" pitchFamily="34" charset="0"/>
                      </a:endParaRPr>
                    </a:p>
                  </a:txBody>
                  <a:tcPr marL="5912" marR="5912" marT="5912" marB="0" anchor="b"/>
                </a:tc>
                <a:tc>
                  <a:txBody>
                    <a:bodyPr/>
                    <a:lstStyle/>
                    <a:p>
                      <a:pPr algn="l" fontAlgn="b">
                        <a:buNone/>
                      </a:pPr>
                      <a:r>
                        <a:rPr lang="en-US" sz="800" b="0" u="none" strike="noStrike">
                          <a:solidFill>
                            <a:srgbClr val="000000"/>
                          </a:solidFill>
                          <a:effectLst/>
                        </a:rPr>
                        <a:t>f1</a:t>
                      </a:r>
                      <a:endParaRPr lang="en-US" sz="800" b="0" i="0" u="none" strike="noStrike">
                        <a:solidFill>
                          <a:srgbClr val="000000"/>
                        </a:solidFill>
                        <a:effectLst/>
                        <a:latin typeface="Aptos Narrow" panose="020B0004020202020204" pitchFamily="34" charset="0"/>
                      </a:endParaRPr>
                    </a:p>
                  </a:txBody>
                  <a:tcPr marL="5912" marR="5912" marT="5912" marB="0" anchor="b"/>
                </a:tc>
                <a:tc>
                  <a:txBody>
                    <a:bodyPr/>
                    <a:lstStyle/>
                    <a:p>
                      <a:pPr algn="l" fontAlgn="b">
                        <a:buNone/>
                      </a:pPr>
                      <a:r>
                        <a:rPr lang="en-US" sz="800" b="0" u="none" strike="noStrike">
                          <a:solidFill>
                            <a:srgbClr val="000000"/>
                          </a:solidFill>
                          <a:effectLst/>
                        </a:rPr>
                        <a:t>ppv</a:t>
                      </a:r>
                      <a:endParaRPr lang="en-US" sz="800" b="0" i="0" u="none" strike="noStrike">
                        <a:solidFill>
                          <a:srgbClr val="000000"/>
                        </a:solidFill>
                        <a:effectLst/>
                        <a:latin typeface="Aptos Narrow" panose="020B0004020202020204" pitchFamily="34" charset="0"/>
                      </a:endParaRPr>
                    </a:p>
                  </a:txBody>
                  <a:tcPr marL="5912" marR="5912" marT="5912" marB="0" anchor="b"/>
                </a:tc>
                <a:tc>
                  <a:txBody>
                    <a:bodyPr/>
                    <a:lstStyle/>
                    <a:p>
                      <a:pPr algn="l" fontAlgn="b">
                        <a:buNone/>
                      </a:pPr>
                      <a:r>
                        <a:rPr lang="en-US" sz="800" b="0" u="none" strike="noStrike">
                          <a:solidFill>
                            <a:srgbClr val="000000"/>
                          </a:solidFill>
                          <a:effectLst/>
                        </a:rPr>
                        <a:t>npv</a:t>
                      </a:r>
                      <a:endParaRPr lang="en-US" sz="800" b="0" i="0" u="none" strike="noStrike">
                        <a:solidFill>
                          <a:srgbClr val="000000"/>
                        </a:solidFill>
                        <a:effectLst/>
                        <a:latin typeface="Aptos Narrow" panose="020B0004020202020204" pitchFamily="34" charset="0"/>
                      </a:endParaRPr>
                    </a:p>
                  </a:txBody>
                  <a:tcPr marL="5912" marR="5912" marT="5912" marB="0" anchor="b"/>
                </a:tc>
                <a:tc>
                  <a:txBody>
                    <a:bodyPr/>
                    <a:lstStyle/>
                    <a:p>
                      <a:pPr algn="l" fontAlgn="b">
                        <a:buNone/>
                      </a:pPr>
                      <a:r>
                        <a:rPr lang="en-US" sz="800" b="0" u="none" strike="noStrike">
                          <a:solidFill>
                            <a:srgbClr val="000000"/>
                          </a:solidFill>
                          <a:effectLst/>
                        </a:rPr>
                        <a:t>mcc</a:t>
                      </a:r>
                      <a:endParaRPr lang="en-US" sz="800" b="0" i="0" u="none" strike="noStrike">
                        <a:solidFill>
                          <a:srgbClr val="000000"/>
                        </a:solidFill>
                        <a:effectLst/>
                        <a:latin typeface="Aptos Narrow" panose="020B0004020202020204" pitchFamily="34" charset="0"/>
                      </a:endParaRPr>
                    </a:p>
                  </a:txBody>
                  <a:tcPr marL="5912" marR="5912" marT="5912" marB="0" anchor="b"/>
                </a:tc>
                <a:extLst>
                  <a:ext uri="{0D108BD9-81ED-4DB2-BD59-A6C34878D82A}">
                    <a16:rowId xmlns:a16="http://schemas.microsoft.com/office/drawing/2014/main" val="1870584886"/>
                  </a:ext>
                </a:extLst>
              </a:tr>
              <a:tr h="262659">
                <a:tc>
                  <a:txBody>
                    <a:bodyPr/>
                    <a:lstStyle/>
                    <a:p>
                      <a:pPr algn="l" fontAlgn="b">
                        <a:buNone/>
                      </a:pPr>
                      <a:r>
                        <a:rPr lang="en-US" sz="800" b="0" u="none" strike="noStrike">
                          <a:solidFill>
                            <a:srgbClr val="000000"/>
                          </a:solidFill>
                          <a:effectLst/>
                        </a:rPr>
                        <a:t>Gradient Boosting</a:t>
                      </a:r>
                      <a:endParaRPr lang="en-US" sz="800" b="0" i="0" u="none" strike="noStrike">
                        <a:solidFill>
                          <a:srgbClr val="000000"/>
                        </a:solidFill>
                        <a:effectLst/>
                        <a:latin typeface="Aptos Narrow" panose="020B0004020202020204" pitchFamily="34" charset="0"/>
                      </a:endParaRPr>
                    </a:p>
                  </a:txBody>
                  <a:tcPr marL="5912" marR="5912" marT="5912" marB="0" anchor="b"/>
                </a:tc>
                <a:tc>
                  <a:txBody>
                    <a:bodyPr/>
                    <a:lstStyle/>
                    <a:p>
                      <a:pPr algn="r" fontAlgn="b">
                        <a:buNone/>
                      </a:pPr>
                      <a:r>
                        <a:rPr lang="en-US" sz="800" b="0" u="none" strike="noStrike">
                          <a:solidFill>
                            <a:srgbClr val="000000"/>
                          </a:solidFill>
                          <a:effectLst/>
                        </a:rPr>
                        <a:t>0.87461393</a:t>
                      </a:r>
                      <a:endParaRPr lang="en-US" sz="800" b="0" i="0" u="none" strike="noStrike">
                        <a:solidFill>
                          <a:srgbClr val="000000"/>
                        </a:solidFill>
                        <a:effectLst/>
                        <a:latin typeface="Aptos Narrow" panose="020B0004020202020204" pitchFamily="34" charset="0"/>
                      </a:endParaRPr>
                    </a:p>
                  </a:txBody>
                  <a:tcPr marL="5912" marR="5912" marT="5912" marB="0" anchor="b"/>
                </a:tc>
                <a:tc>
                  <a:txBody>
                    <a:bodyPr/>
                    <a:lstStyle/>
                    <a:p>
                      <a:pPr algn="r" fontAlgn="b">
                        <a:buNone/>
                      </a:pPr>
                      <a:r>
                        <a:rPr lang="en-US" sz="800" b="0" u="none" strike="noStrike">
                          <a:solidFill>
                            <a:srgbClr val="000000"/>
                          </a:solidFill>
                          <a:effectLst/>
                        </a:rPr>
                        <a:t>0.2754386</a:t>
                      </a:r>
                      <a:endParaRPr lang="en-US" sz="800" b="0" i="0" u="none" strike="noStrike">
                        <a:solidFill>
                          <a:srgbClr val="000000"/>
                        </a:solidFill>
                        <a:effectLst/>
                        <a:latin typeface="Aptos Narrow" panose="020B0004020202020204" pitchFamily="34" charset="0"/>
                      </a:endParaRPr>
                    </a:p>
                  </a:txBody>
                  <a:tcPr marL="5912" marR="5912" marT="5912" marB="0" anchor="b"/>
                </a:tc>
                <a:tc>
                  <a:txBody>
                    <a:bodyPr/>
                    <a:lstStyle/>
                    <a:p>
                      <a:pPr algn="r" fontAlgn="b">
                        <a:buNone/>
                      </a:pPr>
                      <a:r>
                        <a:rPr lang="en-US" sz="800" b="0" u="none" strike="noStrike">
                          <a:solidFill>
                            <a:srgbClr val="000000"/>
                          </a:solidFill>
                          <a:effectLst/>
                        </a:rPr>
                        <a:t>0.97804391</a:t>
                      </a:r>
                      <a:endParaRPr lang="en-US" sz="800" b="0" i="0" u="none" strike="noStrike">
                        <a:solidFill>
                          <a:srgbClr val="000000"/>
                        </a:solidFill>
                        <a:effectLst/>
                        <a:latin typeface="Aptos Narrow" panose="020B0004020202020204" pitchFamily="34" charset="0"/>
                      </a:endParaRPr>
                    </a:p>
                  </a:txBody>
                  <a:tcPr marL="5912" marR="5912" marT="5912" marB="0" anchor="b"/>
                </a:tc>
                <a:tc>
                  <a:txBody>
                    <a:bodyPr/>
                    <a:lstStyle/>
                    <a:p>
                      <a:pPr algn="r" fontAlgn="b">
                        <a:buNone/>
                      </a:pPr>
                      <a:r>
                        <a:rPr lang="en-US" sz="800" b="0" u="none" strike="noStrike">
                          <a:solidFill>
                            <a:srgbClr val="000000"/>
                          </a:solidFill>
                          <a:effectLst/>
                        </a:rPr>
                        <a:t>0.37602694</a:t>
                      </a:r>
                      <a:endParaRPr lang="en-US" sz="800" b="0" i="0" u="none" strike="noStrike">
                        <a:solidFill>
                          <a:srgbClr val="000000"/>
                        </a:solidFill>
                        <a:effectLst/>
                        <a:latin typeface="Aptos Narrow" panose="020B0004020202020204" pitchFamily="34" charset="0"/>
                      </a:endParaRPr>
                    </a:p>
                  </a:txBody>
                  <a:tcPr marL="5912" marR="5912" marT="5912" marB="0" anchor="b"/>
                </a:tc>
                <a:tc>
                  <a:txBody>
                    <a:bodyPr/>
                    <a:lstStyle/>
                    <a:p>
                      <a:pPr algn="r" fontAlgn="b">
                        <a:buNone/>
                      </a:pPr>
                      <a:r>
                        <a:rPr lang="en-US" sz="800" b="0" u="none" strike="noStrike">
                          <a:solidFill>
                            <a:srgbClr val="000000"/>
                          </a:solidFill>
                          <a:effectLst/>
                        </a:rPr>
                        <a:t>0.65079365</a:t>
                      </a:r>
                      <a:endParaRPr lang="en-US" sz="800" b="0" i="0" u="none" strike="noStrike">
                        <a:solidFill>
                          <a:srgbClr val="000000"/>
                        </a:solidFill>
                        <a:effectLst/>
                        <a:latin typeface="Aptos Narrow" panose="020B0004020202020204" pitchFamily="34" charset="0"/>
                      </a:endParaRPr>
                    </a:p>
                  </a:txBody>
                  <a:tcPr marL="5912" marR="5912" marT="5912" marB="0" anchor="b"/>
                </a:tc>
                <a:tc>
                  <a:txBody>
                    <a:bodyPr/>
                    <a:lstStyle/>
                    <a:p>
                      <a:pPr algn="r" fontAlgn="b">
                        <a:buNone/>
                      </a:pPr>
                      <a:r>
                        <a:rPr lang="en-US" sz="800" b="0" u="none" strike="noStrike">
                          <a:solidFill>
                            <a:srgbClr val="000000"/>
                          </a:solidFill>
                          <a:effectLst/>
                        </a:rPr>
                        <a:t>0.9211025</a:t>
                      </a:r>
                      <a:endParaRPr lang="en-US" sz="800" b="0" i="0" u="none" strike="noStrike">
                        <a:solidFill>
                          <a:srgbClr val="000000"/>
                        </a:solidFill>
                        <a:effectLst/>
                        <a:latin typeface="Aptos Narrow" panose="020B0004020202020204" pitchFamily="34" charset="0"/>
                      </a:endParaRPr>
                    </a:p>
                  </a:txBody>
                  <a:tcPr marL="5912" marR="5912" marT="5912" marB="0" anchor="b"/>
                </a:tc>
                <a:tc>
                  <a:txBody>
                    <a:bodyPr/>
                    <a:lstStyle/>
                    <a:p>
                      <a:pPr algn="r" fontAlgn="b">
                        <a:buNone/>
                      </a:pPr>
                      <a:r>
                        <a:rPr lang="en-US" sz="800" b="0" u="none" strike="noStrike">
                          <a:solidFill>
                            <a:srgbClr val="000000"/>
                          </a:solidFill>
                          <a:effectLst/>
                        </a:rPr>
                        <a:t>0.37550692</a:t>
                      </a:r>
                      <a:endParaRPr lang="en-US" sz="800" b="0" i="0" u="none" strike="noStrike">
                        <a:solidFill>
                          <a:srgbClr val="000000"/>
                        </a:solidFill>
                        <a:effectLst/>
                        <a:latin typeface="Aptos Narrow" panose="020B0004020202020204" pitchFamily="34" charset="0"/>
                      </a:endParaRPr>
                    </a:p>
                  </a:txBody>
                  <a:tcPr marL="5912" marR="5912" marT="5912" marB="0" anchor="b"/>
                </a:tc>
                <a:extLst>
                  <a:ext uri="{0D108BD9-81ED-4DB2-BD59-A6C34878D82A}">
                    <a16:rowId xmlns:a16="http://schemas.microsoft.com/office/drawing/2014/main" val="2315588375"/>
                  </a:ext>
                </a:extLst>
              </a:tr>
              <a:tr h="262659">
                <a:tc>
                  <a:txBody>
                    <a:bodyPr/>
                    <a:lstStyle/>
                    <a:p>
                      <a:pPr algn="l" fontAlgn="b">
                        <a:buNone/>
                      </a:pPr>
                      <a:r>
                        <a:rPr lang="en-US" sz="800" b="0" u="none" strike="noStrike">
                          <a:solidFill>
                            <a:srgbClr val="000000"/>
                          </a:solidFill>
                          <a:effectLst/>
                        </a:rPr>
                        <a:t>Random Forest</a:t>
                      </a:r>
                      <a:endParaRPr lang="en-US" sz="800" b="0" i="0" u="none" strike="noStrike">
                        <a:solidFill>
                          <a:srgbClr val="000000"/>
                        </a:solidFill>
                        <a:effectLst/>
                        <a:latin typeface="Aptos Narrow" panose="020B0004020202020204" pitchFamily="34" charset="0"/>
                      </a:endParaRPr>
                    </a:p>
                  </a:txBody>
                  <a:tcPr marL="5912" marR="5912" marT="5912" marB="0" anchor="b"/>
                </a:tc>
                <a:tc>
                  <a:txBody>
                    <a:bodyPr/>
                    <a:lstStyle/>
                    <a:p>
                      <a:pPr algn="r" fontAlgn="b">
                        <a:buNone/>
                      </a:pPr>
                      <a:r>
                        <a:rPr lang="en-US" sz="800" b="0" u="none" strike="noStrike">
                          <a:solidFill>
                            <a:srgbClr val="000000"/>
                          </a:solidFill>
                          <a:effectLst/>
                        </a:rPr>
                        <a:t>0.86099905</a:t>
                      </a:r>
                      <a:endParaRPr lang="en-US" sz="800" b="0" i="0" u="none" strike="noStrike">
                        <a:solidFill>
                          <a:srgbClr val="000000"/>
                        </a:solidFill>
                        <a:effectLst/>
                        <a:latin typeface="Aptos Narrow" panose="020B0004020202020204" pitchFamily="34" charset="0"/>
                      </a:endParaRPr>
                    </a:p>
                  </a:txBody>
                  <a:tcPr marL="5912" marR="5912" marT="5912" marB="0" anchor="b"/>
                </a:tc>
                <a:tc>
                  <a:txBody>
                    <a:bodyPr/>
                    <a:lstStyle/>
                    <a:p>
                      <a:pPr algn="r" fontAlgn="b">
                        <a:buNone/>
                      </a:pPr>
                      <a:r>
                        <a:rPr lang="en-US" sz="800" b="0" u="none" strike="noStrike">
                          <a:solidFill>
                            <a:srgbClr val="000000"/>
                          </a:solidFill>
                          <a:effectLst/>
                        </a:rPr>
                        <a:t>0.46491228</a:t>
                      </a:r>
                      <a:endParaRPr lang="en-US" sz="800" b="0" i="0" u="none" strike="noStrike">
                        <a:solidFill>
                          <a:srgbClr val="000000"/>
                        </a:solidFill>
                        <a:effectLst/>
                        <a:latin typeface="Aptos Narrow" panose="020B0004020202020204" pitchFamily="34" charset="0"/>
                      </a:endParaRPr>
                    </a:p>
                  </a:txBody>
                  <a:tcPr marL="5912" marR="5912" marT="5912" marB="0" anchor="b"/>
                </a:tc>
                <a:tc>
                  <a:txBody>
                    <a:bodyPr/>
                    <a:lstStyle/>
                    <a:p>
                      <a:pPr algn="r" fontAlgn="b">
                        <a:buNone/>
                      </a:pPr>
                      <a:r>
                        <a:rPr lang="en-US" sz="800" b="0" u="none" strike="noStrike">
                          <a:solidFill>
                            <a:srgbClr val="000000"/>
                          </a:solidFill>
                          <a:effectLst/>
                        </a:rPr>
                        <a:t>0.89820359</a:t>
                      </a:r>
                      <a:endParaRPr lang="en-US" sz="800" b="0" i="0" u="none" strike="noStrike">
                        <a:solidFill>
                          <a:srgbClr val="000000"/>
                        </a:solidFill>
                        <a:effectLst/>
                        <a:latin typeface="Aptos Narrow" panose="020B0004020202020204" pitchFamily="34" charset="0"/>
                      </a:endParaRPr>
                    </a:p>
                  </a:txBody>
                  <a:tcPr marL="5912" marR="5912" marT="5912" marB="0" anchor="b"/>
                </a:tc>
                <a:tc>
                  <a:txBody>
                    <a:bodyPr/>
                    <a:lstStyle/>
                    <a:p>
                      <a:pPr algn="r" fontAlgn="b">
                        <a:buNone/>
                      </a:pPr>
                      <a:r>
                        <a:rPr lang="en-US" sz="800" b="0" u="none" strike="noStrike">
                          <a:solidFill>
                            <a:srgbClr val="000000"/>
                          </a:solidFill>
                          <a:effectLst/>
                        </a:rPr>
                        <a:t>0.39868421</a:t>
                      </a:r>
                      <a:endParaRPr lang="en-US" sz="800" b="0" i="0" u="none" strike="noStrike">
                        <a:solidFill>
                          <a:srgbClr val="000000"/>
                        </a:solidFill>
                        <a:effectLst/>
                        <a:latin typeface="Aptos Narrow" panose="020B0004020202020204" pitchFamily="34" charset="0"/>
                      </a:endParaRPr>
                    </a:p>
                  </a:txBody>
                  <a:tcPr marL="5912" marR="5912" marT="5912" marB="0" anchor="b"/>
                </a:tc>
                <a:tc>
                  <a:txBody>
                    <a:bodyPr/>
                    <a:lstStyle/>
                    <a:p>
                      <a:pPr algn="r" fontAlgn="b">
                        <a:buNone/>
                      </a:pPr>
                      <a:r>
                        <a:rPr lang="en-US" sz="800" b="0" u="none" strike="noStrike">
                          <a:solidFill>
                            <a:srgbClr val="000000"/>
                          </a:solidFill>
                          <a:effectLst/>
                        </a:rPr>
                        <a:t>0.35491026</a:t>
                      </a:r>
                      <a:endParaRPr lang="en-US" sz="800" b="0" i="0" u="none" strike="noStrike">
                        <a:solidFill>
                          <a:srgbClr val="000000"/>
                        </a:solidFill>
                        <a:effectLst/>
                        <a:latin typeface="Aptos Narrow" panose="020B0004020202020204" pitchFamily="34" charset="0"/>
                      </a:endParaRPr>
                    </a:p>
                  </a:txBody>
                  <a:tcPr marL="5912" marR="5912" marT="5912" marB="0" anchor="b"/>
                </a:tc>
                <a:tc>
                  <a:txBody>
                    <a:bodyPr/>
                    <a:lstStyle/>
                    <a:p>
                      <a:pPr algn="r" fontAlgn="b">
                        <a:buNone/>
                      </a:pPr>
                      <a:r>
                        <a:rPr lang="en-US" sz="800" b="0" u="none" strike="noStrike">
                          <a:solidFill>
                            <a:srgbClr val="000000"/>
                          </a:solidFill>
                          <a:effectLst/>
                        </a:rPr>
                        <a:t>0.93558107</a:t>
                      </a:r>
                      <a:endParaRPr lang="en-US" sz="800" b="0" i="0" u="none" strike="noStrike">
                        <a:solidFill>
                          <a:srgbClr val="000000"/>
                        </a:solidFill>
                        <a:effectLst/>
                        <a:latin typeface="Aptos Narrow" panose="020B0004020202020204" pitchFamily="34" charset="0"/>
                      </a:endParaRPr>
                    </a:p>
                  </a:txBody>
                  <a:tcPr marL="5912" marR="5912" marT="5912" marB="0" anchor="b"/>
                </a:tc>
                <a:tc>
                  <a:txBody>
                    <a:bodyPr/>
                    <a:lstStyle/>
                    <a:p>
                      <a:pPr algn="r" fontAlgn="b">
                        <a:buNone/>
                      </a:pPr>
                      <a:r>
                        <a:rPr lang="en-US" sz="800" b="0" u="none" strike="noStrike">
                          <a:solidFill>
                            <a:srgbClr val="000000"/>
                          </a:solidFill>
                          <a:effectLst/>
                        </a:rPr>
                        <a:t>0.32361384</a:t>
                      </a:r>
                      <a:endParaRPr lang="en-US" sz="800" b="0" i="0" u="none" strike="noStrike">
                        <a:solidFill>
                          <a:srgbClr val="000000"/>
                        </a:solidFill>
                        <a:effectLst/>
                        <a:latin typeface="Aptos Narrow" panose="020B0004020202020204" pitchFamily="34" charset="0"/>
                      </a:endParaRPr>
                    </a:p>
                  </a:txBody>
                  <a:tcPr marL="5912" marR="5912" marT="5912" marB="0" anchor="b"/>
                </a:tc>
                <a:extLst>
                  <a:ext uri="{0D108BD9-81ED-4DB2-BD59-A6C34878D82A}">
                    <a16:rowId xmlns:a16="http://schemas.microsoft.com/office/drawing/2014/main" val="169017111"/>
                  </a:ext>
                </a:extLst>
              </a:tr>
              <a:tr h="262659">
                <a:tc>
                  <a:txBody>
                    <a:bodyPr/>
                    <a:lstStyle/>
                    <a:p>
                      <a:pPr algn="l" fontAlgn="b">
                        <a:buNone/>
                      </a:pPr>
                      <a:r>
                        <a:rPr lang="en-US" sz="800" b="0" u="none" strike="noStrike">
                          <a:solidFill>
                            <a:srgbClr val="000000"/>
                          </a:solidFill>
                          <a:effectLst/>
                        </a:rPr>
                        <a:t>Logistic Regression</a:t>
                      </a:r>
                      <a:endParaRPr lang="en-US" sz="800" b="0" i="0" u="none" strike="noStrike">
                        <a:solidFill>
                          <a:srgbClr val="000000"/>
                        </a:solidFill>
                        <a:effectLst/>
                        <a:latin typeface="Aptos Narrow" panose="020B0004020202020204" pitchFamily="34" charset="0"/>
                      </a:endParaRPr>
                    </a:p>
                  </a:txBody>
                  <a:tcPr marL="5912" marR="5912" marT="5912" marB="0" anchor="b"/>
                </a:tc>
                <a:tc>
                  <a:txBody>
                    <a:bodyPr/>
                    <a:lstStyle/>
                    <a:p>
                      <a:pPr algn="r" fontAlgn="b">
                        <a:buNone/>
                      </a:pPr>
                      <a:r>
                        <a:rPr lang="en-US" sz="800" b="0" u="none" strike="noStrike">
                          <a:solidFill>
                            <a:srgbClr val="000000"/>
                          </a:solidFill>
                          <a:effectLst/>
                        </a:rPr>
                        <a:t>0.83241412</a:t>
                      </a:r>
                      <a:endParaRPr lang="en-US" sz="800" b="0" i="0" u="none" strike="noStrike">
                        <a:solidFill>
                          <a:srgbClr val="000000"/>
                        </a:solidFill>
                        <a:effectLst/>
                        <a:latin typeface="Aptos Narrow" panose="020B0004020202020204" pitchFamily="34" charset="0"/>
                      </a:endParaRPr>
                    </a:p>
                  </a:txBody>
                  <a:tcPr marL="5912" marR="5912" marT="5912" marB="0" anchor="b"/>
                </a:tc>
                <a:tc>
                  <a:txBody>
                    <a:bodyPr/>
                    <a:lstStyle/>
                    <a:p>
                      <a:pPr algn="r" fontAlgn="b">
                        <a:buNone/>
                      </a:pPr>
                      <a:r>
                        <a:rPr lang="en-US" sz="800" b="0" u="none" strike="noStrike">
                          <a:solidFill>
                            <a:srgbClr val="000000"/>
                          </a:solidFill>
                          <a:effectLst/>
                        </a:rPr>
                        <a:t>0.7245614</a:t>
                      </a:r>
                      <a:endParaRPr lang="en-US" sz="800" b="0" i="0" u="none" strike="noStrike">
                        <a:solidFill>
                          <a:srgbClr val="000000"/>
                        </a:solidFill>
                        <a:effectLst/>
                        <a:latin typeface="Aptos Narrow" panose="020B0004020202020204" pitchFamily="34" charset="0"/>
                      </a:endParaRPr>
                    </a:p>
                  </a:txBody>
                  <a:tcPr marL="5912" marR="5912" marT="5912" marB="0" anchor="b"/>
                </a:tc>
                <a:tc>
                  <a:txBody>
                    <a:bodyPr/>
                    <a:lstStyle/>
                    <a:p>
                      <a:pPr algn="r" fontAlgn="b">
                        <a:buNone/>
                      </a:pPr>
                      <a:r>
                        <a:rPr lang="en-US" sz="800" b="0" u="none" strike="noStrike">
                          <a:solidFill>
                            <a:srgbClr val="000000"/>
                          </a:solidFill>
                          <a:effectLst/>
                        </a:rPr>
                        <a:t>0.8502994</a:t>
                      </a:r>
                      <a:endParaRPr lang="en-US" sz="800" b="0" i="0" u="none" strike="noStrike">
                        <a:solidFill>
                          <a:srgbClr val="000000"/>
                        </a:solidFill>
                        <a:effectLst/>
                        <a:latin typeface="Aptos Narrow" panose="020B0004020202020204" pitchFamily="34" charset="0"/>
                      </a:endParaRPr>
                    </a:p>
                  </a:txBody>
                  <a:tcPr marL="5912" marR="5912" marT="5912" marB="0" anchor="b"/>
                </a:tc>
                <a:tc>
                  <a:txBody>
                    <a:bodyPr/>
                    <a:lstStyle/>
                    <a:p>
                      <a:pPr algn="r" fontAlgn="b">
                        <a:buNone/>
                      </a:pPr>
                      <a:r>
                        <a:rPr lang="en-US" sz="800" b="0" u="none" strike="noStrike">
                          <a:solidFill>
                            <a:srgbClr val="000000"/>
                          </a:solidFill>
                          <a:effectLst/>
                        </a:rPr>
                        <a:t>0.48190719</a:t>
                      </a:r>
                      <a:endParaRPr lang="en-US" sz="800" b="0" i="0" u="none" strike="noStrike">
                        <a:solidFill>
                          <a:srgbClr val="000000"/>
                        </a:solidFill>
                        <a:effectLst/>
                        <a:latin typeface="Aptos Narrow" panose="020B0004020202020204" pitchFamily="34" charset="0"/>
                      </a:endParaRPr>
                    </a:p>
                  </a:txBody>
                  <a:tcPr marL="5912" marR="5912" marT="5912" marB="0" anchor="b"/>
                </a:tc>
                <a:tc>
                  <a:txBody>
                    <a:bodyPr/>
                    <a:lstStyle/>
                    <a:p>
                      <a:pPr algn="r" fontAlgn="b">
                        <a:buNone/>
                      </a:pPr>
                      <a:r>
                        <a:rPr lang="en-US" sz="800" b="0" u="none" strike="noStrike">
                          <a:solidFill>
                            <a:srgbClr val="000000"/>
                          </a:solidFill>
                          <a:effectLst/>
                        </a:rPr>
                        <a:t>0.36297363</a:t>
                      </a:r>
                      <a:endParaRPr lang="en-US" sz="800" b="0" i="0" u="none" strike="noStrike">
                        <a:solidFill>
                          <a:srgbClr val="000000"/>
                        </a:solidFill>
                        <a:effectLst/>
                        <a:latin typeface="Aptos Narrow" panose="020B0004020202020204" pitchFamily="34" charset="0"/>
                      </a:endParaRPr>
                    </a:p>
                  </a:txBody>
                  <a:tcPr marL="5912" marR="5912" marT="5912" marB="0" anchor="b"/>
                </a:tc>
                <a:tc>
                  <a:txBody>
                    <a:bodyPr/>
                    <a:lstStyle/>
                    <a:p>
                      <a:pPr algn="r" fontAlgn="b">
                        <a:buNone/>
                      </a:pPr>
                      <a:r>
                        <a:rPr lang="en-US" sz="800" b="0" u="none" strike="noStrike">
                          <a:solidFill>
                            <a:srgbClr val="000000"/>
                          </a:solidFill>
                          <a:effectLst/>
                        </a:rPr>
                        <a:t>0.96385315</a:t>
                      </a:r>
                      <a:endParaRPr lang="en-US" sz="800" b="0" i="0" u="none" strike="noStrike">
                        <a:solidFill>
                          <a:srgbClr val="000000"/>
                        </a:solidFill>
                        <a:effectLst/>
                        <a:latin typeface="Aptos Narrow" panose="020B0004020202020204" pitchFamily="34" charset="0"/>
                      </a:endParaRPr>
                    </a:p>
                  </a:txBody>
                  <a:tcPr marL="5912" marR="5912" marT="5912" marB="0" anchor="b"/>
                </a:tc>
                <a:tc>
                  <a:txBody>
                    <a:bodyPr/>
                    <a:lstStyle/>
                    <a:p>
                      <a:pPr algn="r" fontAlgn="b">
                        <a:buNone/>
                      </a:pPr>
                      <a:r>
                        <a:rPr lang="en-US" sz="800" b="0" u="none" strike="noStrike" dirty="0">
                          <a:solidFill>
                            <a:srgbClr val="000000"/>
                          </a:solidFill>
                          <a:effectLst/>
                        </a:rPr>
                        <a:t>0.43294047</a:t>
                      </a:r>
                      <a:endParaRPr lang="en-US" sz="800" b="0" i="0" u="none" strike="noStrike" dirty="0">
                        <a:solidFill>
                          <a:srgbClr val="000000"/>
                        </a:solidFill>
                        <a:effectLst/>
                        <a:latin typeface="Aptos Narrow" panose="020B0004020202020204" pitchFamily="34" charset="0"/>
                      </a:endParaRPr>
                    </a:p>
                  </a:txBody>
                  <a:tcPr marL="5912" marR="5912" marT="5912" marB="0" anchor="b"/>
                </a:tc>
                <a:extLst>
                  <a:ext uri="{0D108BD9-81ED-4DB2-BD59-A6C34878D82A}">
                    <a16:rowId xmlns:a16="http://schemas.microsoft.com/office/drawing/2014/main" val="2395236884"/>
                  </a:ext>
                </a:extLst>
              </a:tr>
            </a:tbl>
          </a:graphicData>
        </a:graphic>
      </p:graphicFrame>
      <p:graphicFrame>
        <p:nvGraphicFramePr>
          <p:cNvPr id="11" name="Table 10">
            <a:extLst>
              <a:ext uri="{FF2B5EF4-FFF2-40B4-BE49-F238E27FC236}">
                <a16:creationId xmlns:a16="http://schemas.microsoft.com/office/drawing/2014/main" id="{37D3BEF9-4C6E-C975-1010-2CEAE80BE53E}"/>
              </a:ext>
            </a:extLst>
          </p:cNvPr>
          <p:cNvGraphicFramePr>
            <a:graphicFrameLocks noGrp="1"/>
          </p:cNvGraphicFramePr>
          <p:nvPr>
            <p:extLst>
              <p:ext uri="{D42A27DB-BD31-4B8C-83A1-F6EECF244321}">
                <p14:modId xmlns:p14="http://schemas.microsoft.com/office/powerpoint/2010/main" val="2385807317"/>
              </p:ext>
            </p:extLst>
          </p:nvPr>
        </p:nvGraphicFramePr>
        <p:xfrm>
          <a:off x="3735314" y="1298194"/>
          <a:ext cx="4127500" cy="1339850"/>
        </p:xfrm>
        <a:graphic>
          <a:graphicData uri="http://schemas.openxmlformats.org/drawingml/2006/table">
            <a:tbl>
              <a:tblPr/>
              <a:tblGrid>
                <a:gridCol w="825500">
                  <a:extLst>
                    <a:ext uri="{9D8B030D-6E8A-4147-A177-3AD203B41FA5}">
                      <a16:colId xmlns:a16="http://schemas.microsoft.com/office/drawing/2014/main" val="3692131955"/>
                    </a:ext>
                  </a:extLst>
                </a:gridCol>
                <a:gridCol w="825500">
                  <a:extLst>
                    <a:ext uri="{9D8B030D-6E8A-4147-A177-3AD203B41FA5}">
                      <a16:colId xmlns:a16="http://schemas.microsoft.com/office/drawing/2014/main" val="737149912"/>
                    </a:ext>
                  </a:extLst>
                </a:gridCol>
                <a:gridCol w="825500">
                  <a:extLst>
                    <a:ext uri="{9D8B030D-6E8A-4147-A177-3AD203B41FA5}">
                      <a16:colId xmlns:a16="http://schemas.microsoft.com/office/drawing/2014/main" val="2540138456"/>
                    </a:ext>
                  </a:extLst>
                </a:gridCol>
                <a:gridCol w="825500">
                  <a:extLst>
                    <a:ext uri="{9D8B030D-6E8A-4147-A177-3AD203B41FA5}">
                      <a16:colId xmlns:a16="http://schemas.microsoft.com/office/drawing/2014/main" val="3882359170"/>
                    </a:ext>
                  </a:extLst>
                </a:gridCol>
                <a:gridCol w="825500">
                  <a:extLst>
                    <a:ext uri="{9D8B030D-6E8A-4147-A177-3AD203B41FA5}">
                      <a16:colId xmlns:a16="http://schemas.microsoft.com/office/drawing/2014/main" val="593345827"/>
                    </a:ext>
                  </a:extLst>
                </a:gridCol>
              </a:tblGrid>
              <a:tr h="203200">
                <a:tc>
                  <a:txBody>
                    <a:bodyPr/>
                    <a:lstStyle/>
                    <a:p>
                      <a:pPr algn="l" fontAlgn="b">
                        <a:buNone/>
                      </a:pPr>
                      <a:r>
                        <a:rPr lang="en-US" sz="1200" b="0" i="0" u="none" strike="noStrike">
                          <a:solidFill>
                            <a:srgbClr val="000000"/>
                          </a:solidFill>
                          <a:effectLst/>
                          <a:latin typeface="Aptos Narrow" panose="020B0004020202020204" pitchFamily="34" charset="0"/>
                        </a:rPr>
                        <a:t>Model</a:t>
                      </a:r>
                    </a:p>
                  </a:txBody>
                  <a:tcPr marL="9525" marR="9525" marT="9525" marB="0" anchor="b">
                    <a:lnL>
                      <a:noFill/>
                    </a:lnL>
                    <a:lnR>
                      <a:noFill/>
                    </a:lnR>
                    <a:lnT>
                      <a:noFill/>
                    </a:lnT>
                    <a:lnB>
                      <a:noFill/>
                    </a:lnB>
                    <a:noFill/>
                  </a:tcPr>
                </a:tc>
                <a:tc>
                  <a:txBody>
                    <a:bodyPr/>
                    <a:lstStyle/>
                    <a:p>
                      <a:pPr algn="l" fontAlgn="b">
                        <a:buNone/>
                      </a:pPr>
                      <a:r>
                        <a:rPr lang="en-US" sz="1200" b="0" i="0" u="none" strike="noStrike" dirty="0">
                          <a:solidFill>
                            <a:srgbClr val="000000"/>
                          </a:solidFill>
                          <a:effectLst/>
                          <a:latin typeface="Aptos Narrow" panose="020B0004020202020204" pitchFamily="34" charset="0"/>
                        </a:rPr>
                        <a:t>AUC</a:t>
                      </a:r>
                    </a:p>
                  </a:txBody>
                  <a:tcPr marL="9525" marR="9525" marT="9525" marB="0" anchor="b">
                    <a:lnL>
                      <a:noFill/>
                    </a:lnL>
                    <a:lnR>
                      <a:noFill/>
                    </a:lnR>
                    <a:lnT>
                      <a:noFill/>
                    </a:lnT>
                    <a:lnB>
                      <a:noFill/>
                    </a:lnB>
                    <a:noFill/>
                  </a:tcPr>
                </a:tc>
                <a:tc>
                  <a:txBody>
                    <a:bodyPr/>
                    <a:lstStyle/>
                    <a:p>
                      <a:pPr algn="l" fontAlgn="b">
                        <a:buNone/>
                      </a:pPr>
                      <a:r>
                        <a:rPr lang="en-US" sz="1200" b="0" i="0" u="none" strike="noStrike">
                          <a:solidFill>
                            <a:srgbClr val="000000"/>
                          </a:solidFill>
                          <a:effectLst/>
                          <a:latin typeface="Aptos Narrow" panose="020B0004020202020204" pitchFamily="34" charset="0"/>
                        </a:rPr>
                        <a:t>Accuracy</a:t>
                      </a:r>
                    </a:p>
                  </a:txBody>
                  <a:tcPr marL="9525" marR="9525" marT="9525" marB="0" anchor="b">
                    <a:lnL>
                      <a:noFill/>
                    </a:lnL>
                    <a:lnR>
                      <a:noFill/>
                    </a:lnR>
                    <a:lnT>
                      <a:noFill/>
                    </a:lnT>
                    <a:lnB>
                      <a:noFill/>
                    </a:lnB>
                    <a:noFill/>
                  </a:tcPr>
                </a:tc>
                <a:tc>
                  <a:txBody>
                    <a:bodyPr/>
                    <a:lstStyle/>
                    <a:p>
                      <a:pPr algn="l" fontAlgn="b">
                        <a:buNone/>
                      </a:pPr>
                      <a:r>
                        <a:rPr lang="en-US" sz="1200" b="0" i="0" u="none" strike="noStrike">
                          <a:solidFill>
                            <a:srgbClr val="000000"/>
                          </a:solidFill>
                          <a:effectLst/>
                          <a:latin typeface="Aptos Narrow" panose="020B0004020202020204" pitchFamily="34" charset="0"/>
                        </a:rPr>
                        <a:t>McFadden_R2</a:t>
                      </a:r>
                    </a:p>
                  </a:txBody>
                  <a:tcPr marL="9525" marR="9525" marT="9525" marB="0" anchor="b">
                    <a:lnL>
                      <a:noFill/>
                    </a:lnL>
                    <a:lnR>
                      <a:noFill/>
                    </a:lnR>
                    <a:lnT>
                      <a:noFill/>
                    </a:lnT>
                    <a:lnB>
                      <a:noFill/>
                    </a:lnB>
                    <a:noFill/>
                  </a:tcPr>
                </a:tc>
                <a:tc>
                  <a:txBody>
                    <a:bodyPr/>
                    <a:lstStyle/>
                    <a:p>
                      <a:pPr algn="l" fontAlgn="b">
                        <a:buNone/>
                      </a:pPr>
                      <a:r>
                        <a:rPr lang="en-US" sz="1200" b="0" i="0" u="none" strike="noStrike">
                          <a:solidFill>
                            <a:srgbClr val="000000"/>
                          </a:solidFill>
                          <a:effectLst/>
                          <a:latin typeface="Aptos Narrow" panose="020B0004020202020204" pitchFamily="34" charset="0"/>
                        </a:rPr>
                        <a:t>Percent_Variation_Explained</a:t>
                      </a:r>
                    </a:p>
                  </a:txBody>
                  <a:tcPr marL="9525" marR="9525" marT="9525" marB="0" anchor="b">
                    <a:lnL>
                      <a:noFill/>
                    </a:lnL>
                    <a:lnR>
                      <a:noFill/>
                    </a:lnR>
                    <a:lnT>
                      <a:noFill/>
                    </a:lnT>
                    <a:lnB>
                      <a:noFill/>
                    </a:lnB>
                    <a:noFill/>
                  </a:tcPr>
                </a:tc>
                <a:extLst>
                  <a:ext uri="{0D108BD9-81ED-4DB2-BD59-A6C34878D82A}">
                    <a16:rowId xmlns:a16="http://schemas.microsoft.com/office/drawing/2014/main" val="337292648"/>
                  </a:ext>
                </a:extLst>
              </a:tr>
              <a:tr h="203200">
                <a:tc>
                  <a:txBody>
                    <a:bodyPr/>
                    <a:lstStyle/>
                    <a:p>
                      <a:pPr algn="l" fontAlgn="b">
                        <a:buNone/>
                      </a:pPr>
                      <a:r>
                        <a:rPr lang="en-US" sz="1200" b="0" i="0" u="none" strike="noStrike">
                          <a:solidFill>
                            <a:srgbClr val="000000"/>
                          </a:solidFill>
                          <a:effectLst/>
                          <a:latin typeface="Aptos Narrow" panose="020B0004020202020204" pitchFamily="34" charset="0"/>
                        </a:rPr>
                        <a:t>Logistic</a:t>
                      </a:r>
                    </a:p>
                  </a:txBody>
                  <a:tcPr marL="9525" marR="9525" marT="9525" marB="0" anchor="b">
                    <a:lnL>
                      <a:noFill/>
                    </a:lnL>
                    <a:lnR>
                      <a:noFill/>
                    </a:lnR>
                    <a:lnT>
                      <a:noFill/>
                    </a:lnT>
                    <a:lnB>
                      <a:noFill/>
                    </a:lnB>
                    <a:noFill/>
                  </a:tcPr>
                </a:tc>
                <a:tc>
                  <a:txBody>
                    <a:bodyPr/>
                    <a:lstStyle/>
                    <a:p>
                      <a:pPr algn="r" fontAlgn="b">
                        <a:buNone/>
                      </a:pPr>
                      <a:r>
                        <a:rPr lang="en-US" sz="1200" b="0" i="0" u="none" strike="noStrike">
                          <a:solidFill>
                            <a:srgbClr val="000000"/>
                          </a:solidFill>
                          <a:effectLst/>
                          <a:latin typeface="Aptos Narrow" panose="020B0004020202020204" pitchFamily="34" charset="0"/>
                        </a:rPr>
                        <a:t>0.95093333</a:t>
                      </a:r>
                    </a:p>
                  </a:txBody>
                  <a:tcPr marL="9525" marR="9525" marT="9525" marB="0" anchor="b">
                    <a:lnL>
                      <a:noFill/>
                    </a:lnL>
                    <a:lnR>
                      <a:noFill/>
                    </a:lnR>
                    <a:lnT>
                      <a:noFill/>
                    </a:lnT>
                    <a:lnB>
                      <a:noFill/>
                    </a:lnB>
                    <a:noFill/>
                  </a:tcPr>
                </a:tc>
                <a:tc>
                  <a:txBody>
                    <a:bodyPr/>
                    <a:lstStyle/>
                    <a:p>
                      <a:pPr algn="r" fontAlgn="b">
                        <a:buNone/>
                      </a:pPr>
                      <a:r>
                        <a:rPr lang="en-US" sz="1200" b="0" i="0" u="none" strike="noStrike">
                          <a:solidFill>
                            <a:srgbClr val="000000"/>
                          </a:solidFill>
                          <a:effectLst/>
                          <a:latin typeface="Aptos Narrow" panose="020B0004020202020204" pitchFamily="34" charset="0"/>
                        </a:rPr>
                        <a:t>0.95</a:t>
                      </a:r>
                    </a:p>
                  </a:txBody>
                  <a:tcPr marL="9525" marR="9525" marT="9525" marB="0" anchor="b">
                    <a:lnL>
                      <a:noFill/>
                    </a:lnL>
                    <a:lnR>
                      <a:noFill/>
                    </a:lnR>
                    <a:lnT>
                      <a:noFill/>
                    </a:lnT>
                    <a:lnB>
                      <a:noFill/>
                    </a:lnB>
                    <a:noFill/>
                  </a:tcPr>
                </a:tc>
                <a:tc>
                  <a:txBody>
                    <a:bodyPr/>
                    <a:lstStyle/>
                    <a:p>
                      <a:pPr algn="r" fontAlgn="b">
                        <a:buNone/>
                      </a:pPr>
                      <a:r>
                        <a:rPr lang="en-US" sz="1200" b="0" i="0" u="none" strike="noStrike">
                          <a:solidFill>
                            <a:srgbClr val="000000"/>
                          </a:solidFill>
                          <a:effectLst/>
                          <a:latin typeface="Aptos Narrow" panose="020B0004020202020204" pitchFamily="34" charset="0"/>
                        </a:rPr>
                        <a:t>0.20690666</a:t>
                      </a:r>
                    </a:p>
                  </a:txBody>
                  <a:tcPr marL="9525" marR="9525" marT="9525" marB="0" anchor="b">
                    <a:lnL>
                      <a:noFill/>
                    </a:lnL>
                    <a:lnR>
                      <a:noFill/>
                    </a:lnR>
                    <a:lnT>
                      <a:noFill/>
                    </a:lnT>
                    <a:lnB>
                      <a:noFill/>
                    </a:lnB>
                    <a:noFill/>
                  </a:tcPr>
                </a:tc>
                <a:tc>
                  <a:txBody>
                    <a:bodyPr/>
                    <a:lstStyle/>
                    <a:p>
                      <a:pPr algn="r" fontAlgn="b">
                        <a:buNone/>
                      </a:pPr>
                      <a:r>
                        <a:rPr lang="en-US" sz="1200" b="0" i="0" u="none" strike="noStrike">
                          <a:solidFill>
                            <a:srgbClr val="000000"/>
                          </a:solidFill>
                          <a:effectLst/>
                          <a:latin typeface="Aptos Narrow" panose="020B0004020202020204" pitchFamily="34" charset="0"/>
                        </a:rPr>
                        <a:t>20.6906663</a:t>
                      </a:r>
                    </a:p>
                  </a:txBody>
                  <a:tcPr marL="9525" marR="9525" marT="9525" marB="0" anchor="b">
                    <a:lnL>
                      <a:noFill/>
                    </a:lnL>
                    <a:lnR>
                      <a:noFill/>
                    </a:lnR>
                    <a:lnT>
                      <a:noFill/>
                    </a:lnT>
                    <a:lnB>
                      <a:noFill/>
                    </a:lnB>
                    <a:noFill/>
                  </a:tcPr>
                </a:tc>
                <a:extLst>
                  <a:ext uri="{0D108BD9-81ED-4DB2-BD59-A6C34878D82A}">
                    <a16:rowId xmlns:a16="http://schemas.microsoft.com/office/drawing/2014/main" val="4004685882"/>
                  </a:ext>
                </a:extLst>
              </a:tr>
              <a:tr h="203200">
                <a:tc>
                  <a:txBody>
                    <a:bodyPr/>
                    <a:lstStyle/>
                    <a:p>
                      <a:pPr algn="l" fontAlgn="b">
                        <a:buNone/>
                      </a:pPr>
                      <a:r>
                        <a:rPr lang="en-US" sz="1200" b="0" i="0" u="none" strike="noStrike">
                          <a:solidFill>
                            <a:srgbClr val="000000"/>
                          </a:solidFill>
                          <a:effectLst/>
                          <a:latin typeface="Aptos Narrow" panose="020B0004020202020204" pitchFamily="34" charset="0"/>
                        </a:rPr>
                        <a:t>GradientBoosting</a:t>
                      </a:r>
                    </a:p>
                  </a:txBody>
                  <a:tcPr marL="9525" marR="9525" marT="9525" marB="0" anchor="b">
                    <a:lnL>
                      <a:noFill/>
                    </a:lnL>
                    <a:lnR>
                      <a:noFill/>
                    </a:lnR>
                    <a:lnT>
                      <a:noFill/>
                    </a:lnT>
                    <a:lnB>
                      <a:noFill/>
                    </a:lnB>
                    <a:noFill/>
                  </a:tcPr>
                </a:tc>
                <a:tc>
                  <a:txBody>
                    <a:bodyPr/>
                    <a:lstStyle/>
                    <a:p>
                      <a:pPr algn="r" fontAlgn="b">
                        <a:buNone/>
                      </a:pPr>
                      <a:r>
                        <a:rPr lang="en-US" sz="1200" b="0" i="0" u="none" strike="noStrike">
                          <a:solidFill>
                            <a:srgbClr val="000000"/>
                          </a:solidFill>
                          <a:effectLst/>
                          <a:latin typeface="Aptos Narrow" panose="020B0004020202020204" pitchFamily="34" charset="0"/>
                        </a:rPr>
                        <a:t>0.92453333</a:t>
                      </a:r>
                    </a:p>
                  </a:txBody>
                  <a:tcPr marL="9525" marR="9525" marT="9525" marB="0" anchor="b">
                    <a:lnL>
                      <a:noFill/>
                    </a:lnL>
                    <a:lnR>
                      <a:noFill/>
                    </a:lnR>
                    <a:lnT>
                      <a:noFill/>
                    </a:lnT>
                    <a:lnB>
                      <a:noFill/>
                    </a:lnB>
                    <a:noFill/>
                  </a:tcPr>
                </a:tc>
                <a:tc>
                  <a:txBody>
                    <a:bodyPr/>
                    <a:lstStyle/>
                    <a:p>
                      <a:pPr algn="r" fontAlgn="b">
                        <a:buNone/>
                      </a:pPr>
                      <a:r>
                        <a:rPr lang="en-US" sz="1200" b="0" i="0" u="none" strike="noStrike">
                          <a:solidFill>
                            <a:srgbClr val="000000"/>
                          </a:solidFill>
                          <a:effectLst/>
                          <a:latin typeface="Aptos Narrow" panose="020B0004020202020204" pitchFamily="34" charset="0"/>
                        </a:rPr>
                        <a:t>0.93571429</a:t>
                      </a:r>
                    </a:p>
                  </a:txBody>
                  <a:tcPr marL="9525" marR="9525" marT="9525" marB="0" anchor="b">
                    <a:lnL>
                      <a:noFill/>
                    </a:lnL>
                    <a:lnR>
                      <a:noFill/>
                    </a:lnR>
                    <a:lnT>
                      <a:noFill/>
                    </a:lnT>
                    <a:lnB>
                      <a:noFill/>
                    </a:lnB>
                    <a:noFill/>
                  </a:tcPr>
                </a:tc>
                <a:tc>
                  <a:txBody>
                    <a:bodyPr/>
                    <a:lstStyle/>
                    <a:p>
                      <a:pPr algn="r" fontAlgn="b">
                        <a:buNone/>
                      </a:pPr>
                      <a:r>
                        <a:rPr lang="en-US" sz="1200" b="0" i="0" u="none" strike="noStrike" dirty="0">
                          <a:solidFill>
                            <a:srgbClr val="000000"/>
                          </a:solidFill>
                          <a:effectLst/>
                          <a:latin typeface="Aptos Narrow" panose="020B0004020202020204" pitchFamily="34" charset="0"/>
                        </a:rPr>
                        <a:t>0.33948478</a:t>
                      </a:r>
                    </a:p>
                  </a:txBody>
                  <a:tcPr marL="9525" marR="9525" marT="9525" marB="0" anchor="b">
                    <a:lnL>
                      <a:noFill/>
                    </a:lnL>
                    <a:lnR>
                      <a:noFill/>
                    </a:lnR>
                    <a:lnT>
                      <a:noFill/>
                    </a:lnT>
                    <a:lnB>
                      <a:noFill/>
                    </a:lnB>
                    <a:noFill/>
                  </a:tcPr>
                </a:tc>
                <a:tc>
                  <a:txBody>
                    <a:bodyPr/>
                    <a:lstStyle/>
                    <a:p>
                      <a:pPr algn="r" fontAlgn="b">
                        <a:buNone/>
                      </a:pPr>
                      <a:r>
                        <a:rPr lang="en-US" sz="1200" b="0" i="0" u="none" strike="noStrike">
                          <a:solidFill>
                            <a:srgbClr val="000000"/>
                          </a:solidFill>
                          <a:effectLst/>
                          <a:latin typeface="Aptos Narrow" panose="020B0004020202020204" pitchFamily="34" charset="0"/>
                        </a:rPr>
                        <a:t>33.9484784</a:t>
                      </a:r>
                    </a:p>
                  </a:txBody>
                  <a:tcPr marL="9525" marR="9525" marT="9525" marB="0" anchor="b">
                    <a:lnL>
                      <a:noFill/>
                    </a:lnL>
                    <a:lnR>
                      <a:noFill/>
                    </a:lnR>
                    <a:lnT>
                      <a:noFill/>
                    </a:lnT>
                    <a:lnB>
                      <a:noFill/>
                    </a:lnB>
                    <a:noFill/>
                  </a:tcPr>
                </a:tc>
                <a:extLst>
                  <a:ext uri="{0D108BD9-81ED-4DB2-BD59-A6C34878D82A}">
                    <a16:rowId xmlns:a16="http://schemas.microsoft.com/office/drawing/2014/main" val="3712623108"/>
                  </a:ext>
                </a:extLst>
              </a:tr>
              <a:tr h="203200">
                <a:tc>
                  <a:txBody>
                    <a:bodyPr/>
                    <a:lstStyle/>
                    <a:p>
                      <a:pPr algn="l" fontAlgn="b">
                        <a:buNone/>
                      </a:pPr>
                      <a:r>
                        <a:rPr lang="en-US" sz="1200" b="0" i="0" u="none" strike="noStrike">
                          <a:solidFill>
                            <a:srgbClr val="000000"/>
                          </a:solidFill>
                          <a:effectLst/>
                          <a:latin typeface="Aptos Narrow" panose="020B0004020202020204" pitchFamily="34" charset="0"/>
                        </a:rPr>
                        <a:t>LASSO</a:t>
                      </a:r>
                    </a:p>
                  </a:txBody>
                  <a:tcPr marL="9525" marR="9525" marT="9525" marB="0" anchor="b">
                    <a:lnL>
                      <a:noFill/>
                    </a:lnL>
                    <a:lnR>
                      <a:noFill/>
                    </a:lnR>
                    <a:lnT>
                      <a:noFill/>
                    </a:lnT>
                    <a:lnB>
                      <a:noFill/>
                    </a:lnB>
                    <a:noFill/>
                  </a:tcPr>
                </a:tc>
                <a:tc>
                  <a:txBody>
                    <a:bodyPr/>
                    <a:lstStyle/>
                    <a:p>
                      <a:pPr algn="r" fontAlgn="b">
                        <a:buNone/>
                      </a:pPr>
                      <a:r>
                        <a:rPr lang="en-US" sz="1200" b="0" i="0" u="none" strike="noStrike">
                          <a:solidFill>
                            <a:srgbClr val="000000"/>
                          </a:solidFill>
                          <a:effectLst/>
                          <a:latin typeface="Aptos Narrow" panose="020B0004020202020204" pitchFamily="34" charset="0"/>
                        </a:rPr>
                        <a:t>0.86213333</a:t>
                      </a:r>
                    </a:p>
                  </a:txBody>
                  <a:tcPr marL="9525" marR="9525" marT="9525" marB="0" anchor="b">
                    <a:lnL>
                      <a:noFill/>
                    </a:lnL>
                    <a:lnR>
                      <a:noFill/>
                    </a:lnR>
                    <a:lnT>
                      <a:noFill/>
                    </a:lnT>
                    <a:lnB>
                      <a:noFill/>
                    </a:lnB>
                    <a:noFill/>
                  </a:tcPr>
                </a:tc>
                <a:tc>
                  <a:txBody>
                    <a:bodyPr/>
                    <a:lstStyle/>
                    <a:p>
                      <a:pPr algn="r" fontAlgn="b">
                        <a:buNone/>
                      </a:pPr>
                      <a:r>
                        <a:rPr lang="en-US" sz="1200" b="0" i="0" u="none" strike="noStrike">
                          <a:solidFill>
                            <a:srgbClr val="000000"/>
                          </a:solidFill>
                          <a:effectLst/>
                          <a:latin typeface="Aptos Narrow" panose="020B0004020202020204" pitchFamily="34" charset="0"/>
                        </a:rPr>
                        <a:t>0.92142857</a:t>
                      </a:r>
                    </a:p>
                  </a:txBody>
                  <a:tcPr marL="9525" marR="9525" marT="9525" marB="0" anchor="b">
                    <a:lnL>
                      <a:noFill/>
                    </a:lnL>
                    <a:lnR>
                      <a:noFill/>
                    </a:lnR>
                    <a:lnT>
                      <a:noFill/>
                    </a:lnT>
                    <a:lnB>
                      <a:noFill/>
                    </a:lnB>
                    <a:noFill/>
                  </a:tcPr>
                </a:tc>
                <a:tc>
                  <a:txBody>
                    <a:bodyPr/>
                    <a:lstStyle/>
                    <a:p>
                      <a:pPr algn="r" fontAlgn="b">
                        <a:buNone/>
                      </a:pPr>
                      <a:r>
                        <a:rPr lang="en-US" sz="1200" b="0" i="0" u="none" strike="noStrike">
                          <a:solidFill>
                            <a:srgbClr val="000000"/>
                          </a:solidFill>
                          <a:effectLst/>
                          <a:latin typeface="Aptos Narrow" panose="020B0004020202020204" pitchFamily="34" charset="0"/>
                        </a:rPr>
                        <a:t>-0.1964368</a:t>
                      </a:r>
                    </a:p>
                  </a:txBody>
                  <a:tcPr marL="9525" marR="9525" marT="9525" marB="0" anchor="b">
                    <a:lnL>
                      <a:noFill/>
                    </a:lnL>
                    <a:lnR>
                      <a:noFill/>
                    </a:lnR>
                    <a:lnT>
                      <a:noFill/>
                    </a:lnT>
                    <a:lnB>
                      <a:noFill/>
                    </a:lnB>
                    <a:noFill/>
                  </a:tcPr>
                </a:tc>
                <a:tc>
                  <a:txBody>
                    <a:bodyPr/>
                    <a:lstStyle/>
                    <a:p>
                      <a:pPr algn="r" fontAlgn="b">
                        <a:buNone/>
                      </a:pPr>
                      <a:r>
                        <a:rPr lang="en-US" sz="1200" b="0" i="0" u="none" strike="noStrike" dirty="0">
                          <a:solidFill>
                            <a:srgbClr val="000000"/>
                          </a:solidFill>
                          <a:effectLst/>
                          <a:latin typeface="Aptos Narrow" panose="020B0004020202020204" pitchFamily="34" charset="0"/>
                        </a:rPr>
                        <a:t>-19.643683</a:t>
                      </a:r>
                    </a:p>
                  </a:txBody>
                  <a:tcPr marL="9525" marR="9525" marT="9525" marB="0" anchor="b">
                    <a:lnL>
                      <a:noFill/>
                    </a:lnL>
                    <a:lnR>
                      <a:noFill/>
                    </a:lnR>
                    <a:lnT>
                      <a:noFill/>
                    </a:lnT>
                    <a:lnB>
                      <a:noFill/>
                    </a:lnB>
                    <a:noFill/>
                  </a:tcPr>
                </a:tc>
                <a:extLst>
                  <a:ext uri="{0D108BD9-81ED-4DB2-BD59-A6C34878D82A}">
                    <a16:rowId xmlns:a16="http://schemas.microsoft.com/office/drawing/2014/main" val="603478089"/>
                  </a:ext>
                </a:extLst>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453D04-2E42-5A19-0995-82F4A0B9189A}"/>
              </a:ext>
            </a:extLst>
          </p:cNvPr>
          <p:cNvSpPr>
            <a:spLocks noGrp="1"/>
          </p:cNvSpPr>
          <p:nvPr>
            <p:ph type="title"/>
          </p:nvPr>
        </p:nvSpPr>
        <p:spPr/>
        <p:txBody>
          <a:bodyPr/>
          <a:lstStyle/>
          <a:p>
            <a:r>
              <a:rPr lang="en-US" dirty="0" err="1"/>
              <a:t>Github</a:t>
            </a:r>
            <a:r>
              <a:rPr lang="en-US" dirty="0"/>
              <a:t> repository</a:t>
            </a:r>
          </a:p>
        </p:txBody>
      </p:sp>
      <p:sp>
        <p:nvSpPr>
          <p:cNvPr id="4" name="TextBox 3">
            <a:extLst>
              <a:ext uri="{FF2B5EF4-FFF2-40B4-BE49-F238E27FC236}">
                <a16:creationId xmlns:a16="http://schemas.microsoft.com/office/drawing/2014/main" id="{61B1238E-B576-48CF-925D-80044FEE3C34}"/>
              </a:ext>
            </a:extLst>
          </p:cNvPr>
          <p:cNvSpPr txBox="1"/>
          <p:nvPr/>
        </p:nvSpPr>
        <p:spPr>
          <a:xfrm>
            <a:off x="2286000" y="2413338"/>
            <a:ext cx="4572000" cy="2031325"/>
          </a:xfrm>
          <a:prstGeom prst="rect">
            <a:avLst/>
          </a:prstGeom>
          <a:noFill/>
        </p:spPr>
        <p:txBody>
          <a:bodyPr wrap="square">
            <a:spAutoFit/>
          </a:bodyPr>
          <a:lstStyle/>
          <a:p>
            <a:pPr>
              <a:buNone/>
            </a:pPr>
            <a:r>
              <a:rPr lang="en-US" dirty="0"/>
              <a:t>The GitHub repository contains:</a:t>
            </a:r>
          </a:p>
          <a:p>
            <a:pPr>
              <a:buFont typeface="Arial" panose="020B0604020202020204" pitchFamily="34" charset="0"/>
              <a:buChar char="•"/>
            </a:pPr>
            <a:r>
              <a:rPr lang="en-US" dirty="0"/>
              <a:t>Python scripts,</a:t>
            </a:r>
          </a:p>
          <a:p>
            <a:pPr>
              <a:buFont typeface="Arial" panose="020B0604020202020204" pitchFamily="34" charset="0"/>
              <a:buChar char="•"/>
            </a:pPr>
            <a:r>
              <a:rPr lang="en-US" dirty="0"/>
              <a:t>CSV outputs,</a:t>
            </a:r>
          </a:p>
          <a:p>
            <a:pPr>
              <a:buFont typeface="Arial" panose="020B0604020202020204" pitchFamily="34" charset="0"/>
              <a:buChar char="•"/>
            </a:pPr>
            <a:r>
              <a:rPr lang="en-US" dirty="0"/>
              <a:t>charts,</a:t>
            </a:r>
          </a:p>
          <a:p>
            <a:pPr>
              <a:buFont typeface="Arial" panose="020B0604020202020204" pitchFamily="34" charset="0"/>
              <a:buChar char="•"/>
            </a:pPr>
            <a:r>
              <a:rPr lang="en-US" dirty="0"/>
              <a:t>network visualizations,</a:t>
            </a:r>
          </a:p>
          <a:p>
            <a:pPr>
              <a:buFont typeface="Arial" panose="020B0604020202020204" pitchFamily="34" charset="0"/>
              <a:buChar char="•"/>
            </a:pPr>
            <a:r>
              <a:rPr lang="en-US" dirty="0"/>
              <a:t>the final report,</a:t>
            </a:r>
          </a:p>
          <a:p>
            <a:pPr>
              <a:buFont typeface="Arial" panose="020B0604020202020204" pitchFamily="34" charset="0"/>
              <a:buChar char="•"/>
            </a:pPr>
            <a:r>
              <a:rPr lang="en-US" dirty="0"/>
              <a:t>and the PowerPoint presentation.</a:t>
            </a:r>
          </a:p>
        </p:txBody>
      </p:sp>
    </p:spTree>
    <p:extLst>
      <p:ext uri="{BB962C8B-B14F-4D97-AF65-F5344CB8AC3E}">
        <p14:creationId xmlns:p14="http://schemas.microsoft.com/office/powerpoint/2010/main" val="48058023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06B07F-5F8F-A6C0-5960-3551E8A33312}"/>
              </a:ext>
            </a:extLst>
          </p:cNvPr>
          <p:cNvSpPr>
            <a:spLocks noGrp="1"/>
          </p:cNvSpPr>
          <p:nvPr>
            <p:ph type="title"/>
          </p:nvPr>
        </p:nvSpPr>
        <p:spPr/>
        <p:txBody>
          <a:bodyPr/>
          <a:lstStyle/>
          <a:p>
            <a:r>
              <a:rPr lang="en-US" dirty="0"/>
              <a:t>Python Code execution</a:t>
            </a:r>
          </a:p>
        </p:txBody>
      </p:sp>
      <p:sp>
        <p:nvSpPr>
          <p:cNvPr id="6" name="TextBox 5">
            <a:extLst>
              <a:ext uri="{FF2B5EF4-FFF2-40B4-BE49-F238E27FC236}">
                <a16:creationId xmlns:a16="http://schemas.microsoft.com/office/drawing/2014/main" id="{575D3835-EE1C-1351-B1BF-36D56AF6718C}"/>
              </a:ext>
            </a:extLst>
          </p:cNvPr>
          <p:cNvSpPr txBox="1"/>
          <p:nvPr/>
        </p:nvSpPr>
        <p:spPr>
          <a:xfrm>
            <a:off x="119576" y="2632225"/>
            <a:ext cx="4572000" cy="2585323"/>
          </a:xfrm>
          <a:prstGeom prst="rect">
            <a:avLst/>
          </a:prstGeom>
          <a:noFill/>
        </p:spPr>
        <p:txBody>
          <a:bodyPr wrap="square">
            <a:spAutoFit/>
          </a:bodyPr>
          <a:lstStyle/>
          <a:p>
            <a:r>
              <a:rPr lang="en-US" dirty="0"/>
              <a:t>The Python script:</a:t>
            </a:r>
          </a:p>
          <a:p>
            <a:r>
              <a:rPr lang="en-US" dirty="0"/>
              <a:t>• loads and cleans data,</a:t>
            </a:r>
          </a:p>
          <a:p>
            <a:r>
              <a:rPr lang="en-US" dirty="0"/>
              <a:t>• assigns temporal tiers,</a:t>
            </a:r>
          </a:p>
          <a:p>
            <a:r>
              <a:rPr lang="en-US" dirty="0"/>
              <a:t>• calculates pairwise associations,</a:t>
            </a:r>
          </a:p>
          <a:p>
            <a:r>
              <a:rPr lang="en-US" dirty="0"/>
              <a:t>• performs repeated LASSO regressions,</a:t>
            </a:r>
          </a:p>
          <a:p>
            <a:r>
              <a:rPr lang="en-US" dirty="0"/>
              <a:t>• identifies direct predictors,</a:t>
            </a:r>
          </a:p>
          <a:p>
            <a:r>
              <a:rPr lang="en-US" dirty="0"/>
              <a:t>• builds Markov blanket networks,</a:t>
            </a:r>
          </a:p>
          <a:p>
            <a:r>
              <a:rPr lang="en-US" dirty="0"/>
              <a:t>• generates DEMI probability predictions,</a:t>
            </a:r>
          </a:p>
          <a:p>
            <a:r>
              <a:rPr lang="en-US" dirty="0"/>
              <a:t>• and creates visualizations.</a:t>
            </a:r>
          </a:p>
        </p:txBody>
      </p:sp>
    </p:spTree>
    <p:extLst>
      <p:ext uri="{BB962C8B-B14F-4D97-AF65-F5344CB8AC3E}">
        <p14:creationId xmlns:p14="http://schemas.microsoft.com/office/powerpoint/2010/main" val="177745746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673352" y="964692"/>
            <a:ext cx="5797296" cy="1188720"/>
          </a:xfrm>
        </p:spPr>
        <p:txBody>
          <a:bodyPr vert="horz" lIns="182880" tIns="182880" rIns="182880" bIns="182880" rtlCol="0" anchor="ctr">
            <a:normAutofit/>
          </a:bodyPr>
          <a:lstStyle/>
          <a:p>
            <a:r>
              <a:rPr lang="en-US" sz="2800"/>
              <a:t>Healthcare impact</a:t>
            </a:r>
          </a:p>
        </p:txBody>
      </p:sp>
      <p:graphicFrame>
        <p:nvGraphicFramePr>
          <p:cNvPr id="9" name="TextBox 5">
            <a:extLst>
              <a:ext uri="{FF2B5EF4-FFF2-40B4-BE49-F238E27FC236}">
                <a16:creationId xmlns:a16="http://schemas.microsoft.com/office/drawing/2014/main" id="{61C60A1D-09C8-ECDB-CD24-4175C23CC16F}"/>
              </a:ext>
            </a:extLst>
          </p:cNvPr>
          <p:cNvGraphicFramePr/>
          <p:nvPr>
            <p:extLst>
              <p:ext uri="{D42A27DB-BD31-4B8C-83A1-F6EECF244321}">
                <p14:modId xmlns:p14="http://schemas.microsoft.com/office/powerpoint/2010/main" val="3457151098"/>
              </p:ext>
            </p:extLst>
          </p:nvPr>
        </p:nvGraphicFramePr>
        <p:xfrm>
          <a:off x="-218230" y="2638424"/>
          <a:ext cx="9362230" cy="369203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31" name="Rectangle 30">
            <a:extLst>
              <a:ext uri="{FF2B5EF4-FFF2-40B4-BE49-F238E27FC236}">
                <a16:creationId xmlns:a16="http://schemas.microsoft.com/office/drawing/2014/main" id="{23530FE0-C542-45A1-BCD8-935787009C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2513" y="640080"/>
            <a:ext cx="6693018" cy="5200996"/>
          </a:xfrm>
          <a:prstGeom prst="rect">
            <a:avLst/>
          </a:prstGeom>
          <a:noFill/>
          <a:ln w="31750" cap="sq">
            <a:solidFill>
              <a:srgbClr val="FFFFFF"/>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3" name="Rectangle 32">
            <a:extLst>
              <a:ext uri="{FF2B5EF4-FFF2-40B4-BE49-F238E27FC236}">
                <a16:creationId xmlns:a16="http://schemas.microsoft.com/office/drawing/2014/main" id="{F2A658D9-F185-44F1-BA33-D50320D1D0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22907" y="825096"/>
            <a:ext cx="6412230" cy="4830965"/>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Oval 34">
            <a:extLst>
              <a:ext uri="{FF2B5EF4-FFF2-40B4-BE49-F238E27FC236}">
                <a16:creationId xmlns:a16="http://schemas.microsoft.com/office/drawing/2014/main" id="{BAC87F6E-526A-49B5-995D-42DB656594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82538" y="1443035"/>
            <a:ext cx="2978949" cy="3971930"/>
          </a:xfrm>
          <a:prstGeom prst="ellipse">
            <a:avLst/>
          </a:prstGeom>
          <a:solidFill>
            <a:srgbClr val="FFFFFF"/>
          </a:solidFill>
          <a:ln w="317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5790126" y="1586484"/>
            <a:ext cx="2763774" cy="3685032"/>
          </a:xfrm>
          <a:prstGeom prst="ellipse">
            <a:avLst/>
          </a:prstGeom>
          <a:solidFill>
            <a:schemeClr val="accent2"/>
          </a:solidFill>
          <a:ln>
            <a:noFill/>
          </a:ln>
        </p:spPr>
        <p:txBody>
          <a:bodyPr vert="horz" lIns="182880" tIns="182880" rIns="182880" bIns="182880" rtlCol="0" anchor="ctr">
            <a:normAutofit/>
          </a:bodyPr>
          <a:lstStyle/>
          <a:p>
            <a:r>
              <a:rPr lang="en-US" sz="1600">
                <a:solidFill>
                  <a:srgbClr val="FFFFFF"/>
                </a:solidFill>
              </a:rPr>
              <a:t>Limitations</a:t>
            </a:r>
          </a:p>
        </p:txBody>
      </p:sp>
      <p:sp>
        <p:nvSpPr>
          <p:cNvPr id="17" name="TextBox 16">
            <a:extLst>
              <a:ext uri="{FF2B5EF4-FFF2-40B4-BE49-F238E27FC236}">
                <a16:creationId xmlns:a16="http://schemas.microsoft.com/office/drawing/2014/main" id="{3B619C23-2D4C-186A-1CB7-F70F30A64F36}"/>
              </a:ext>
            </a:extLst>
          </p:cNvPr>
          <p:cNvSpPr txBox="1"/>
          <p:nvPr/>
        </p:nvSpPr>
        <p:spPr>
          <a:xfrm>
            <a:off x="987738" y="1283546"/>
            <a:ext cx="4286937" cy="3914063"/>
          </a:xfrm>
          <a:prstGeom prst="rect">
            <a:avLst/>
          </a:prstGeom>
        </p:spPr>
        <p:txBody>
          <a:bodyPr vert="horz" lIns="91440" tIns="45720" rIns="91440" bIns="45720" rtlCol="0" anchor="ctr">
            <a:normAutofit/>
          </a:bodyPr>
          <a:lstStyle/>
          <a:p>
            <a:pPr indent="-228600" defTabSz="914400">
              <a:lnSpc>
                <a:spcPct val="90000"/>
              </a:lnSpc>
              <a:spcBef>
                <a:spcPts val="1000"/>
              </a:spcBef>
              <a:buClr>
                <a:schemeClr val="accent2"/>
              </a:buClr>
              <a:buFont typeface="Arial" panose="020B0604020202020204" pitchFamily="34" charset="0"/>
              <a:buChar char="•"/>
            </a:pPr>
            <a:r>
              <a:rPr lang="en-US">
                <a:solidFill>
                  <a:srgbClr val="404040"/>
                </a:solidFill>
              </a:rPr>
              <a:t>This system still had several limitations:</a:t>
            </a:r>
          </a:p>
          <a:p>
            <a:pPr indent="-228600" defTabSz="914400">
              <a:lnSpc>
                <a:spcPct val="90000"/>
              </a:lnSpc>
              <a:spcBef>
                <a:spcPts val="1000"/>
              </a:spcBef>
              <a:buClr>
                <a:schemeClr val="accent2"/>
              </a:buClr>
              <a:buFont typeface="Arial" panose="020B0604020202020204" pitchFamily="34" charset="0"/>
              <a:buChar char="•"/>
            </a:pPr>
            <a:r>
              <a:rPr lang="en-US">
                <a:solidFill>
                  <a:srgbClr val="404040"/>
                </a:solidFill>
              </a:rPr>
              <a:t>*It missed about 40% of positive cases. </a:t>
            </a:r>
          </a:p>
          <a:p>
            <a:pPr indent="-228600" defTabSz="914400">
              <a:lnSpc>
                <a:spcPct val="90000"/>
              </a:lnSpc>
              <a:spcBef>
                <a:spcPts val="1000"/>
              </a:spcBef>
              <a:buClr>
                <a:schemeClr val="accent2"/>
              </a:buClr>
              <a:buFont typeface="Arial" panose="020B0604020202020204" pitchFamily="34" charset="0"/>
              <a:buChar char="•"/>
            </a:pPr>
            <a:r>
              <a:rPr lang="en-US">
                <a:solidFill>
                  <a:srgbClr val="404040"/>
                </a:solidFill>
              </a:rPr>
              <a:t>*The number of positive cases in the dataset was relatively small. </a:t>
            </a:r>
          </a:p>
          <a:p>
            <a:pPr indent="-228600" defTabSz="914400">
              <a:lnSpc>
                <a:spcPct val="90000"/>
              </a:lnSpc>
              <a:spcBef>
                <a:spcPts val="1000"/>
              </a:spcBef>
              <a:buClr>
                <a:schemeClr val="accent2"/>
              </a:buClr>
              <a:buFont typeface="Arial" panose="020B0604020202020204" pitchFamily="34" charset="0"/>
              <a:buChar char="•"/>
            </a:pPr>
            <a:r>
              <a:rPr lang="en-US">
                <a:solidFill>
                  <a:srgbClr val="404040"/>
                </a:solidFill>
              </a:rPr>
              <a:t>*Symptoms were self-reported. </a:t>
            </a:r>
          </a:p>
          <a:p>
            <a:pPr indent="-228600" defTabSz="914400">
              <a:lnSpc>
                <a:spcPct val="90000"/>
              </a:lnSpc>
              <a:spcBef>
                <a:spcPts val="1000"/>
              </a:spcBef>
              <a:buClr>
                <a:schemeClr val="accent2"/>
              </a:buClr>
              <a:buFont typeface="Arial" panose="020B0604020202020204" pitchFamily="34" charset="0"/>
              <a:buChar char="•"/>
            </a:pPr>
            <a:r>
              <a:rPr lang="en-US">
                <a:solidFill>
                  <a:srgbClr val="404040"/>
                </a:solidFill>
              </a:rPr>
              <a:t>*The data came from 2021 before newer variants like Omicron. </a:t>
            </a:r>
          </a:p>
          <a:p>
            <a:pPr indent="-228600" defTabSz="914400">
              <a:lnSpc>
                <a:spcPct val="90000"/>
              </a:lnSpc>
              <a:spcBef>
                <a:spcPts val="1000"/>
              </a:spcBef>
              <a:buClr>
                <a:schemeClr val="accent2"/>
              </a:buClr>
              <a:buFont typeface="Arial" panose="020B0604020202020204" pitchFamily="34" charset="0"/>
              <a:buChar char="•"/>
            </a:pPr>
            <a:r>
              <a:rPr lang="en-US">
                <a:solidFill>
                  <a:srgbClr val="404040"/>
                </a:solidFill>
              </a:rPr>
              <a:t>*The model has not been tested widely in other populations. </a:t>
            </a:r>
          </a:p>
          <a:p>
            <a:pPr indent="-228600" defTabSz="914400">
              <a:lnSpc>
                <a:spcPct val="90000"/>
              </a:lnSpc>
              <a:spcBef>
                <a:spcPts val="1000"/>
              </a:spcBef>
              <a:buClr>
                <a:schemeClr val="accent2"/>
              </a:buClr>
              <a:buFont typeface="Arial" panose="020B0604020202020204" pitchFamily="34" charset="0"/>
              <a:buChar char="•"/>
            </a:pPr>
            <a:r>
              <a:rPr lang="en-US">
                <a:solidFill>
                  <a:srgbClr val="404040"/>
                </a:solidFill>
              </a:rPr>
              <a:t>Because of this, the tool should only be used as a screening aid — not as a final diagnosis.</a:t>
            </a:r>
          </a:p>
          <a:p>
            <a:pPr indent="-228600" defTabSz="914400">
              <a:lnSpc>
                <a:spcPct val="90000"/>
              </a:lnSpc>
              <a:spcBef>
                <a:spcPts val="1000"/>
              </a:spcBef>
              <a:buClr>
                <a:schemeClr val="accent2"/>
              </a:buClr>
              <a:buFont typeface="Arial" panose="020B0604020202020204" pitchFamily="34" charset="0"/>
              <a:buChar char="•"/>
            </a:pPr>
            <a:endParaRPr lang="en-US" dirty="0">
              <a:solidFill>
                <a:srgbClr val="404040"/>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673352" y="964692"/>
            <a:ext cx="5797296" cy="1188720"/>
          </a:xfrm>
        </p:spPr>
        <p:txBody>
          <a:bodyPr vert="horz" lIns="182880" tIns="182880" rIns="182880" bIns="182880" rtlCol="0">
            <a:normAutofit/>
          </a:bodyPr>
          <a:lstStyle/>
          <a:p>
            <a:r>
              <a:rPr lang="en-US"/>
              <a:t>Conclusion</a:t>
            </a:r>
          </a:p>
        </p:txBody>
      </p:sp>
      <p:graphicFrame>
        <p:nvGraphicFramePr>
          <p:cNvPr id="7" name="TextBox 4">
            <a:extLst>
              <a:ext uri="{FF2B5EF4-FFF2-40B4-BE49-F238E27FC236}">
                <a16:creationId xmlns:a16="http://schemas.microsoft.com/office/drawing/2014/main" id="{5A541D85-3A8E-4DD3-6371-48E0E546AD30}"/>
              </a:ext>
            </a:extLst>
          </p:cNvPr>
          <p:cNvGraphicFramePr/>
          <p:nvPr>
            <p:extLst>
              <p:ext uri="{D42A27DB-BD31-4B8C-83A1-F6EECF244321}">
                <p14:modId xmlns:p14="http://schemas.microsoft.com/office/powerpoint/2010/main" val="1233563310"/>
              </p:ext>
            </p:extLst>
          </p:nvPr>
        </p:nvGraphicFramePr>
        <p:xfrm>
          <a:off x="355119" y="2588455"/>
          <a:ext cx="8433762" cy="384047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804012-3BF2-9EF3-5035-970BC4F0D9D8}"/>
              </a:ext>
            </a:extLst>
          </p:cNvPr>
          <p:cNvSpPr>
            <a:spLocks noGrp="1"/>
          </p:cNvSpPr>
          <p:nvPr>
            <p:ph type="title"/>
          </p:nvPr>
        </p:nvSpPr>
        <p:spPr>
          <a:xfrm>
            <a:off x="1631256" y="500460"/>
            <a:ext cx="5937755" cy="1188720"/>
          </a:xfrm>
        </p:spPr>
        <p:txBody>
          <a:bodyPr/>
          <a:lstStyle/>
          <a:p>
            <a:r>
              <a:rPr lang="en-US" dirty="0"/>
              <a:t>references</a:t>
            </a:r>
          </a:p>
        </p:txBody>
      </p:sp>
      <p:sp>
        <p:nvSpPr>
          <p:cNvPr id="4" name="TextBox 3">
            <a:extLst>
              <a:ext uri="{FF2B5EF4-FFF2-40B4-BE49-F238E27FC236}">
                <a16:creationId xmlns:a16="http://schemas.microsoft.com/office/drawing/2014/main" id="{8860EF07-D7D8-CBCE-DA50-28C9004AB9D2}"/>
              </a:ext>
            </a:extLst>
          </p:cNvPr>
          <p:cNvSpPr txBox="1"/>
          <p:nvPr/>
        </p:nvSpPr>
        <p:spPr>
          <a:xfrm>
            <a:off x="49237" y="2087463"/>
            <a:ext cx="9045525" cy="4524315"/>
          </a:xfrm>
          <a:prstGeom prst="rect">
            <a:avLst/>
          </a:prstGeom>
          <a:noFill/>
        </p:spPr>
        <p:txBody>
          <a:bodyPr wrap="square" rtlCol="0">
            <a:spAutoFit/>
          </a:bodyPr>
          <a:lstStyle/>
          <a:p>
            <a:r>
              <a:rPr lang="en-US" sz="1600" dirty="0"/>
              <a:t>Alemi, F., et al. (2020). DEMI methodology and probabilistic reasoning approaches in healthcare prediction and symptom progression modeling.</a:t>
            </a:r>
          </a:p>
          <a:p>
            <a:r>
              <a:rPr lang="en-US" sz="1600" dirty="0"/>
              <a:t>Centers for Disease Control and Prevention (CDC). (2021). COVID-19 pandemic data and prevalence estimates. https://</a:t>
            </a:r>
            <a:r>
              <a:rPr lang="en-US" sz="1600" dirty="0" err="1"/>
              <a:t>www.cdc.gov</a:t>
            </a:r>
            <a:r>
              <a:rPr lang="en-US" sz="1600" dirty="0"/>
              <a:t>/covid/</a:t>
            </a:r>
          </a:p>
          <a:p>
            <a:r>
              <a:rPr lang="en-US" sz="1600" dirty="0"/>
              <a:t>Chen, T., &amp; </a:t>
            </a:r>
            <a:r>
              <a:rPr lang="en-US" sz="1600" dirty="0" err="1"/>
              <a:t>Guestrin</a:t>
            </a:r>
            <a:r>
              <a:rPr lang="en-US" sz="1600" dirty="0"/>
              <a:t>, C. (2016). </a:t>
            </a:r>
            <a:r>
              <a:rPr lang="en-US" sz="1600" dirty="0" err="1"/>
              <a:t>XGBoost</a:t>
            </a:r>
            <a:r>
              <a:rPr lang="en-US" sz="1600" dirty="0"/>
              <a:t>: A scalable tree boosting system. Proceedings of the 22nd ACM SIGKDD International Conference on Knowledge Discovery and Data Mining, 785–794.</a:t>
            </a:r>
          </a:p>
          <a:p>
            <a:r>
              <a:rPr lang="en-US" sz="1600" dirty="0"/>
              <a:t>Friedman, J., Hastie, T., &amp; </a:t>
            </a:r>
            <a:r>
              <a:rPr lang="en-US" sz="1600" dirty="0" err="1"/>
              <a:t>Tibshirani</a:t>
            </a:r>
            <a:r>
              <a:rPr lang="en-US" sz="1600" dirty="0"/>
              <a:t>, R. (2010). Regularization paths for generalized linear models via coordinate descent. Journal of Statistical Software, 33(1), 1–22.</a:t>
            </a:r>
          </a:p>
          <a:p>
            <a:r>
              <a:rPr lang="en-US" sz="1600" dirty="0"/>
              <a:t>MIT COVID-CARE Phase II Dataset. (2021). COVID-CARE study dataset used for symptom progression and PCR-confirmed COVID-19 analysis.</a:t>
            </a:r>
          </a:p>
          <a:p>
            <a:r>
              <a:rPr lang="en-US" sz="1600" dirty="0"/>
              <a:t>Pedregosa, F., et al. (2011). Scikit-learn: Machine learning in Python. Journal of Machine Learning Research, 12, 2825–2830.</a:t>
            </a:r>
          </a:p>
          <a:p>
            <a:r>
              <a:rPr lang="en-US" sz="1600" dirty="0"/>
              <a:t>Pearl, J. (2009). Causality: Models, reasoning, and inference (2nd ed.). Cambridge University Press.</a:t>
            </a:r>
          </a:p>
          <a:p>
            <a:r>
              <a:rPr lang="en-US" sz="1600" dirty="0" err="1"/>
              <a:t>Tibshirani</a:t>
            </a:r>
            <a:r>
              <a:rPr lang="en-US" sz="1600" dirty="0"/>
              <a:t>, R. (1996). Regression shrinkage and selection via the lasso. Journal of the Royal Statistical Society: Series B, 58(1), 267–288.</a:t>
            </a:r>
          </a:p>
          <a:p>
            <a:r>
              <a:rPr lang="en-US" sz="1600" dirty="0"/>
              <a:t>World Health Organization (WHO). (2021). Coronavirus disease (COVID-19) pandemic. https://</a:t>
            </a:r>
            <a:r>
              <a:rPr lang="en-US" sz="1600" dirty="0" err="1"/>
              <a:t>www.who.int</a:t>
            </a:r>
            <a:r>
              <a:rPr lang="en-US" sz="1600" dirty="0"/>
              <a:t>/emergencies/diseases/novel-coronavirus-2019</a:t>
            </a:r>
          </a:p>
          <a:p>
            <a:endParaRPr lang="en-US" sz="1600" dirty="0"/>
          </a:p>
        </p:txBody>
      </p:sp>
    </p:spTree>
    <p:extLst>
      <p:ext uri="{BB962C8B-B14F-4D97-AF65-F5344CB8AC3E}">
        <p14:creationId xmlns:p14="http://schemas.microsoft.com/office/powerpoint/2010/main" val="1561007544"/>
      </p:ext>
    </p:extLst>
  </p:cSld>
  <p:clrMapOvr>
    <a:masterClrMapping/>
  </p:clrMapOvr>
</p:sld>
</file>

<file path=ppt/theme/theme1.xml><?xml version="1.0" encoding="utf-8"?>
<a:theme xmlns:a="http://schemas.openxmlformats.org/drawingml/2006/main" name="Parcel">
  <a:themeElements>
    <a:clrScheme name="Parcel">
      <a:dk1>
        <a:srgbClr val="000000"/>
      </a:dk1>
      <a:lt1>
        <a:sysClr val="window" lastClr="FFFFFF"/>
      </a:lt1>
      <a:dk2>
        <a:srgbClr val="5E5E5E"/>
      </a:dk2>
      <a:lt2>
        <a:srgbClr val="DDDDDD"/>
      </a:lt2>
      <a:accent1>
        <a:srgbClr val="A6B727"/>
      </a:accent1>
      <a:accent2>
        <a:srgbClr val="418AB3"/>
      </a:accent2>
      <a:accent3>
        <a:srgbClr val="F69200"/>
      </a:accent3>
      <a:accent4>
        <a:srgbClr val="838383"/>
      </a:accent4>
      <a:accent5>
        <a:srgbClr val="FEC306"/>
      </a:accent5>
      <a:accent6>
        <a:srgbClr val="DF5327"/>
      </a:accent6>
      <a:hlink>
        <a:srgbClr val="F59E00"/>
      </a:hlink>
      <a:folHlink>
        <a:srgbClr val="B2B2B2"/>
      </a:folHlink>
    </a:clrScheme>
    <a:fontScheme name="Parcel">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Parcel">
      <a:fillStyleLst>
        <a:solidFill>
          <a:schemeClr val="phClr"/>
        </a:solidFill>
        <a:gradFill rotWithShape="1">
          <a:gsLst>
            <a:gs pos="0">
              <a:schemeClr val="phClr">
                <a:tint val="80000"/>
                <a:satMod val="107000"/>
                <a:lumMod val="103000"/>
              </a:schemeClr>
            </a:gs>
            <a:gs pos="100000">
              <a:schemeClr val="phClr">
                <a:tint val="82000"/>
                <a:satMod val="109000"/>
                <a:lumMod val="103000"/>
              </a:schemeClr>
            </a:gs>
          </a:gsLst>
          <a:lin ang="5400000" scaled="0"/>
        </a:gradFill>
        <a:gradFill rotWithShape="1">
          <a:gsLst>
            <a:gs pos="0">
              <a:schemeClr val="phClr">
                <a:tint val="97000"/>
                <a:satMod val="100000"/>
                <a:lumMod val="102000"/>
              </a:schemeClr>
            </a:gs>
            <a:gs pos="50000">
              <a:schemeClr val="phClr">
                <a:shade val="100000"/>
                <a:satMod val="103000"/>
                <a:lumMod val="100000"/>
              </a:schemeClr>
            </a:gs>
            <a:gs pos="100000">
              <a:schemeClr val="phClr">
                <a:shade val="93000"/>
                <a:satMod val="110000"/>
                <a:lumMod val="9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31750" cap="flat" cmpd="sng" algn="ctr">
          <a:solidFill>
            <a:schemeClr val="phClr"/>
          </a:solidFill>
          <a:prstDash val="solid"/>
        </a:ln>
      </a:lnStyleLst>
      <a:effectStyleLst>
        <a:effectStyle>
          <a:effectLst/>
        </a:effectStyle>
        <a:effectStyle>
          <a:effectLst/>
        </a:effectStyle>
        <a:effectStyle>
          <a:effectLst>
            <a:outerShdw blurRad="55880" dist="15240" dir="5400000" algn="ctr" rotWithShape="0">
              <a:srgbClr val="000000">
                <a:alpha val="45000"/>
              </a:srgbClr>
            </a:outerShdw>
          </a:effectLst>
          <a:scene3d>
            <a:camera prst="orthographicFront">
              <a:rot lat="0" lon="0" rev="0"/>
            </a:camera>
            <a:lightRig rig="brightRoom" dir="tl"/>
          </a:scene3d>
          <a:sp3d prstMaterial="dkEdge">
            <a:bevelT w="0" h="0"/>
          </a:sp3d>
        </a:effectStyle>
      </a:effectStyleLst>
      <a:bgFillStyleLst>
        <a:solidFill>
          <a:schemeClr val="phClr"/>
        </a:solidFill>
        <a:solidFill>
          <a:schemeClr val="phClr">
            <a:tint val="95000"/>
            <a:satMod val="170000"/>
          </a:schemeClr>
        </a:solidFill>
        <a:gradFill rotWithShape="1">
          <a:gsLst>
            <a:gs pos="0">
              <a:schemeClr val="phClr">
                <a:tint val="97000"/>
                <a:shade val="100000"/>
                <a:satMod val="185000"/>
                <a:lumMod val="120000"/>
              </a:schemeClr>
            </a:gs>
            <a:gs pos="100000">
              <a:schemeClr val="phClr">
                <a:tint val="96000"/>
                <a:shade val="95000"/>
                <a:satMod val="215000"/>
                <a:lumMod val="80000"/>
              </a:schemeClr>
            </a:gs>
          </a:gsLst>
          <a:path path="circle">
            <a:fillToRect l="50000" t="55000" r="125000" b="100000"/>
          </a:path>
        </a:gradFill>
      </a:bgFillStyleLst>
    </a:fmtScheme>
  </a:themeElements>
  <a:objectDefaults/>
  <a:extraClrSchemeLst/>
  <a:extLst>
    <a:ext uri="{05A4C25C-085E-4340-85A3-A5531E510DB2}">
      <thm15:themeFamily xmlns:thm15="http://schemas.microsoft.com/office/thememl/2012/main" name="Parcel" id="{8BEC4385-4EB9-4D53-BFB5-0EA123736B6D}" vid="{A425FB89-E954-4A2A-81DC-D90804A94DB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Parcel</Template>
  <TotalTime>3919</TotalTime>
  <Words>2039</Words>
  <Application>Microsoft Macintosh PowerPoint</Application>
  <PresentationFormat>On-screen Show (4:3)</PresentationFormat>
  <Paragraphs>334</Paragraphs>
  <Slides>17</Slides>
  <Notes>11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17</vt:i4>
      </vt:variant>
    </vt:vector>
  </HeadingPairs>
  <TitlesOfParts>
    <vt:vector size="21" baseType="lpstr">
      <vt:lpstr>Aptos Narrow</vt:lpstr>
      <vt:lpstr>Arial</vt:lpstr>
      <vt:lpstr>Gill Sans MT</vt:lpstr>
      <vt:lpstr>Parcel</vt:lpstr>
      <vt:lpstr>At-home COVID-19 Prediction using Demi methodology</vt:lpstr>
      <vt:lpstr>Core question</vt:lpstr>
      <vt:lpstr>Dataset</vt:lpstr>
      <vt:lpstr>Study design and methodology</vt:lpstr>
      <vt:lpstr>Temporal ordering</vt:lpstr>
      <vt:lpstr>Pairwise associations results</vt:lpstr>
      <vt:lpstr>Lasso regression</vt:lpstr>
      <vt:lpstr>Markov blanket network</vt:lpstr>
      <vt:lpstr>Network visualization</vt:lpstr>
      <vt:lpstr>DEMI Algorithm predictions</vt:lpstr>
      <vt:lpstr>Model comparison</vt:lpstr>
      <vt:lpstr>Github repository</vt:lpstr>
      <vt:lpstr>Python Code execution</vt:lpstr>
      <vt:lpstr>Healthcare impact</vt:lpstr>
      <vt:lpstr>Limitations</vt:lpstr>
      <vt:lpstr>Conclusion</vt:lpstr>
      <vt:lpstr>references</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Abigail Morton</cp:lastModifiedBy>
  <cp:revision>7</cp:revision>
  <dcterms:created xsi:type="dcterms:W3CDTF">2013-01-27T09:14:16Z</dcterms:created>
  <dcterms:modified xsi:type="dcterms:W3CDTF">2026-05-09T12:34:31Z</dcterms:modified>
  <cp:category/>
</cp:coreProperties>
</file>