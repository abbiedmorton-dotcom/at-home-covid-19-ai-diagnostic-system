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2"/>
  </p:normalViewPr>
  <p:slideViewPr>
    <p:cSldViewPr snapToGrid="0" snapToObjects="1">
      <p:cViewPr varScale="1">
        <p:scale>
          <a:sx n="99" d="100"/>
          <a:sy n="99" d="100"/>
        </p:scale>
        <p:origin x="96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8378AF-2A52-9448-A634-C3446A6FA0E9}" type="datetimeFigureOut">
              <a:rPr lang="en-US" smtClean="0"/>
              <a:t>5/9/26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E9777C-DAA9-494E-88FA-0EB0C7B89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80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9777C-DAA9-494E-88FA-0EB0C7B8971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10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9777C-DAA9-494E-88FA-0EB0C7B8971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62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bbiedmorton-dotcom/At-Home-COVID-19-AI-Diagnostic-System/blob/main/finalproject823.ipynb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finalproject823.ipynb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At-Home COVID-19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27AE60"/>
                </a:solidFill>
                <a:latin typeface="Calibri"/>
              </a:defRPr>
            </a:pPr>
            <a:r>
              <a:t>Using DEMI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657600"/>
            <a:ext cx="45720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Abigail Morton  |  Dr. Abdul Hafeez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7F8C8D"/>
                </a:solidFill>
                <a:latin typeface="Calibri"/>
              </a:defRPr>
            </a:pPr>
            <a:r>
              <a:t>HI 823  |  Spring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Core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1B3A5C"/>
                </a:solidFill>
                <a:latin typeface="Calibri"/>
              </a:defRPr>
            </a:pPr>
            <a:r>
              <a:t>Can we predict COVID-19 using only information available at home — before visiting a clinic or emergency room?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468880"/>
            <a:ext cx="8229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PCR testing is the gold standard but requires clinical visits and time for results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Patients need guidance in the interim: isolate? Seek testing? Monitor symptoms?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Home-observable features: symptoms, demographics, exposure history, at-home rapid tests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DEMI methodology provides interpretable, causally-justified predictions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Unlike black-box ML: DEMI tells you WHY each predictor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Audio 14">
            <a:extLst>
              <a:ext uri="{FF2B5EF4-FFF2-40B4-BE49-F238E27FC236}">
                <a16:creationId xmlns:a16="http://schemas.microsoft.com/office/drawing/2014/main" id="{F6633479-FD44-B655-B217-5096A3E2BDC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360"/>
    </mc:Choice>
    <mc:Fallback>
      <p:transition spd="slow" advTm="513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Dataset: MIT COVID-CARE Phase II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5029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Total participant records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822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PCR-confirmed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559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COVID-positive cases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COVID-negative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501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Baseline prevalence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10.4%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Total variables collected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472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Home-observable features used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B3A5C"/>
                </a:solidFill>
                <a:latin typeface="Calibri"/>
              </a:defRPr>
            </a:pPr>
            <a:r>
              <a:t>Feature Categories (77 Home-Observable)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73736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Demographics &amp; Comorbidities (Tier 0): Age, sex, race, diabetes, hypertension, asthma, etc.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Vaccination &amp; Exposure (Tier 1): Vaccine status, known/suspected exposure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General Symptoms (Tier 2): Fever, chills, fatigue, muscle aches, night sweats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Respiratory Symptoms (Tier 2): Cough, SOB, sore throat, loss of smell, runny nose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GI Symptoms (Tier 2): Nausea, vomiting, diarrhea, abdominal pain, appetite loss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Neurological Symptoms (Tier 2): Headaches, dizziness, memory issues, sleep issues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Inflammatory Symptoms (Tier 2): Rash, eye irritation, swelling, joint pain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At-Home Testing (Tier 3): Rapid antigen test results (positive/negative/inconclusive)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029200"/>
            <a:ext cx="1124712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Audio 14">
            <a:extLst>
              <a:ext uri="{FF2B5EF4-FFF2-40B4-BE49-F238E27FC236}">
                <a16:creationId xmlns:a16="http://schemas.microsoft.com/office/drawing/2014/main" id="{10BCF2A7-F2DF-2887-996F-52D277E128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624"/>
    </mc:Choice>
    <mc:Fallback>
      <p:transition spd="slow" advTm="686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Study Design: DEMI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1B3A5C"/>
                </a:solidFill>
                <a:latin typeface="Calibri"/>
              </a:defRPr>
            </a:pPr>
            <a:r>
              <a:t>Temporal</a:t>
            </a:r>
            <a:br/>
            <a:r>
              <a:t>Ordering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Assign variables to</a:t>
            </a:r>
            <a:br/>
            <a:r>
              <a:t>causal tiers based on</a:t>
            </a:r>
            <a:br/>
            <a:r>
              <a:t>when they occur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188720"/>
            <a:ext cx="256032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8288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1B3A5C"/>
                </a:solidFill>
                <a:latin typeface="Calibri"/>
              </a:defRPr>
            </a:pPr>
            <a:r>
              <a:t>Total</a:t>
            </a:r>
            <a:br/>
            <a:r>
              <a:t>Effects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9260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Pairwise associations</a:t>
            </a:r>
            <a:br/>
            <a:r>
              <a:t>between each feature</a:t>
            </a:r>
            <a:br/>
            <a:r>
              <a:t>and PCR positivity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2560320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1B3A5C"/>
                </a:solidFill>
                <a:latin typeface="Calibri"/>
              </a:defRPr>
            </a:pPr>
            <a:r>
              <a:t>Direct</a:t>
            </a:r>
            <a:br/>
            <a:r>
              <a:t>Effects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260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Repeated LASSO</a:t>
            </a:r>
            <a:br/>
            <a:r>
              <a:t>regressions to isolate</a:t>
            </a:r>
            <a:br/>
            <a:r>
              <a:t>direct predictors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188720"/>
            <a:ext cx="256032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98280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8288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1B3A5C"/>
                </a:solidFill>
                <a:latin typeface="Calibri"/>
              </a:defRPr>
            </a:pPr>
            <a:r>
              <a:t>Probability</a:t>
            </a:r>
            <a:br/>
            <a:r>
              <a:t>Estimation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9260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Bayes' theorem with</a:t>
            </a:r>
            <a:br/>
            <a:r>
              <a:t>Markov blanket to</a:t>
            </a:r>
            <a:br/>
            <a:r>
              <a:t>estimate P(COVID)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112471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B3A5C"/>
                </a:solidFill>
                <a:latin typeface="Calibri"/>
              </a:defRPr>
            </a:pPr>
            <a:r>
              <a:t>Advantages of DEMI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9377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rPr dirty="0"/>
              <a:t>Transparent probability calculations (no black box)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rPr dirty="0"/>
              <a:t>Maintains temporal ordering — prevents reverse causation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rPr dirty="0"/>
              <a:t>Supports causal reasoning — identifies direct vs. mediated effects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rPr dirty="0"/>
              <a:t>Clinically interpretable — each predictor has a clear interpretation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B3A5C"/>
                </a:solidFill>
                <a:latin typeface="Calibri"/>
              </a:defRPr>
            </a:pPr>
            <a:r>
              <a:t>LASSO Thresholds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9377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rPr dirty="0"/>
              <a:t>Coefficient filter: |β| ≤ 0.05 → variable removed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rPr dirty="0"/>
              <a:t>Model quality: McFadden R² &lt; 0.10 → model excluded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rPr dirty="0"/>
              <a:t>Cross-validated: 5-fold stratified CV for all AUC estimates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Audio 57">
            <a:extLst>
              <a:ext uri="{FF2B5EF4-FFF2-40B4-BE49-F238E27FC236}">
                <a16:creationId xmlns:a16="http://schemas.microsoft.com/office/drawing/2014/main" id="{384A8084-1501-72FE-9373-6327FA84F7D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9605"/>
    </mc:Choice>
    <mc:Fallback>
      <p:transition spd="slow" advTm="896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Temporal Ordering: Causal Tier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7F8C8D"/>
                </a:solidFill>
                <a:latin typeface="Calibri"/>
              </a:defRPr>
            </a:pPr>
            <a:r>
              <a:t>Earlier tiers → Later tiers (causation flows forward in time, never backward)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2103120" cy="5486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Tier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468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Demographics &amp;</a:t>
            </a:r>
            <a:br/>
            <a:r>
              <a:t>Comorbidities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918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Age, sex, race, diabetes,</a:t>
            </a:r>
            <a:br/>
            <a:r>
              <a:t>hypertension, asthma,</a:t>
            </a:r>
            <a:br/>
            <a:r>
              <a:t>obesity, immunocompromised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7F8C8D"/>
                </a:solidFill>
                <a:latin typeface="Calibri"/>
              </a:defRPr>
            </a:pPr>
            <a:r>
              <a:t>34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39" y="18288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39" y="1828800"/>
            <a:ext cx="2103120" cy="5486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39" y="2468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Vaccination &amp;</a:t>
            </a:r>
            <a:br/>
            <a:r>
              <a:t>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39" y="32918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Vaccine status, known</a:t>
            </a:r>
            <a:br/>
            <a:r>
              <a:t>exposure, suspected</a:t>
            </a:r>
            <a:br/>
            <a:r>
              <a:t>exposure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7F8C8D"/>
                </a:solidFill>
                <a:latin typeface="Calibri"/>
              </a:defRPr>
            </a:pPr>
            <a:r>
              <a:t>4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18288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59" y="1828800"/>
            <a:ext cx="2103120" cy="5486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2468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Symptoms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32918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Fever, cough, fatigue,</a:t>
            </a:r>
            <a:br/>
            <a:r>
              <a:t>headaches, loss of smell,</a:t>
            </a:r>
            <a:br/>
            <a:r>
              <a:t>GI, neuro, inflammatory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7F8C8D"/>
                </a:solidFill>
                <a:latin typeface="Calibri"/>
              </a:defRPr>
            </a:pPr>
            <a:r>
              <a:t>35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79" y="18288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79" y="1828800"/>
            <a:ext cx="2103120" cy="54864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Tier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9" y="2468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At-Home</a:t>
            </a:r>
            <a:br/>
            <a:r>
              <a:t>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79" y="32918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Rapid antigen test</a:t>
            </a:r>
            <a:br/>
            <a:r>
              <a:t>results: positive,</a:t>
            </a:r>
            <a:br/>
            <a:r>
              <a:t>negative, inconclusive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79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7F8C8D"/>
                </a:solidFill>
                <a:latin typeface="Calibri"/>
              </a:defRPr>
            </a:pPr>
            <a:r>
              <a:t>4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18288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1828800"/>
            <a:ext cx="210312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Tier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468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B3A5C"/>
                </a:solidFill>
                <a:latin typeface="Calibri"/>
              </a:defRPr>
            </a:pPr>
            <a:r>
              <a:t>PCR Outcome</a:t>
            </a:r>
            <a:br/>
            <a:r>
              <a:t>(Target)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2918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2C3E50"/>
                </a:solidFill>
                <a:latin typeface="Calibri"/>
              </a:defRPr>
            </a:pPr>
            <a:r>
              <a:t>PCR-confirmed</a:t>
            </a:r>
            <a:br/>
            <a:r>
              <a:t>COVID-19</a:t>
            </a:r>
            <a:br/>
            <a:r>
              <a:t>positivity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7F8C8D"/>
                </a:solidFill>
                <a:latin typeface="Calibri"/>
              </a:defRPr>
            </a:pPr>
            <a:r>
              <a:t>1 target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212080"/>
            <a:ext cx="11247120" cy="36576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B3A5C"/>
                </a:solidFill>
                <a:latin typeface="Calibri"/>
              </a:defRPr>
            </a:pPr>
            <a:r>
              <a:t>Temporal Ordering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Same-tier pairs: relationship is symmetric (correlational, not causal)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Cross-tier: lower tier always precedes higher tier (causal direction enforced)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Zero co-occurrence counts set from marginals to handle sparse 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Audio 34">
            <a:extLst>
              <a:ext uri="{FF2B5EF4-FFF2-40B4-BE49-F238E27FC236}">
                <a16:creationId xmlns:a16="http://schemas.microsoft.com/office/drawing/2014/main" id="{351F572E-7179-A220-DE5D-97D09D96C48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744"/>
    </mc:Choice>
    <mc:Fallback>
      <p:transition spd="slow" advTm="317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Pairwise Associations: Total Effects</a:t>
            </a:r>
          </a:p>
        </p:txBody>
      </p:sp>
      <p:pic>
        <p:nvPicPr>
          <p:cNvPr id="4" name="Picture 3" descr="pairwise_associa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97280"/>
            <a:ext cx="6858000" cy="5029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0" y="1188720"/>
          <a:ext cx="438911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Symptom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Correlation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Odds Ratio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Memory Issues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0.493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31.44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Sleep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32.43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Muscle Aches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0.432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17.32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AtHome 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0.414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21.70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Chills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0.358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9.44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Fever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0.357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9.90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Abdominal Pain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0.351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10.73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Wheeze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11.55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457200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2C3E50"/>
                </a:solidFill>
                <a:latin typeface="Calibri"/>
              </a:defRPr>
            </a:pPr>
            <a:r>
              <a:t>Total effects include BOTH direct and indirect (mediated) pathways.</a:t>
            </a:r>
            <a:br/>
            <a:br/>
            <a:r>
              <a:t>Example: Muscle Aches (r=0.432) includes effects mediated through fever, fatigue, etc.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Audio 9">
            <a:extLst>
              <a:ext uri="{FF2B5EF4-FFF2-40B4-BE49-F238E27FC236}">
                <a16:creationId xmlns:a16="http://schemas.microsoft.com/office/drawing/2014/main" id="{6D606DBA-F0E6-6591-D6CE-AB7FFB3AEE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4"/>
    </mc:Choice>
    <mc:Fallback>
      <p:transition spd="slow" advTm="6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LASSO Regression: Direct Effects by Temporal Tier</a:t>
            </a:r>
          </a:p>
        </p:txBody>
      </p:sp>
      <p:pic>
        <p:nvPicPr>
          <p:cNvPr id="4" name="Picture 3" descr="lasso_coefficients_by_ti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97280"/>
            <a:ext cx="7315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B3A5C"/>
                </a:solidFill>
                <a:latin typeface="Calibri"/>
              </a:defRPr>
            </a:pPr>
            <a:r>
              <a:t>Key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Tier 0 (Demographics): 18 surviving features, AUC=0.778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Tier 1 (+Exposure): 9 surviving, AUC=0.835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Tier 2 (+Symptoms): 13 surviving, AUC=0.942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Tier 3 (+AtHome Tests): 16 surviving, AUC=0.976 ✓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Only Tier 3 meets McFadden R² ≥ 0.10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Filtering: |coefficient| ≤ 0.05 removed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77 features → 16 direct predictors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Audio 9">
            <a:extLst>
              <a:ext uri="{FF2B5EF4-FFF2-40B4-BE49-F238E27FC236}">
                <a16:creationId xmlns:a16="http://schemas.microsoft.com/office/drawing/2014/main" id="{B330426C-5A3D-5FF6-4778-086018248F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253"/>
    </mc:Choice>
    <mc:Fallback>
      <p:transition spd="slow" advTm="372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Markov Blanket: Direct Predictors of COVID-19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7F8C8D"/>
                </a:solidFill>
                <a:latin typeface="Calibri"/>
              </a:defRPr>
            </a:pPr>
            <a:r>
              <a:t>The smallest set of variables that directly predicts PCR positivity while making all others conditionally independent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55448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Direct Effect (β)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 Effect (r)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Mediated Effect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AtHome Negative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-0.716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-0.371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0.344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Protective (strongest)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Vaccine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-0.545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-0.189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0.356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Protective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Known Exposure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-0.469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-0.225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0.244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Protective*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Memory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+0.464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+0.493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Risk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AtHome Positive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+0.388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+0.414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0.026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Risk factor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Wheeze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+0.381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+0.320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-0.061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Risk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Sleep Issues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+0.252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+0.460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0.208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Risk (67% mediated)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Heart 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+0.234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+0.124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-0.110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Risk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Age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+0.160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+0.171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0.012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Risk factor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Muscle 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+0.141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+0.432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Risk (67% mediated)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Obesity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-0.095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-0.082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0.013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Protective*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7F8C8D"/>
                </a:solidFill>
                <a:latin typeface="Calibri"/>
              </a:defRPr>
            </a:pPr>
            <a:r>
              <a:t>*Counterintuitive signs may reflect ascertainment bias — individuals who enroll after known exposure may be more health-conscious. Mediated effect = Total effect − Direct effect; larger mediation indicates more indirect pathways.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Audio 9">
            <a:extLst>
              <a:ext uri="{FF2B5EF4-FFF2-40B4-BE49-F238E27FC236}">
                <a16:creationId xmlns:a16="http://schemas.microsoft.com/office/drawing/2014/main" id="{5ED317FB-4F5B-4427-0A14-88928780DE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13"/>
    </mc:Choice>
    <mc:Fallback>
      <p:transition spd="slow" advTm="126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Causal Network Visualization</a:t>
            </a:r>
          </a:p>
        </p:txBody>
      </p:sp>
      <p:pic>
        <p:nvPicPr>
          <p:cNvPr id="4" name="Picture 3" descr="demi_causal_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97280"/>
            <a:ext cx="11247120" cy="5303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Audio 7">
            <a:extLst>
              <a:ext uri="{FF2B5EF4-FFF2-40B4-BE49-F238E27FC236}">
                <a16:creationId xmlns:a16="http://schemas.microsoft.com/office/drawing/2014/main" id="{71F6D906-35CB-4750-1287-6BD0BEE05F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01"/>
    </mc:Choice>
    <mc:Fallback>
      <p:transition spd="slow" advTm="19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DEMI Algorithm: Probability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7F8C8D"/>
                </a:solidFill>
                <a:latin typeface="Calibri"/>
              </a:defRPr>
            </a:pPr>
            <a:r>
              <a:t>DEMI uses Bayes' theorem with Markov blanket features to estimate P(COVID | symptoms, exposure, test results)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474720" cy="1645920"/>
          </a:xfrm>
          <a:prstGeom prst="roundRect">
            <a:avLst/>
          </a:prstGeom>
          <a:solidFill>
            <a:srgbClr val="F7F9FC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27AE60"/>
                </a:solidFill>
                <a:latin typeface="Calibri"/>
              </a:defRPr>
            </a:pPr>
            <a:r>
              <a:t>1. Temporal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Verify symptoms and exposure occur</a:t>
            </a:r>
            <a:br/>
            <a:r>
              <a:t>before PCR testing (causal</a:t>
            </a:r>
            <a:br/>
            <a:r>
              <a:t>temporal precedence)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474720" cy="1645920"/>
          </a:xfrm>
          <a:prstGeom prst="roundRect">
            <a:avLst/>
          </a:prstGeom>
          <a:solidFill>
            <a:srgbClr val="F7F9FC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3498DB"/>
                </a:solidFill>
                <a:latin typeface="Calibri"/>
              </a:defRPr>
            </a:pPr>
            <a:r>
              <a:t>2. Total Effects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945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Calculate likelihood ratios from</a:t>
            </a:r>
            <a:br/>
            <a:r>
              <a:t>pairwise correlations with</a:t>
            </a:r>
            <a:br/>
            <a:r>
              <a:t>PCR positivity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474720" cy="1645920"/>
          </a:xfrm>
          <a:prstGeom prst="roundRect">
            <a:avLst/>
          </a:prstGeom>
          <a:solidFill>
            <a:srgbClr val="F7F9FC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39C12"/>
                </a:solidFill>
                <a:latin typeface="Calibri"/>
              </a:defRPr>
            </a:pPr>
            <a:r>
              <a:t>3. Final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Combine multiple signals using</a:t>
            </a:r>
            <a:br/>
            <a:r>
              <a:t>Bayes' theorem:</a:t>
            </a:r>
            <a:br/>
            <a:r>
              <a:t>P(COVID|X) = P(X|COVID)·P(COVID)/P(X)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11247120" cy="36576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B3A5C"/>
                </a:solidFill>
                <a:latin typeface="Calibri"/>
              </a:defRPr>
            </a:pPr>
            <a:r>
              <a:t>Risk Scenario Predictions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4114800"/>
          <a:ext cx="1124712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Risk Level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Profile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P(COVID)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Low (3.3%)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Age 25, no symptoms, no exposure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3.3%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Self-monitor; no immediate action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Moderate (5.5%)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Age 40, fatigue, headaches, suspected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Schedule PCR test; consider isolation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High (&gt;15%)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Age 55, known exposure, multiple symptoms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&gt;15%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Isolate immediately; seek PCR and clinical care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7F8C8D"/>
                </a:solidFill>
                <a:latin typeface="Calibri"/>
              </a:defRPr>
            </a:pPr>
            <a:r>
              <a:t>Baseline prevalence: 10.4% — Low risk is BELOW baseline, High risk is ABOVE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Model Comparison: Standard ML vs. DEMI</a:t>
            </a: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4572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0" y="1188720"/>
          <a:ext cx="45720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# Features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GradientBoosting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DEMI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0.9314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0.9255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LASSO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DEMI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0.9245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Logistic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DEMI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0.9161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0.9131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0.8130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0" y="3931920"/>
            <a:ext cx="45720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7AE60"/>
                </a:solidFill>
                <a:latin typeface="Calibri"/>
              </a:defRPr>
            </a:pPr>
            <a:r>
              <a:t>Key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572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DEMI GradientBoosting (16 features) OUTPERFORMS Standard Gradient Boosting (77 features)</a:t>
            </a:r>
            <a:br/>
            <a:br/>
            <a:r>
              <a:t>• 79.2% feature reduction</a:t>
            </a:r>
            <a:br/>
            <a:r>
              <a:t>• Comparable or superior AUC</a:t>
            </a:r>
            <a:br/>
            <a:r>
              <a:t>• Every feature is causally justified</a:t>
            </a:r>
            <a:br/>
            <a:r>
              <a:t>• Clinically interpretable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GitHub Repository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188720"/>
            <a:ext cx="45720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AE60"/>
                </a:solidFill>
                <a:latin typeface="Calibri"/>
              </a:defRPr>
            </a:pPr>
            <a:r>
              <a:t>Repository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029200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sz="1300" u="sng" dirty="0">
                <a:solidFill>
                  <a:schemeClr val="bg1"/>
                </a:solidFill>
                <a:hlinkClick r:id="rId2" tooltip="finalproject823.ipyn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finalproject823.ipynb</a:t>
            </a:r>
            <a:r>
              <a:rPr dirty="0"/>
              <a:t>— Complete DEMI methodology (run end-to-end)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COVIDCARE_FORSUBMISSION_MIT_CLEANED_Phase_II_2021-12-03_(3).csv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COVIDCARE_DEMI_knowledgebase_v4.csv</a:t>
            </a:r>
            <a:endParaRPr lang="en-US" dirty="0"/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COVIDCARE_survey_dictionary_v2_ForSubmission_MIT_Phase_II_2021-12-26.csv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demi_outputs</a:t>
            </a:r>
            <a:r>
              <a:rPr dirty="0"/>
              <a:t>/ — All charts, tables, and results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FINAL823PROJECT.pptx — This presentation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README.md</a:t>
            </a:r>
            <a:r>
              <a:rPr dirty="0"/>
              <a:t> — Setup and execution instructions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AE60"/>
                </a:solidFill>
                <a:latin typeface="Calibri"/>
              </a:defRPr>
            </a:pPr>
            <a:r>
              <a:t>Quick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git clone [repository-</a:t>
            </a:r>
            <a:r>
              <a:rPr lang="en-US" dirty="0" err="1"/>
              <a:t>url</a:t>
            </a:r>
            <a:r>
              <a:rPr lang="en-US" dirty="0"/>
              <a:t>]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cd covid-demi-prediction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pip install -r </a:t>
            </a:r>
            <a:r>
              <a:rPr dirty="0" err="1"/>
              <a:t>requirements.txt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python </a:t>
            </a:r>
            <a:r>
              <a:rPr dirty="0" err="1"/>
              <a:t>demi_pipeline.py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All outputs saved to: </a:t>
            </a:r>
            <a:r>
              <a:rPr dirty="0" err="1"/>
              <a:t>demi_outputs</a:t>
            </a:r>
            <a:r>
              <a:rPr dirty="0"/>
              <a:t>/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Runtime: ~3 minutes on standard hardware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029200"/>
            <a:ext cx="10515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7F8C8D"/>
                </a:solidFill>
                <a:latin typeface="Calibri"/>
              </a:defRPr>
            </a:pPr>
            <a:r>
              <a:t>Requirements: Python 3.8+ | pandas | numpy | scikit-learn | matplotlib | seaborn | networkx | xgboost | statsmodels | scipy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Python Code: DEMI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7F8C8D"/>
                </a:solidFill>
                <a:latin typeface="Calibri"/>
              </a:defRPr>
            </a:pPr>
            <a:r>
              <a:t>The Python script (demi_pipeline.py) implements the complete DEMI methodology: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944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Step 1: Data Loading &amp; Cleaning — Load CSV, filter PCR results, map 472 columns to 77 features, handle missing data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Step 2: Temporal Tier Assignment — Assign each feature to Tier 0-3 based on causal ordering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Step 3: Pairwise Associations — Point-biserial correlations + odds ratios for each feature vs. PCR positivity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Step 4: Repeated LASSO Regressions — Grid-searched L1-regularized logistic regression across cumulative tiers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Step 5: Markov Blanket Identification — Variables surviving coefficient threshold with McFadden R² quality check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Step 6: DEMI Probability Estimation — Logistic/GradientBoosting/LASSO on Markov blanket + Bayes' theorem scenarios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Step 7: Network Visualization — Causal network graph (NetworkX) with tier-based layout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Step 8: Model Comparison — Standard ML (all features) vs. DEMI (Markov blanket) with 5-fold CV</a:t>
            </a:r>
          </a:p>
        </p:txBody>
      </p:sp>
      <p:sp>
        <p:nvSpPr>
          <p:cNvPr id="6" name="Rectangle 5"/>
          <p:cNvSpPr/>
          <p:nvPr/>
        </p:nvSpPr>
        <p:spPr>
          <a:xfrm>
            <a:off x="399245" y="3799332"/>
            <a:ext cx="11247120" cy="36576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401193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B3A5C"/>
                </a:solidFill>
                <a:latin typeface="Calibri"/>
              </a:defRPr>
            </a:pPr>
            <a:r>
              <a:rPr dirty="0"/>
              <a:t>Generated Output Files (</a:t>
            </a:r>
            <a:r>
              <a:rPr dirty="0" err="1"/>
              <a:t>demi_outputs</a:t>
            </a:r>
            <a:r>
              <a:rPr dirty="0"/>
              <a:t>/)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9890" y="43885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pairwise_associations.csv/.png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lasso_direct_effects.csv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lasso_tier_results.json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markov_blanket.csv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demi_predictions.csv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demi_roc_curves.png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demi_causal_network.png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model_comparison.csv/.png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846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B3A5C"/>
                </a:solidFill>
                <a:latin typeface="Calibri"/>
              </a:defRPr>
            </a:pPr>
            <a:r>
              <a:rPr dirty="0"/>
              <a:t>Execution 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5212080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AE60"/>
                </a:solidFill>
                <a:latin typeface="Courier New"/>
              </a:defRPr>
            </a:pPr>
            <a:r>
              <a:rPr lang="en-US" dirty="0">
                <a:hlinkClick r:id="rId2"/>
              </a:rPr>
              <a:t>finalproject823.ipynb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Healthcare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56616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For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Risk-stratified guidance BEFORE clinical visit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Know whether to isolate immediately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Informed decisions about seeking testing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Reduced anxiety through transparent probability estimates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188720"/>
            <a:ext cx="356616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0" y="11887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For Healthcare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79" y="182880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Reduce unnecessary ER visits by identifying low-risk patients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Flag high-risk patients for urgent evaluation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Optimize triage and resource allocation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Support telemedicine screening protocols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188720"/>
            <a:ext cx="3566160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11887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For Public 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Causal transparency enables model updates for new variants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Re-run LASSO pipeline on new data — no black-box retraining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Track which symptoms are direct predictors over time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Inform symptom-based surveillance guidelines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669280"/>
            <a:ext cx="112471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1">
                <a:solidFill>
                  <a:srgbClr val="1B3A5C"/>
                </a:solidFill>
                <a:latin typeface="Calibri"/>
              </a:defRPr>
            </a:pPr>
            <a:r>
              <a:t>DEMI's interpretability makes it suitable for clinical decision support — every prediction can be explained and verified by clinicians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dirty="0"/>
              <a:t>Modest sample size: Only 559 participants with PCR results, and just 58 positive cases — limits generalizability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dirty="0"/>
              <a:t>Significant class imbalance: 8.6:1 negative-to-positive ratio may bias model performance metrics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dirty="0"/>
              <a:t>Single study, single timepoint: Data from December 2021 (Delta/early Omicron); symptom profiles may differ with newer variants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dirty="0"/>
              <a:t>Counterintuitive coefficients: Known Exposure shows negative direct effect — likely reflects ascertainment bias in study enrollment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dirty="0"/>
              <a:t>Limited at-home test data: Most participants did not report rapid test results, reducing the utility of Tier 3 features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dirty="0"/>
              <a:t>McFadden R² threshold not met for Tiers 0-2: Symptoms alone may not yield a fully adequate causal model without at-home test results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dirty="0"/>
              <a:t>Self-reported symptoms: Subject to recall bias and interpretation differences across participants</a:t>
            </a:r>
          </a:p>
          <a:p>
            <a:pPr>
              <a:spcAft>
                <a:spcPts val="10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rPr dirty="0"/>
              <a:t>Temporal tier boundaries: Some assignments (e.g., vaccine status timing) may not perfectly capture causal ordering for all individuals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188720"/>
            <a:ext cx="45720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rPr dirty="0"/>
              <a:t>DEMI methodology identifies 16 direct-effect predictors from 77 home-observable features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rPr dirty="0"/>
              <a:t>DEMI </a:t>
            </a:r>
            <a:r>
              <a:rPr dirty="0" err="1"/>
              <a:t>GradientBoosting</a:t>
            </a:r>
            <a:r>
              <a:rPr dirty="0"/>
              <a:t> achieves AUC = 0.931 — outperforming standard Gradient Boosting (AUC = 0.926) with 79% fewer features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rPr dirty="0"/>
              <a:t>The Markov blanket provides a minimal, interpretable, and causally-justified predictor set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rPr dirty="0"/>
              <a:t>Bayesian probability estimates enable risk-stratified clinical guidance before PCR testing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rPr dirty="0"/>
              <a:t>Key direct predictors: At-home test results, vaccination status, memory issues, wheeze, sleep issues, age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rPr dirty="0"/>
              <a:t>Causal reasoning is NOT a compromise on performance — it is a pathway to better, more trustworthy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5669280"/>
            <a:ext cx="64008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7F8C8D"/>
                </a:solidFill>
                <a:latin typeface="Calibri"/>
              </a:defRPr>
            </a:pPr>
            <a:r>
              <a:t>Thank you — Questions welcome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501" y="1148745"/>
            <a:ext cx="10972800" cy="5709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rPr sz="2000" dirty="0"/>
              <a:t>1. Alemi F, et al. DEMI methodology and probabilistic reasoning approaches in healthcare prediction and symptom progression modeling. 2020.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rPr sz="2000" dirty="0"/>
              <a:t>2. Centers for Disease Control and Prevention (CDC). COVID-19 symptoms and testing guidance. 2021.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rPr sz="2000" dirty="0"/>
              <a:t>3. MIT COVID-CARE Consortium. Phase II dataset: COVID-CARE for submission MIT cleaned. December 2021.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rPr sz="2000" dirty="0"/>
              <a:t>4. Hastie T, </a:t>
            </a:r>
            <a:r>
              <a:rPr sz="2000" dirty="0" err="1"/>
              <a:t>Tibshirani</a:t>
            </a:r>
            <a:r>
              <a:rPr sz="2000" dirty="0"/>
              <a:t> R, Friedman J. The Elements of Statistical Learning. 2nd ed. Springer; 2009.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rPr sz="2000" dirty="0"/>
              <a:t>5. Pearl J. Causality: Models, Reasoning, and Inference. 2nd ed. Cambridge University Press; 2009.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rPr sz="2000" dirty="0"/>
              <a:t>6. McFadden D. Conditional logit analysis of qualitative choice behavior. In: Zarembka P, ed. Frontiers in Econometrics. Academic Press; 1974:105-142.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rPr sz="2000" dirty="0"/>
              <a:t>7. Tibshirani R. Regression shrinkage and selection via the Lasso. J Royal Stat Soc Series B. 1996;58(1):267-288.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rPr sz="2000" dirty="0"/>
              <a:t>8. Koller D, Friedman N. Probabilistic Graphical Models: Principles and Techniques. MIT Press; 2009.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rPr sz="2000" dirty="0"/>
              <a:t>9. Chen T, Guestrin C. </a:t>
            </a:r>
            <a:r>
              <a:rPr sz="2000" dirty="0" err="1"/>
              <a:t>XGBoost</a:t>
            </a:r>
            <a:r>
              <a:rPr sz="2000" dirty="0"/>
              <a:t>: A scalable tree boosting system. Proc 22nd ACM SIGKDD Int Conf </a:t>
            </a:r>
            <a:r>
              <a:rPr sz="2000" dirty="0" err="1"/>
              <a:t>Knowl</a:t>
            </a:r>
            <a:r>
              <a:rPr sz="2000" dirty="0"/>
              <a:t> </a:t>
            </a:r>
            <a:r>
              <a:rPr sz="2000" dirty="0" err="1"/>
              <a:t>Discov</a:t>
            </a:r>
            <a:r>
              <a:rPr sz="2000" dirty="0"/>
              <a:t> Data Min. 2016:785-794.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rPr sz="2000" dirty="0"/>
              <a:t>10. Ioannidis JPA, Cripps S, Tanner MA, et al. Forecasting for COVID-19 has failed. Int J Forecast. 2022;38(2):423-436.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2157</Words>
  <Application>Microsoft Macintosh PowerPoint</Application>
  <PresentationFormat>Widescreen</PresentationFormat>
  <Paragraphs>339</Paragraphs>
  <Slides>17</Slides>
  <Notes>2</Notes>
  <HiddenSlides>0</HiddenSlides>
  <MMClips>8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Abigail Morton</cp:lastModifiedBy>
  <cp:revision>3</cp:revision>
  <dcterms:created xsi:type="dcterms:W3CDTF">2013-01-27T09:14:16Z</dcterms:created>
  <dcterms:modified xsi:type="dcterms:W3CDTF">2026-05-09T20:56:33Z</dcterms:modified>
  <cp:category/>
</cp:coreProperties>
</file>